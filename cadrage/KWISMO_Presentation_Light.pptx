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81" r:id="rId15"/>
    <p:sldId id="282" r:id="rId16"/>
    <p:sldId id="269" r:id="rId17"/>
    <p:sldId id="270" r:id="rId18"/>
    <p:sldId id="271" r:id="rId19"/>
    <p:sldId id="272" r:id="rId20"/>
    <p:sldId id="273" r:id="rId21"/>
    <p:sldId id="275" r:id="rId22"/>
    <p:sldId id="276" r:id="rId23"/>
    <p:sldId id="277" r:id="rId24"/>
    <p:sldId id="278" r:id="rId25"/>
    <p:sldId id="279" r:id="rId26"/>
    <p:sldId id="274" r:id="rId27"/>
    <p:sldId id="280" r:id="rId28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29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50287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6B2FA5-9D1A-942B-32AC-F4F76ED1CB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3919AF-5692-EAF7-66CC-A63C7415BF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9E990B-C096-2173-AC0F-BE5EC23C63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9A8200-3C09-00B9-BF0A-EC99876630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19415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8336B4-7F87-94FF-748E-377F864CD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AD107B-931E-2AED-2DFF-C0707A73ED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0BC45B-5357-9CD5-444F-B06D6FDC4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CCEA7C-E4F7-D17F-5517-5691F94662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7343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D39A9-CB70-0515-C431-0A3B9FD97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C8D783-784A-27D0-89A7-444E93B5B1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B772F0-0262-4CC7-3D61-45F8B0B5FC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3EAFC2-9D55-AD32-F940-6E0421C3CA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403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14.png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6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7.png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4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44.png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title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592928" y="594360"/>
            <a:ext cx="1005840" cy="1005840"/>
          </a:xfrm>
          <a:prstGeom prst="ellipse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/>
          <p:nvPr/>
        </p:nvSpPr>
        <p:spPr>
          <a:xfrm>
            <a:off x="0" y="196596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kern="0" spc="3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DE CADRAGE DE PROJET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0" y="2377440"/>
            <a:ext cx="121916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KWISMO</a:t>
            </a:r>
            <a:endParaRPr lang="en-US" sz="6600" dirty="0"/>
          </a:p>
        </p:txBody>
      </p:sp>
      <p:sp>
        <p:nvSpPr>
          <p:cNvPr id="7" name="Text 3"/>
          <p:cNvSpPr/>
          <p:nvPr/>
        </p:nvSpPr>
        <p:spPr>
          <a:xfrm>
            <a:off x="0" y="342900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anti-fraude Mobile Money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970636" y="434340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7900">
                <a:alpha val="75000"/>
              </a:srgbClr>
            </a:solidFill>
            <a:prstDash val="solid"/>
          </a:ln>
          <a:effectLst>
            <a:outerShdw blurRad="88900" dist="25400" dir="5400000" algn="bl" rotWithShape="0">
              <a:srgbClr val="1B2333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9" name="Image 2" descr="/home/claude/work/icons/users_FF7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228" y="4471416"/>
            <a:ext cx="310896" cy="310896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537564" y="43434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SAFESEND</a:t>
            </a:r>
            <a:endParaRPr lang="en-US" sz="1250" dirty="0"/>
          </a:p>
        </p:txBody>
      </p:sp>
      <p:sp>
        <p:nvSpPr>
          <p:cNvPr id="11" name="Shape 6"/>
          <p:cNvSpPr/>
          <p:nvPr/>
        </p:nvSpPr>
        <p:spPr>
          <a:xfrm>
            <a:off x="4472788" y="434340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D6AB1">
                <a:alpha val="75000"/>
              </a:srgbClr>
            </a:solidFill>
            <a:prstDash val="solid"/>
          </a:ln>
          <a:effectLst>
            <a:outerShdw blurRad="1129030000" dist="322580000"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2" name="Image 3" descr="/home/claude/work/icons/briefcase_4D6AB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37380" y="4471416"/>
            <a:ext cx="310896" cy="31089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039716" y="43434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Partenaire Orange Digital Center</a:t>
            </a:r>
            <a:endParaRPr lang="en-US" sz="1250" dirty="0"/>
          </a:p>
        </p:txBody>
      </p:sp>
      <p:sp>
        <p:nvSpPr>
          <p:cNvPr id="14" name="Shape 8"/>
          <p:cNvSpPr/>
          <p:nvPr/>
        </p:nvSpPr>
        <p:spPr>
          <a:xfrm>
            <a:off x="7974940" y="4343400"/>
            <a:ext cx="324612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6A020">
                <a:alpha val="75000"/>
              </a:srgbClr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5" name="Image 4" descr="/home/claude/work/icons/award_F6A0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9532" y="4471416"/>
            <a:ext cx="310896" cy="310896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541868" y="43434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Summer Challenge</a:t>
            </a:r>
            <a:endParaRPr lang="en-US" sz="1250" dirty="0"/>
          </a:p>
        </p:txBody>
      </p:sp>
      <p:sp>
        <p:nvSpPr>
          <p:cNvPr id="17" name="Text 10"/>
          <p:cNvSpPr/>
          <p:nvPr/>
        </p:nvSpPr>
        <p:spPr>
          <a:xfrm>
            <a:off x="0" y="6291072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1.0  ·  Août 2026</a:t>
            </a:r>
            <a:endParaRPr lang="en-US" sz="1100" dirty="0"/>
          </a:p>
        </p:txBody>
      </p:sp>
      <p:sp>
        <p:nvSpPr>
          <p:cNvPr id="18" name="Text 11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16381127-643C-28C3-C807-D66B569F494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4048" y="735480"/>
            <a:ext cx="723600" cy="723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nous allons voir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600200"/>
            <a:ext cx="525780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667512" y="1764792"/>
            <a:ext cx="457200" cy="45720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1" descr="/home/claude/work/icons/users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28800"/>
            <a:ext cx="329184" cy="32918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280160" y="1600200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L'équipe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5074920" y="1600200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P.4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02920" y="2496312"/>
            <a:ext cx="525780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7"/>
          <p:cNvSpPr/>
          <p:nvPr/>
        </p:nvSpPr>
        <p:spPr>
          <a:xfrm>
            <a:off x="667512" y="2660904"/>
            <a:ext cx="457200" cy="45720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2" name="Image 2" descr="/home/claude/work/icons/briefcas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724912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80160" y="2496312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Cadre du projet</a:t>
            </a:r>
            <a:endParaRPr lang="en-US" sz="1450" dirty="0"/>
          </a:p>
        </p:txBody>
      </p:sp>
      <p:sp>
        <p:nvSpPr>
          <p:cNvPr id="14" name="Text 9"/>
          <p:cNvSpPr/>
          <p:nvPr/>
        </p:nvSpPr>
        <p:spPr>
          <a:xfrm>
            <a:off x="5074920" y="2496312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P.6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02920" y="3392424"/>
            <a:ext cx="525780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Shape 11"/>
          <p:cNvSpPr/>
          <p:nvPr/>
        </p:nvSpPr>
        <p:spPr>
          <a:xfrm>
            <a:off x="667512" y="3557016"/>
            <a:ext cx="457200" cy="45720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3" descr="/home/claude/work/icons/barchart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621024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3392424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étude de marché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5074920" y="3392424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P.8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02920" y="4288536"/>
            <a:ext cx="525780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1" name="Shape 15"/>
          <p:cNvSpPr/>
          <p:nvPr/>
        </p:nvSpPr>
        <p:spPr>
          <a:xfrm>
            <a:off x="667512" y="4453128"/>
            <a:ext cx="457200" cy="45720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2" name="Image 4" descr="/home/claude/work/icons/alert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520" y="4517136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280160" y="4288536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 utilisateur</a:t>
            </a:r>
            <a:endParaRPr lang="en-US" sz="1450" dirty="0"/>
          </a:p>
        </p:txBody>
      </p:sp>
      <p:sp>
        <p:nvSpPr>
          <p:cNvPr id="24" name="Text 17"/>
          <p:cNvSpPr/>
          <p:nvPr/>
        </p:nvSpPr>
        <p:spPr>
          <a:xfrm>
            <a:off x="5074920" y="4288536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P.11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02920" y="5184648"/>
            <a:ext cx="525780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Shape 19"/>
          <p:cNvSpPr/>
          <p:nvPr/>
        </p:nvSpPr>
        <p:spPr>
          <a:xfrm>
            <a:off x="667512" y="5349240"/>
            <a:ext cx="457200" cy="45720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7" name="Image 5" descr="/home/claude/work/icons/user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" y="5413248"/>
            <a:ext cx="329184" cy="32918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280160" y="5184648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1450" dirty="0"/>
          </a:p>
        </p:txBody>
      </p:sp>
      <p:sp>
        <p:nvSpPr>
          <p:cNvPr id="29" name="Text 21"/>
          <p:cNvSpPr/>
          <p:nvPr/>
        </p:nvSpPr>
        <p:spPr>
          <a:xfrm>
            <a:off x="5074920" y="5184648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P.13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6309360" y="1600200"/>
            <a:ext cx="525780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1" name="Shape 23"/>
          <p:cNvSpPr/>
          <p:nvPr/>
        </p:nvSpPr>
        <p:spPr>
          <a:xfrm>
            <a:off x="6473952" y="1764792"/>
            <a:ext cx="457200" cy="45720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2" name="Image 6" descr="/home/claude/work/icons/shield_FFFFF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7960" y="1828800"/>
            <a:ext cx="329184" cy="32918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7086600" y="1600200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KWISMO</a:t>
            </a:r>
            <a:endParaRPr lang="en-US" sz="1450" dirty="0"/>
          </a:p>
        </p:txBody>
      </p:sp>
      <p:sp>
        <p:nvSpPr>
          <p:cNvPr id="34" name="Text 25"/>
          <p:cNvSpPr/>
          <p:nvPr/>
        </p:nvSpPr>
        <p:spPr>
          <a:xfrm>
            <a:off x="10881360" y="1600200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P.15</a:t>
            </a:r>
            <a:endParaRPr lang="en-US" sz="1300" dirty="0"/>
          </a:p>
        </p:txBody>
      </p:sp>
      <p:sp>
        <p:nvSpPr>
          <p:cNvPr id="35" name="Shape 26"/>
          <p:cNvSpPr/>
          <p:nvPr/>
        </p:nvSpPr>
        <p:spPr>
          <a:xfrm>
            <a:off x="6309360" y="2496312"/>
            <a:ext cx="525780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6" name="Shape 27"/>
          <p:cNvSpPr/>
          <p:nvPr/>
        </p:nvSpPr>
        <p:spPr>
          <a:xfrm>
            <a:off x="6473952" y="2660904"/>
            <a:ext cx="457200" cy="45720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7" name="Image 7" descr="/home/claude/work/icons/zap_FFFFFF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37960" y="2724912"/>
            <a:ext cx="329184" cy="329184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7086600" y="2496312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KWISMO apporte</a:t>
            </a:r>
            <a:endParaRPr lang="en-US" sz="1450" dirty="0"/>
          </a:p>
        </p:txBody>
      </p:sp>
      <p:sp>
        <p:nvSpPr>
          <p:cNvPr id="39" name="Text 29"/>
          <p:cNvSpPr/>
          <p:nvPr/>
        </p:nvSpPr>
        <p:spPr>
          <a:xfrm>
            <a:off x="10881360" y="2496312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P.16</a:t>
            </a:r>
            <a:endParaRPr lang="en-US" sz="1300" dirty="0"/>
          </a:p>
        </p:txBody>
      </p:sp>
      <p:sp>
        <p:nvSpPr>
          <p:cNvPr id="40" name="Shape 30"/>
          <p:cNvSpPr/>
          <p:nvPr/>
        </p:nvSpPr>
        <p:spPr>
          <a:xfrm>
            <a:off x="6309360" y="3392424"/>
            <a:ext cx="525780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1" name="Shape 31"/>
          <p:cNvSpPr/>
          <p:nvPr/>
        </p:nvSpPr>
        <p:spPr>
          <a:xfrm>
            <a:off x="6473952" y="3557016"/>
            <a:ext cx="457200" cy="45720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2" name="Image 8" descr="/home/claude/work/icons/layers_FFFFFF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37960" y="3621024"/>
            <a:ext cx="329184" cy="329184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7086600" y="3392424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Positionnement &amp; modèle économique</a:t>
            </a:r>
            <a:endParaRPr lang="en-US" sz="1450" dirty="0"/>
          </a:p>
        </p:txBody>
      </p:sp>
      <p:sp>
        <p:nvSpPr>
          <p:cNvPr id="44" name="Text 33"/>
          <p:cNvSpPr/>
          <p:nvPr/>
        </p:nvSpPr>
        <p:spPr>
          <a:xfrm>
            <a:off x="10881360" y="3392424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P.18</a:t>
            </a:r>
            <a:endParaRPr lang="en-US" sz="1300" dirty="0"/>
          </a:p>
        </p:txBody>
      </p:sp>
      <p:sp>
        <p:nvSpPr>
          <p:cNvPr id="45" name="Shape 34"/>
          <p:cNvSpPr/>
          <p:nvPr/>
        </p:nvSpPr>
        <p:spPr>
          <a:xfrm>
            <a:off x="6309360" y="4288536"/>
            <a:ext cx="525780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6" name="Shape 35"/>
          <p:cNvSpPr/>
          <p:nvPr/>
        </p:nvSpPr>
        <p:spPr>
          <a:xfrm>
            <a:off x="6473952" y="4453128"/>
            <a:ext cx="457200" cy="45720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7" name="Image 9" descr="/home/claude/work/icons/package_FFFFFF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37960" y="4517136"/>
            <a:ext cx="329184" cy="329184"/>
          </a:xfrm>
          <a:prstGeom prst="rect">
            <a:avLst/>
          </a:prstGeom>
        </p:spPr>
      </p:pic>
      <p:sp>
        <p:nvSpPr>
          <p:cNvPr id="48" name="Text 36"/>
          <p:cNvSpPr/>
          <p:nvPr/>
        </p:nvSpPr>
        <p:spPr>
          <a:xfrm>
            <a:off x="7086600" y="4288536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Livrables attendus</a:t>
            </a:r>
            <a:endParaRPr lang="en-US" sz="1450" dirty="0"/>
          </a:p>
        </p:txBody>
      </p:sp>
      <p:sp>
        <p:nvSpPr>
          <p:cNvPr id="49" name="Text 37"/>
          <p:cNvSpPr/>
          <p:nvPr/>
        </p:nvSpPr>
        <p:spPr>
          <a:xfrm>
            <a:off x="10881360" y="4288536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P.21</a:t>
            </a:r>
            <a:endParaRPr lang="en-US" sz="1300" dirty="0"/>
          </a:p>
        </p:txBody>
      </p:sp>
      <p:sp>
        <p:nvSpPr>
          <p:cNvPr id="50" name="Shape 38"/>
          <p:cNvSpPr/>
          <p:nvPr/>
        </p:nvSpPr>
        <p:spPr>
          <a:xfrm>
            <a:off x="6309360" y="5184648"/>
            <a:ext cx="5257800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1" name="Shape 39"/>
          <p:cNvSpPr/>
          <p:nvPr/>
        </p:nvSpPr>
        <p:spPr>
          <a:xfrm>
            <a:off x="6473952" y="5349240"/>
            <a:ext cx="457200" cy="45720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52" name="Image 10" descr="/home/claude/work/icons/calendar_FFFFFF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37960" y="5413248"/>
            <a:ext cx="329184" cy="329184"/>
          </a:xfrm>
          <a:prstGeom prst="rect">
            <a:avLst/>
          </a:prstGeom>
        </p:spPr>
      </p:pic>
      <p:sp>
        <p:nvSpPr>
          <p:cNvPr id="53" name="Text 40"/>
          <p:cNvSpPr/>
          <p:nvPr/>
        </p:nvSpPr>
        <p:spPr>
          <a:xfrm>
            <a:off x="7086600" y="5184648"/>
            <a:ext cx="3794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</a:t>
            </a:r>
            <a:endParaRPr lang="en-US" sz="1450" dirty="0"/>
          </a:p>
        </p:txBody>
      </p:sp>
      <p:sp>
        <p:nvSpPr>
          <p:cNvPr id="54" name="Text 41"/>
          <p:cNvSpPr/>
          <p:nvPr/>
        </p:nvSpPr>
        <p:spPr>
          <a:xfrm>
            <a:off x="10881360" y="5184648"/>
            <a:ext cx="5943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P.23</a:t>
            </a:r>
            <a:endParaRPr lang="en-US" sz="1300" dirty="0"/>
          </a:p>
        </p:txBody>
      </p:sp>
      <p:sp>
        <p:nvSpPr>
          <p:cNvPr id="55" name="Text 4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01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SOMMES-NOUS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L'équipe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talents de l'équipe SAFESEND, réunis autour d'une seule mission : protéger les utilisateurs Mobile Money.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FF7900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FF7900">
              <a:alpha val="18000"/>
            </a:srgbClr>
          </a:solidFill>
          <a:ln w="19050">
            <a:solidFill>
              <a:srgbClr val="FF790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1" descr="/home/claude/work/icons/users_FF7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L'ÉQUIPE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SAFESEND — 6 talents, une seule mission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50876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1783080" y="1764792"/>
            <a:ext cx="960120" cy="960120"/>
          </a:xfrm>
          <a:prstGeom prst="ellipse">
            <a:avLst/>
          </a:prstGeom>
          <a:solidFill>
            <a:srgbClr val="FF7900">
              <a:alpha val="12000"/>
            </a:srgbClr>
          </a:solidFill>
          <a:ln w="15875">
            <a:solidFill>
              <a:srgbClr val="FF7900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7" name="Image 1" descr="/home/claude/work/icons/user_FF7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3509" y="1956816"/>
            <a:ext cx="499262" cy="49926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28620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Newton Achonduh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777240" y="3273552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FF7900">
              <a:alpha val="1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0" name="Text 6"/>
          <p:cNvSpPr/>
          <p:nvPr/>
        </p:nvSpPr>
        <p:spPr>
          <a:xfrm>
            <a:off x="822960" y="327355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Porteur de projet &amp; Dev Backend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279392" y="150876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8"/>
          <p:cNvSpPr/>
          <p:nvPr/>
        </p:nvSpPr>
        <p:spPr>
          <a:xfrm>
            <a:off x="5559552" y="1764792"/>
            <a:ext cx="960120" cy="960120"/>
          </a:xfrm>
          <a:prstGeom prst="ellipse">
            <a:avLst/>
          </a:prstGeom>
          <a:solidFill>
            <a:srgbClr val="4D6AB1">
              <a:alpha val="12000"/>
            </a:srgbClr>
          </a:solidFill>
          <a:ln w="15875">
            <a:solidFill>
              <a:srgbClr val="4D6AB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3" name="Image 2" descr="/home/claude/work/icons/user_4D6AB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9981" y="1956816"/>
            <a:ext cx="499262" cy="49926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416552" y="28620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Brayan Weko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4553712" y="3273552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4D6AB1">
              <a:alpha val="1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1"/>
          <p:cNvSpPr/>
          <p:nvPr/>
        </p:nvSpPr>
        <p:spPr>
          <a:xfrm>
            <a:off x="4599432" y="327355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 d'équipe &amp; Dev Mobile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055864" y="1508760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3"/>
          <p:cNvSpPr/>
          <p:nvPr/>
        </p:nvSpPr>
        <p:spPr>
          <a:xfrm>
            <a:off x="9336024" y="1764792"/>
            <a:ext cx="960120" cy="960120"/>
          </a:xfrm>
          <a:prstGeom prst="ellipse">
            <a:avLst/>
          </a:prstGeom>
          <a:solidFill>
            <a:srgbClr val="F6A020">
              <a:alpha val="12000"/>
            </a:srgbClr>
          </a:solidFill>
          <a:ln w="15875">
            <a:solidFill>
              <a:srgbClr val="F6A020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9" name="Image 3" descr="/home/claude/work/icons/user_F6A0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66453" y="1956816"/>
            <a:ext cx="499262" cy="499262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193024" y="28620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Ingrid Gabin Mboutie</a:t>
            </a:r>
            <a:endParaRPr lang="en-US" sz="1450" dirty="0"/>
          </a:p>
        </p:txBody>
      </p:sp>
      <p:sp>
        <p:nvSpPr>
          <p:cNvPr id="21" name="Shape 15"/>
          <p:cNvSpPr/>
          <p:nvPr/>
        </p:nvSpPr>
        <p:spPr>
          <a:xfrm>
            <a:off x="8330184" y="3273552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F6A020">
              <a:alpha val="1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16"/>
          <p:cNvSpPr/>
          <p:nvPr/>
        </p:nvSpPr>
        <p:spPr>
          <a:xfrm>
            <a:off x="8375904" y="3273552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UI / UX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02920" y="4096512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Shape 18"/>
          <p:cNvSpPr/>
          <p:nvPr/>
        </p:nvSpPr>
        <p:spPr>
          <a:xfrm>
            <a:off x="1783080" y="4352544"/>
            <a:ext cx="960120" cy="960120"/>
          </a:xfrm>
          <a:prstGeom prst="ellipse">
            <a:avLst/>
          </a:prstGeom>
          <a:solidFill>
            <a:srgbClr val="4D6AB1">
              <a:alpha val="12000"/>
            </a:srgbClr>
          </a:solidFill>
          <a:ln w="15875">
            <a:solidFill>
              <a:srgbClr val="4D6AB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5" name="Image 4" descr="/home/claude/work/icons/user_4D6AB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13509" y="4544568"/>
            <a:ext cx="499262" cy="49926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40080" y="544982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Marie Lumière Bothe</a:t>
            </a:r>
            <a:endParaRPr lang="en-US" sz="1450" dirty="0"/>
          </a:p>
        </p:txBody>
      </p:sp>
      <p:sp>
        <p:nvSpPr>
          <p:cNvPr id="27" name="Shape 20"/>
          <p:cNvSpPr/>
          <p:nvPr/>
        </p:nvSpPr>
        <p:spPr>
          <a:xfrm>
            <a:off x="777240" y="5861304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4D6AB1">
              <a:alpha val="1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1"/>
          <p:cNvSpPr/>
          <p:nvPr/>
        </p:nvSpPr>
        <p:spPr>
          <a:xfrm>
            <a:off x="822960" y="586130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Développeuse Web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4279392" y="4096512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0" name="Shape 23"/>
          <p:cNvSpPr/>
          <p:nvPr/>
        </p:nvSpPr>
        <p:spPr>
          <a:xfrm>
            <a:off x="5559552" y="4352544"/>
            <a:ext cx="960120" cy="960120"/>
          </a:xfrm>
          <a:prstGeom prst="ellipse">
            <a:avLst/>
          </a:prstGeom>
          <a:solidFill>
            <a:srgbClr val="FF7900">
              <a:alpha val="12000"/>
            </a:srgbClr>
          </a:solidFill>
          <a:ln w="15875">
            <a:solidFill>
              <a:srgbClr val="FF7900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1" name="Image 5" descr="/home/claude/work/icons/user_FF7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9981" y="4544568"/>
            <a:ext cx="499262" cy="49926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4416552" y="544982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Leal Braël Tido Keubou</a:t>
            </a:r>
            <a:endParaRPr lang="en-US" sz="1450" dirty="0"/>
          </a:p>
        </p:txBody>
      </p:sp>
      <p:sp>
        <p:nvSpPr>
          <p:cNvPr id="33" name="Shape 25"/>
          <p:cNvSpPr/>
          <p:nvPr/>
        </p:nvSpPr>
        <p:spPr>
          <a:xfrm>
            <a:off x="4553712" y="5861304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FF7900">
              <a:alpha val="1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Text 26"/>
          <p:cNvSpPr/>
          <p:nvPr/>
        </p:nvSpPr>
        <p:spPr>
          <a:xfrm>
            <a:off x="4599432" y="586130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Intelligence Artificielle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8055864" y="4096512"/>
            <a:ext cx="352044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6" name="Shape 28"/>
          <p:cNvSpPr/>
          <p:nvPr/>
        </p:nvSpPr>
        <p:spPr>
          <a:xfrm>
            <a:off x="9336024" y="4352544"/>
            <a:ext cx="960120" cy="960120"/>
          </a:xfrm>
          <a:prstGeom prst="ellipse">
            <a:avLst/>
          </a:prstGeom>
          <a:solidFill>
            <a:srgbClr val="4D6AB1">
              <a:alpha val="12000"/>
            </a:srgbClr>
          </a:solidFill>
          <a:ln w="15875">
            <a:solidFill>
              <a:srgbClr val="4D6AB1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7" name="Image 6" descr="/home/claude/work/icons/user_4D6AB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6453" y="4544568"/>
            <a:ext cx="499262" cy="499262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8193024" y="544982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Sonia Tchakounte Nana</a:t>
            </a:r>
            <a:endParaRPr lang="en-US" sz="1450" dirty="0"/>
          </a:p>
        </p:txBody>
      </p:sp>
      <p:sp>
        <p:nvSpPr>
          <p:cNvPr id="39" name="Shape 30"/>
          <p:cNvSpPr/>
          <p:nvPr/>
        </p:nvSpPr>
        <p:spPr>
          <a:xfrm>
            <a:off x="8330184" y="5861304"/>
            <a:ext cx="2971800" cy="457200"/>
          </a:xfrm>
          <a:prstGeom prst="roundRect">
            <a:avLst>
              <a:gd name="adj" fmla="val 16000"/>
            </a:avLst>
          </a:prstGeom>
          <a:solidFill>
            <a:srgbClr val="4D6AB1">
              <a:alpha val="1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Text 31"/>
          <p:cNvSpPr/>
          <p:nvPr/>
        </p:nvSpPr>
        <p:spPr>
          <a:xfrm>
            <a:off x="8375904" y="5861304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Intelligence Artificielle</a:t>
            </a:r>
            <a:endParaRPr lang="en-US" sz="1100" dirty="0"/>
          </a:p>
        </p:txBody>
      </p:sp>
      <p:sp>
        <p:nvSpPr>
          <p:cNvPr id="41" name="Text 3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02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INSTITUTIONNEL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Cadre du projet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projet porté avec Orange Digital Center, dans le cadre de l'Orange Summer Challenge.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4D6AB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4D6AB1">
              <a:alpha val="18000"/>
            </a:srgbClr>
          </a:solidFill>
          <a:ln w="19050">
            <a:solidFill>
              <a:srgbClr val="4D6AB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1" descr="/home/claude/work/icons/briefcase_4D6AB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CADRE DU PROJET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projet porté avec Orange Digital Center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508760"/>
            <a:ext cx="525780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795528" y="1801368"/>
            <a:ext cx="566928" cy="566928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1" descr="/home/claude/work/icons/briefcas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4898" y="1880738"/>
            <a:ext cx="408188" cy="4081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54480" y="180136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PARTENAIRE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1554480" y="203911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Orange Digital Center</a:t>
            </a:r>
            <a:endParaRPr lang="en-US" sz="1800" dirty="0"/>
          </a:p>
        </p:txBody>
      </p:sp>
      <p:sp>
        <p:nvSpPr>
          <p:cNvPr id="10" name="Text 6"/>
          <p:cNvSpPr/>
          <p:nvPr/>
        </p:nvSpPr>
        <p:spPr>
          <a:xfrm>
            <a:off x="795528" y="2651760"/>
            <a:ext cx="46725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le soutien de l'Orange Digital Center, qui accompagne les équipes dans le développement de solutions innovantes.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016752" y="1508760"/>
            <a:ext cx="525780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8"/>
          <p:cNvSpPr/>
          <p:nvPr/>
        </p:nvSpPr>
        <p:spPr>
          <a:xfrm>
            <a:off x="6309360" y="1801368"/>
            <a:ext cx="566928" cy="566928"/>
          </a:xfrm>
          <a:prstGeom prst="ellipse">
            <a:avLst/>
          </a:prstGeom>
          <a:solidFill>
            <a:srgbClr val="4D6AB1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Image 2" descr="/home/claude/work/icons/award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8730" y="1880738"/>
            <a:ext cx="408188" cy="4081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068312" y="180136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7068312" y="2039112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Orange Summer Challenge</a:t>
            </a:r>
            <a:endParaRPr lang="en-US" sz="1800" dirty="0"/>
          </a:p>
        </p:txBody>
      </p:sp>
      <p:sp>
        <p:nvSpPr>
          <p:cNvPr id="16" name="Text 11"/>
          <p:cNvSpPr/>
          <p:nvPr/>
        </p:nvSpPr>
        <p:spPr>
          <a:xfrm>
            <a:off x="6309360" y="2651760"/>
            <a:ext cx="46725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programme d'accompagnement à l'innovation, du cadrage jusqu'à la démonstration finale.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502920" y="3977640"/>
            <a:ext cx="105156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3"/>
          <p:cNvSpPr/>
          <p:nvPr/>
        </p:nvSpPr>
        <p:spPr>
          <a:xfrm>
            <a:off x="795528" y="4270248"/>
            <a:ext cx="566928" cy="566928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9" name="Image 3" descr="/home/claude/work/icons/target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898" y="4349618"/>
            <a:ext cx="408188" cy="40818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554480" y="42702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 DE CE DOCUMENT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795528" y="4636008"/>
            <a:ext cx="9966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Rassembler contexte, problème, personas, solution, positionnement, livrables et planification en un seul document de référence pour l'équipe et le partenaire.</a:t>
            </a:r>
            <a:endParaRPr lang="en-US" sz="1300" dirty="0"/>
          </a:p>
        </p:txBody>
      </p:sp>
      <p:sp>
        <p:nvSpPr>
          <p:cNvPr id="22" name="Text 16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03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MAINTENANT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Contexte &amp; étude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 marché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cybercriminalité et la fraude Mobile Money progressent plus vite que les réponses apportées au Cameroun.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FF7900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FF7900">
              <a:alpha val="18000"/>
            </a:srgbClr>
          </a:solidFill>
          <a:ln w="19050">
            <a:solidFill>
              <a:srgbClr val="FF790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1" descr="/home/claude/work/icons/barchart_FF7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ÉTUDE DE MARCHÉ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cybercriminalité au Cameroun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508760"/>
            <a:ext cx="2542032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502920" y="1527048"/>
            <a:ext cx="54864" cy="1563624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758952" y="1673352"/>
            <a:ext cx="2084832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32 500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58952" y="238887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réquisitions judiciaires traitées par l'ANTIC en 2025 (+30% vs 2024)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227832" y="1508760"/>
            <a:ext cx="2542032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3227832" y="1527048"/>
            <a:ext cx="54864" cy="1563624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3483864" y="1673352"/>
            <a:ext cx="2084832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8 502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3483864" y="238887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vulnérabilités techniques détectées depuis janvier 2024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52744" y="1508760"/>
            <a:ext cx="2542032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1"/>
          <p:cNvSpPr/>
          <p:nvPr/>
        </p:nvSpPr>
        <p:spPr>
          <a:xfrm>
            <a:off x="5952744" y="1527048"/>
            <a:ext cx="54864" cy="1563624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6208776" y="1673352"/>
            <a:ext cx="2084832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1,027 Md FCFA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6208776" y="238887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perdus en 2025 à cause des arnaques en ligne — MINPOSTEL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8677656" y="1508760"/>
            <a:ext cx="2542032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Shape 15"/>
          <p:cNvSpPr/>
          <p:nvPr/>
        </p:nvSpPr>
        <p:spPr>
          <a:xfrm>
            <a:off x="8677656" y="1527048"/>
            <a:ext cx="54864" cy="1563624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6"/>
          <p:cNvSpPr/>
          <p:nvPr/>
        </p:nvSpPr>
        <p:spPr>
          <a:xfrm>
            <a:off x="8933688" y="1673352"/>
            <a:ext cx="2084832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+30%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8933688" y="2388870"/>
            <a:ext cx="20848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hausse annuelle des sollicitations judiciaires liées au numérique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920" y="3429000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cybercriminalité ne se limite plus aux attaques techniques : elle s'étend aux escroqueries qui exploitent directement la confiance des utilisateurs Mobile Money.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502920" y="4251960"/>
            <a:ext cx="106070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20"/>
          <p:cNvSpPr/>
          <p:nvPr/>
        </p:nvSpPr>
        <p:spPr>
          <a:xfrm>
            <a:off x="795528" y="4754880"/>
            <a:ext cx="685800" cy="68580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4" name="Image 1" descr="/home/claude/work/icons/alert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" y="4850892"/>
            <a:ext cx="493776" cy="493776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1737360" y="4544568"/>
            <a:ext cx="9052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L'essentiel de la lutte reste concentré sur la réponse judiciaire a posteriori — peu d'outils protègent l'utilisateur au moment précis où l'arnaque se produit.</a:t>
            </a:r>
            <a:endParaRPr lang="en-US" sz="1450" dirty="0"/>
          </a:p>
        </p:txBody>
      </p:sp>
      <p:sp>
        <p:nvSpPr>
          <p:cNvPr id="26" name="Text 2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ÉTUDE DE MARCHÉ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fraude Mobile Money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463040"/>
            <a:ext cx="342900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502920" y="1481328"/>
            <a:ext cx="54864" cy="1426464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758952" y="162763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 M+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58952" y="2267712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utilisateurs actifs Mobile Money au Cameroun (2025)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133088" y="1463040"/>
            <a:ext cx="342900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0" name="Shape 7"/>
          <p:cNvSpPr/>
          <p:nvPr/>
        </p:nvSpPr>
        <p:spPr>
          <a:xfrm>
            <a:off x="4133088" y="1481328"/>
            <a:ext cx="54864" cy="1426464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4389120" y="162763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22 137 Md FCFA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389120" y="2267712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transactions Mobile Money en zone CEMAC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763256" y="1463040"/>
            <a:ext cx="342900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4" name="Shape 11"/>
          <p:cNvSpPr/>
          <p:nvPr/>
        </p:nvSpPr>
        <p:spPr>
          <a:xfrm>
            <a:off x="7763256" y="1481328"/>
            <a:ext cx="54864" cy="1426464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8019288" y="1627632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+28%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8019288" y="2267712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hausse des fraudes sur paiements mobiles en 2026 — BEAC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02920" y="3246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2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ORIGINE DE LA FRAUDE — MOBILE MONEY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3657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Ingénierie sociale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2971800" y="3703320"/>
            <a:ext cx="2743200" cy="237744"/>
          </a:xfrm>
          <a:prstGeom prst="roundRect">
            <a:avLst>
              <a:gd name="adj" fmla="val 19231"/>
            </a:avLst>
          </a:prstGeom>
          <a:solidFill>
            <a:srgbClr val="F1F3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Shape 17"/>
          <p:cNvSpPr/>
          <p:nvPr/>
        </p:nvSpPr>
        <p:spPr>
          <a:xfrm>
            <a:off x="2971800" y="3703320"/>
            <a:ext cx="2386584" cy="237744"/>
          </a:xfrm>
          <a:prstGeom prst="roundRect">
            <a:avLst>
              <a:gd name="adj" fmla="val 19231"/>
            </a:avLst>
          </a:prstGeom>
          <a:solidFill>
            <a:srgbClr val="FF79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5806440" y="365760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502920" y="41605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Failles techniques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2971800" y="4206240"/>
            <a:ext cx="2743200" cy="237744"/>
          </a:xfrm>
          <a:prstGeom prst="roundRect">
            <a:avLst>
              <a:gd name="adj" fmla="val 19231"/>
            </a:avLst>
          </a:prstGeom>
          <a:solidFill>
            <a:srgbClr val="F1F3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Shape 21"/>
          <p:cNvSpPr/>
          <p:nvPr/>
        </p:nvSpPr>
        <p:spPr>
          <a:xfrm>
            <a:off x="2971800" y="4206240"/>
            <a:ext cx="246888" cy="237744"/>
          </a:xfrm>
          <a:prstGeom prst="roundRect">
            <a:avLst>
              <a:gd name="adj" fmla="val 19231"/>
            </a:avLst>
          </a:prstGeom>
          <a:solidFill>
            <a:srgbClr val="4D6AB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2"/>
          <p:cNvSpPr/>
          <p:nvPr/>
        </p:nvSpPr>
        <p:spPr>
          <a:xfrm>
            <a:off x="5806440" y="41605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9%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02920" y="46634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2971800" y="4709160"/>
            <a:ext cx="2743200" cy="237744"/>
          </a:xfrm>
          <a:prstGeom prst="roundRect">
            <a:avLst>
              <a:gd name="adj" fmla="val 19231"/>
            </a:avLst>
          </a:prstGeom>
          <a:solidFill>
            <a:srgbClr val="F1F3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Shape 25"/>
          <p:cNvSpPr/>
          <p:nvPr/>
        </p:nvSpPr>
        <p:spPr>
          <a:xfrm>
            <a:off x="2971800" y="4709160"/>
            <a:ext cx="109728" cy="237744"/>
          </a:xfrm>
          <a:prstGeom prst="roundRect">
            <a:avLst>
              <a:gd name="adj" fmla="val 41667"/>
            </a:avLst>
          </a:prstGeom>
          <a:solidFill>
            <a:srgbClr val="9AA2B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5806440" y="466344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6720840" y="3246120"/>
            <a:ext cx="4983480" cy="288036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1" name="Text 28"/>
          <p:cNvSpPr/>
          <p:nvPr/>
        </p:nvSpPr>
        <p:spPr>
          <a:xfrm>
            <a:off x="7040880" y="3502152"/>
            <a:ext cx="4343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79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87%</a:t>
            </a:r>
            <a:endParaRPr lang="en-US" sz="4600" dirty="0"/>
          </a:p>
        </p:txBody>
      </p:sp>
      <p:sp>
        <p:nvSpPr>
          <p:cNvPr id="32" name="Text 29"/>
          <p:cNvSpPr/>
          <p:nvPr/>
        </p:nvSpPr>
        <p:spPr>
          <a:xfrm>
            <a:off x="7040880" y="434340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fraudes proviennent de l'ingénierie sociale : une manipulation humaine réussie, plus qu'une faille technique.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7040880" y="5184648"/>
            <a:ext cx="4343400" cy="0"/>
          </a:xfrm>
          <a:prstGeom prst="line">
            <a:avLst/>
          </a:prstGeom>
          <a:noFill/>
          <a:ln w="1270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7040880" y="5349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10 000+ plaintes de fraude par an chez un opérateur majeur  ·  90 000 clients sensibilisés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04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L'ANGLE MORT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problème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utilisateur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vide critique s'ouvre au moment précis où l'utilisateur est le plus vulnérable — pendant l'appel frauduleux.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4D6AB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4D6AB1">
              <a:alpha val="18000"/>
            </a:srgbClr>
          </a:solidFill>
          <a:ln w="19050">
            <a:solidFill>
              <a:srgbClr val="4D6AB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1" descr="/home/claude/work/icons/alert_4D6AB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PROBLÈME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vide au moment précis où l'utilisateur</a:t>
            </a:r>
            <a:endParaRPr lang="en-US" sz="2400" dirty="0"/>
          </a:p>
          <a:p>
            <a:pPr marL="0" indent="0">
              <a:buNone/>
            </a:pPr>
            <a:r>
              <a:rPr lang="en-US" sz="24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 vulnérable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502920" y="16276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EXISTE AUJOURD'HUI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309360" y="1627632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2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MANQUE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965960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F1F3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Shape 5"/>
          <p:cNvSpPr/>
          <p:nvPr/>
        </p:nvSpPr>
        <p:spPr>
          <a:xfrm>
            <a:off x="658368" y="2194560"/>
            <a:ext cx="457200" cy="457200"/>
          </a:xfrm>
          <a:prstGeom prst="ellipse">
            <a:avLst/>
          </a:prstGeom>
          <a:solidFill>
            <a:srgbClr val="9AA2B1">
              <a:alpha val="22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9" name="Image 1" descr="/home/claude/work/icons/xcircle_6B74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225856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196596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Signalement après incident (USSD, WhatsApp, hotline)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6309360" y="1965960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7900">
                <a:alpha val="55000"/>
              </a:srgbClr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8"/>
          <p:cNvSpPr/>
          <p:nvPr/>
        </p:nvSpPr>
        <p:spPr>
          <a:xfrm>
            <a:off x="6464808" y="2194560"/>
            <a:ext cx="457200" cy="457200"/>
          </a:xfrm>
          <a:prstGeom prst="ellipse">
            <a:avLst/>
          </a:prstGeom>
          <a:solidFill>
            <a:srgbClr val="FF7900">
              <a:alpha val="92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Image 2" descr="/home/claude/work/icons/checkcircl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22585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086600" y="1965960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 en temps réel pendant l'appel entrant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02920" y="2953512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F1F3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Shape 11"/>
          <p:cNvSpPr/>
          <p:nvPr/>
        </p:nvSpPr>
        <p:spPr>
          <a:xfrm>
            <a:off x="658368" y="3182112"/>
            <a:ext cx="457200" cy="457200"/>
          </a:xfrm>
          <a:prstGeom prst="ellipse">
            <a:avLst/>
          </a:prstGeom>
          <a:solidFill>
            <a:srgbClr val="9AA2B1">
              <a:alpha val="22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7" name="Image 3" descr="/home/claude/work/icons/xcircle_6B74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246120"/>
            <a:ext cx="329184" cy="32918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2953512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Sensibilisation générique par SMS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09360" y="2953512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7900">
                <a:alpha val="55000"/>
              </a:srgbClr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Shape 14"/>
          <p:cNvSpPr/>
          <p:nvPr/>
        </p:nvSpPr>
        <p:spPr>
          <a:xfrm>
            <a:off x="6464808" y="3182112"/>
            <a:ext cx="457200" cy="457200"/>
          </a:xfrm>
          <a:prstGeom prst="ellipse">
            <a:avLst/>
          </a:prstGeom>
          <a:solidFill>
            <a:srgbClr val="FF7900">
              <a:alpha val="92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1" name="Image 4" descr="/home/claude/work/icons/checkcircl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3246120"/>
            <a:ext cx="329184" cy="32918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086600" y="2953512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contextualisée aux scripts d'arnaque locaux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502920" y="3941064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F1F3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Shape 17"/>
          <p:cNvSpPr/>
          <p:nvPr/>
        </p:nvSpPr>
        <p:spPr>
          <a:xfrm>
            <a:off x="658368" y="4169664"/>
            <a:ext cx="457200" cy="457200"/>
          </a:xfrm>
          <a:prstGeom prst="ellipse">
            <a:avLst/>
          </a:prstGeom>
          <a:solidFill>
            <a:srgbClr val="9AA2B1">
              <a:alpha val="22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5" name="Image 5" descr="/home/claude/work/icons/xcircle_6B74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4233672"/>
            <a:ext cx="329184" cy="329184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280160" y="3941064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renforcée côté transaction (biométrie, QR)</a:t>
            </a:r>
            <a:endParaRPr lang="en-US" sz="1250" dirty="0"/>
          </a:p>
        </p:txBody>
      </p:sp>
      <p:sp>
        <p:nvSpPr>
          <p:cNvPr id="27" name="Shape 19"/>
          <p:cNvSpPr/>
          <p:nvPr/>
        </p:nvSpPr>
        <p:spPr>
          <a:xfrm>
            <a:off x="6309360" y="3941064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7900">
                <a:alpha val="55000"/>
              </a:srgbClr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0"/>
          <p:cNvSpPr/>
          <p:nvPr/>
        </p:nvSpPr>
        <p:spPr>
          <a:xfrm>
            <a:off x="6464808" y="4169664"/>
            <a:ext cx="457200" cy="457200"/>
          </a:xfrm>
          <a:prstGeom prst="ellipse">
            <a:avLst/>
          </a:prstGeom>
          <a:solidFill>
            <a:srgbClr val="FF7900">
              <a:alpha val="92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9" name="Image 6" descr="/home/claude/work/icons/checkcircl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4233672"/>
            <a:ext cx="329184" cy="329184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7086600" y="3941064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Croisement appel suspect + tentative de transaction</a:t>
            </a:r>
            <a:endParaRPr lang="en-US" sz="1250" dirty="0"/>
          </a:p>
        </p:txBody>
      </p:sp>
      <p:sp>
        <p:nvSpPr>
          <p:cNvPr id="31" name="Shape 22"/>
          <p:cNvSpPr/>
          <p:nvPr/>
        </p:nvSpPr>
        <p:spPr>
          <a:xfrm>
            <a:off x="502920" y="4928616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F1F3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Shape 23"/>
          <p:cNvSpPr/>
          <p:nvPr/>
        </p:nvSpPr>
        <p:spPr>
          <a:xfrm>
            <a:off x="658368" y="5157216"/>
            <a:ext cx="457200" cy="457200"/>
          </a:xfrm>
          <a:prstGeom prst="ellipse">
            <a:avLst/>
          </a:prstGeom>
          <a:solidFill>
            <a:srgbClr val="9AA2B1">
              <a:alpha val="22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3" name="Image 7" descr="/home/claude/work/icons/xcircle_6B74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5221224"/>
            <a:ext cx="329184" cy="329184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1280160" y="4928616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de blocage d'appel généralistes</a:t>
            </a:r>
            <a:endParaRPr lang="en-US" sz="1250" dirty="0"/>
          </a:p>
        </p:txBody>
      </p:sp>
      <p:sp>
        <p:nvSpPr>
          <p:cNvPr id="35" name="Shape 25"/>
          <p:cNvSpPr/>
          <p:nvPr/>
        </p:nvSpPr>
        <p:spPr>
          <a:xfrm>
            <a:off x="6309360" y="4928616"/>
            <a:ext cx="5166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FF7900">
                <a:alpha val="55000"/>
              </a:srgbClr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6" name="Shape 26"/>
          <p:cNvSpPr/>
          <p:nvPr/>
        </p:nvSpPr>
        <p:spPr>
          <a:xfrm>
            <a:off x="6464808" y="5157216"/>
            <a:ext cx="457200" cy="457200"/>
          </a:xfrm>
          <a:prstGeom prst="ellipse">
            <a:avLst/>
          </a:prstGeom>
          <a:solidFill>
            <a:srgbClr val="FF7900">
              <a:alpha val="92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7" name="Image 8" descr="/home/claude/work/icons/checkcircl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8816" y="5221224"/>
            <a:ext cx="329184" cy="329184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7086600" y="4928616"/>
            <a:ext cx="3703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données locale, adaptée au contexte camerounais</a:t>
            </a:r>
            <a:endParaRPr lang="en-US" sz="1250" dirty="0"/>
          </a:p>
        </p:txBody>
      </p:sp>
      <p:sp>
        <p:nvSpPr>
          <p:cNvPr id="39" name="Text 28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05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TERRAIN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Personas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Trois situations réelles de fraude vécues par des utilisateurs Mobile Money au Cameroun.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FF7900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FF7900">
              <a:alpha val="18000"/>
            </a:srgbClr>
          </a:solidFill>
          <a:ln w="19050">
            <a:solidFill>
              <a:srgbClr val="FF790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1" descr="/home/claude/work/icons/user_FF7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800" b="1" noProof="0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1ère situation réelle de fraude</a:t>
            </a:r>
            <a:endParaRPr lang="fr-FR" sz="2800" noProof="0" dirty="0"/>
          </a:p>
        </p:txBody>
      </p:sp>
      <p:sp>
        <p:nvSpPr>
          <p:cNvPr id="38" name="Text 3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pic>
        <p:nvPicPr>
          <p:cNvPr id="40" name="Image 39">
            <a:extLst>
              <a:ext uri="{FF2B5EF4-FFF2-40B4-BE49-F238E27FC236}">
                <a16:creationId xmlns:a16="http://schemas.microsoft.com/office/drawing/2014/main" id="{D4B39464-B0EB-CF36-950F-51EE66CFE90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2920" y="1327104"/>
            <a:ext cx="9279999" cy="521999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EF9261-F06B-9374-3006-C3C22D977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_light.png">
            <a:extLst>
              <a:ext uri="{FF2B5EF4-FFF2-40B4-BE49-F238E27FC236}">
                <a16:creationId xmlns:a16="http://schemas.microsoft.com/office/drawing/2014/main" id="{59DBF5C8-05CA-7C38-44F4-38CF36F00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B8630864-0739-DB85-A21E-451601261375}"/>
              </a:ext>
            </a:extLst>
          </p:cNvPr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B6FDB5BA-B350-FAFE-189C-8CB099555593}"/>
              </a:ext>
            </a:extLst>
          </p:cNvPr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8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2ème</a:t>
            </a:r>
            <a:r>
              <a:rPr lang="fr-FR" sz="2800" b="1" noProof="0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situation réelle de fraude</a:t>
            </a:r>
            <a:endParaRPr lang="fr-FR" sz="2800" noProof="0" dirty="0"/>
          </a:p>
        </p:txBody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3F2867A5-3A9C-76AF-4A29-BF5BAE415984}"/>
              </a:ext>
            </a:extLst>
          </p:cNvPr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C317393C-4869-B643-CA5A-8302E534F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2920" y="1327104"/>
            <a:ext cx="9280000" cy="5219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210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C71247-C19E-E2AB-1C08-A97765237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_light.png">
            <a:extLst>
              <a:ext uri="{FF2B5EF4-FFF2-40B4-BE49-F238E27FC236}">
                <a16:creationId xmlns:a16="http://schemas.microsoft.com/office/drawing/2014/main" id="{7D9CDDC7-A44F-2B93-DA14-F0AD6C3FC0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32B6D1B2-F4AC-090A-C234-BB0B12AC06C4}"/>
              </a:ext>
            </a:extLst>
          </p:cNvPr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773FB212-B25D-EF84-41EF-63020670A5D9}"/>
              </a:ext>
            </a:extLst>
          </p:cNvPr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FR" sz="28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3ème</a:t>
            </a:r>
            <a:r>
              <a:rPr lang="fr-FR" sz="2800" b="1" noProof="0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situation réelle de fraude</a:t>
            </a:r>
            <a:endParaRPr lang="fr-FR" sz="2800" noProof="0" dirty="0"/>
          </a:p>
        </p:txBody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8A7F86C0-F03B-3382-5C6D-306A72267447}"/>
              </a:ext>
            </a:extLst>
          </p:cNvPr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A2A662AC-CF97-E527-7AD5-D0CCC36569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02920" y="1327104"/>
            <a:ext cx="9280000" cy="5219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46110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06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RÉPONSE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Notre solution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KWISMO : une plateforme intelligente de prévention contre la fraude Mobile Money, avant, pendant et après l'appel.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FF7900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FF7900">
              <a:alpha val="18000"/>
            </a:srgbClr>
          </a:solidFill>
          <a:ln w="19050">
            <a:solidFill>
              <a:srgbClr val="FF790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1" descr="/home/claude/work/icons/shield_FF7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SOLUTION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KWISMO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02920" y="13716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plateforme intelligente de prévention contre la fraude Mobile Money, propulsée par l'intelligence communautaire et l'IA.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02920" y="214884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795528" y="2423160"/>
            <a:ext cx="640080" cy="64008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8" name="Image 1" descr="/home/claude/work/icons/smartphon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139" y="2512771"/>
            <a:ext cx="460858" cy="46085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795528" y="3200400"/>
            <a:ext cx="4581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Application mobile autonome</a:t>
            </a:r>
            <a:endParaRPr lang="en-US" sz="1650" dirty="0"/>
          </a:p>
        </p:txBody>
      </p:sp>
      <p:sp>
        <p:nvSpPr>
          <p:cNvPr id="10" name="Text 6"/>
          <p:cNvSpPr/>
          <p:nvPr/>
        </p:nvSpPr>
        <p:spPr>
          <a:xfrm>
            <a:off x="795528" y="3611880"/>
            <a:ext cx="4581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Téléchargeable, elle détecte les appels suspects, permet le signalement communautaire et alerte en temps réel.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925312" y="214884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Shape 8"/>
          <p:cNvSpPr/>
          <p:nvPr/>
        </p:nvSpPr>
        <p:spPr>
          <a:xfrm>
            <a:off x="6217920" y="2423160"/>
            <a:ext cx="640080" cy="640080"/>
          </a:xfrm>
          <a:prstGeom prst="ellipse">
            <a:avLst/>
          </a:prstGeom>
          <a:solidFill>
            <a:srgbClr val="4D6AB1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Image 2" descr="/home/claude/work/icons/layers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531" y="2512771"/>
            <a:ext cx="460858" cy="46085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217920" y="3200400"/>
            <a:ext cx="45811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Mini-application intégrée</a:t>
            </a:r>
            <a:endParaRPr lang="en-US" sz="1650" dirty="0"/>
          </a:p>
        </p:txBody>
      </p:sp>
      <p:sp>
        <p:nvSpPr>
          <p:cNvPr id="15" name="Text 10"/>
          <p:cNvSpPr/>
          <p:nvPr/>
        </p:nvSpPr>
        <p:spPr>
          <a:xfrm>
            <a:off x="6217920" y="3611880"/>
            <a:ext cx="45811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KWISMO comme « Centre de Sécurité » d'un super-app opérateur (ex. Max it) : alerte native, sans installation.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502920" y="4800600"/>
            <a:ext cx="106070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FF7900">
                <a:alpha val="65000"/>
              </a:srgbClr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2"/>
          <p:cNvSpPr/>
          <p:nvPr/>
        </p:nvSpPr>
        <p:spPr>
          <a:xfrm>
            <a:off x="795528" y="5184648"/>
            <a:ext cx="566928" cy="566928"/>
          </a:xfrm>
          <a:prstGeom prst="ellipse">
            <a:avLst/>
          </a:prstGeom>
          <a:solidFill>
            <a:srgbClr val="FF7900">
              <a:alpha val="92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8" name="Image 3" descr="/home/claude/work/icons/glob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4898" y="5264018"/>
            <a:ext cx="408188" cy="4081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554480" y="5056632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ambition : devenir l'infrastructure africaine de référence pour la protection contre la fraude Mobile Money.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AJOUTÉE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KWISMO apporte concrètement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463040"/>
            <a:ext cx="106070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635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685800" y="1655064"/>
            <a:ext cx="512064" cy="512064"/>
          </a:xfrm>
          <a:prstGeom prst="ellipse">
            <a:avLst/>
          </a:prstGeom>
          <a:solidFill>
            <a:srgbClr val="FF7900">
              <a:alpha val="92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1" descr="/home/claude/work/icons/zap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489" y="1726753"/>
            <a:ext cx="368686" cy="36868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17320" y="1463040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 préventive en temps réel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5074920" y="1600200"/>
            <a:ext cx="0" cy="621792"/>
          </a:xfrm>
          <a:prstGeom prst="line">
            <a:avLst/>
          </a:prstGeom>
          <a:noFill/>
          <a:ln w="9525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6"/>
          <p:cNvSpPr/>
          <p:nvPr/>
        </p:nvSpPr>
        <p:spPr>
          <a:xfrm>
            <a:off x="5349240" y="1463040"/>
            <a:ext cx="5577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que l'utilisateur ne soit piégé — pas un simple signalement après coup.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502920" y="2414016"/>
            <a:ext cx="10607040" cy="896112"/>
          </a:xfrm>
          <a:prstGeom prst="roundRect">
            <a:avLst>
              <a:gd name="adj" fmla="val 8163"/>
            </a:avLst>
          </a:prstGeom>
          <a:solidFill>
            <a:srgbClr val="F1F3F8"/>
          </a:solidFill>
          <a:ln w="635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8"/>
          <p:cNvSpPr/>
          <p:nvPr/>
        </p:nvSpPr>
        <p:spPr>
          <a:xfrm>
            <a:off x="685800" y="2606040"/>
            <a:ext cx="512064" cy="512064"/>
          </a:xfrm>
          <a:prstGeom prst="ellipse">
            <a:avLst/>
          </a:prstGeom>
          <a:solidFill>
            <a:srgbClr val="4D6AB1">
              <a:alpha val="92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3" name="Image 2" descr="/home/claude/work/icons/users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489" y="2677729"/>
            <a:ext cx="368686" cy="36868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2414016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communautaire locale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5074920" y="2551176"/>
            <a:ext cx="0" cy="621792"/>
          </a:xfrm>
          <a:prstGeom prst="line">
            <a:avLst/>
          </a:prstGeom>
          <a:noFill/>
          <a:ln w="9525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1"/>
          <p:cNvSpPr/>
          <p:nvPr/>
        </p:nvSpPr>
        <p:spPr>
          <a:xfrm>
            <a:off x="5349240" y="2414016"/>
            <a:ext cx="5577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base de renseignement alimentée par les signalements des utilisateurs.</a:t>
            </a:r>
            <a:endParaRPr lang="en-US" sz="1250" dirty="0"/>
          </a:p>
        </p:txBody>
      </p:sp>
      <p:sp>
        <p:nvSpPr>
          <p:cNvPr id="17" name="Shape 12"/>
          <p:cNvSpPr/>
          <p:nvPr/>
        </p:nvSpPr>
        <p:spPr>
          <a:xfrm>
            <a:off x="502920" y="3364992"/>
            <a:ext cx="106070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635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3"/>
          <p:cNvSpPr/>
          <p:nvPr/>
        </p:nvSpPr>
        <p:spPr>
          <a:xfrm>
            <a:off x="685800" y="3557016"/>
            <a:ext cx="512064" cy="512064"/>
          </a:xfrm>
          <a:prstGeom prst="ellipse">
            <a:avLst/>
          </a:prstGeom>
          <a:solidFill>
            <a:srgbClr val="FF7900">
              <a:alpha val="92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9" name="Image 3" descr="/home/claude/work/icons/checkcircl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489" y="3628705"/>
            <a:ext cx="368686" cy="36868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417320" y="3364992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Vérification avant transaction</a:t>
            </a:r>
            <a:endParaRPr lang="en-US" sz="1350" dirty="0"/>
          </a:p>
        </p:txBody>
      </p:sp>
      <p:sp>
        <p:nvSpPr>
          <p:cNvPr id="21" name="Shape 15"/>
          <p:cNvSpPr/>
          <p:nvPr/>
        </p:nvSpPr>
        <p:spPr>
          <a:xfrm>
            <a:off x="5074920" y="3502152"/>
            <a:ext cx="0" cy="621792"/>
          </a:xfrm>
          <a:prstGeom prst="line">
            <a:avLst/>
          </a:prstGeom>
          <a:noFill/>
          <a:ln w="9525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6"/>
          <p:cNvSpPr/>
          <p:nvPr/>
        </p:nvSpPr>
        <p:spPr>
          <a:xfrm>
            <a:off x="5349240" y="3364992"/>
            <a:ext cx="5577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réputation d'un numéro est contrôlée avant toute validation Mobile Money.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502920" y="4315968"/>
            <a:ext cx="10607040" cy="896112"/>
          </a:xfrm>
          <a:prstGeom prst="roundRect">
            <a:avLst>
              <a:gd name="adj" fmla="val 8163"/>
            </a:avLst>
          </a:prstGeom>
          <a:solidFill>
            <a:srgbClr val="F1F3F8"/>
          </a:solidFill>
          <a:ln w="635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18"/>
          <p:cNvSpPr/>
          <p:nvPr/>
        </p:nvSpPr>
        <p:spPr>
          <a:xfrm>
            <a:off x="685800" y="4507992"/>
            <a:ext cx="512064" cy="512064"/>
          </a:xfrm>
          <a:prstGeom prst="ellipse">
            <a:avLst/>
          </a:prstGeom>
          <a:solidFill>
            <a:srgbClr val="4D6AB1">
              <a:alpha val="92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5" name="Image 4" descr="/home/claude/work/icons/message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7489" y="4579681"/>
            <a:ext cx="368686" cy="368686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417320" y="4315968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étendue à WhatsApp</a:t>
            </a:r>
            <a:endParaRPr lang="en-US" sz="1350" dirty="0"/>
          </a:p>
        </p:txBody>
      </p:sp>
      <p:sp>
        <p:nvSpPr>
          <p:cNvPr id="27" name="Shape 20"/>
          <p:cNvSpPr/>
          <p:nvPr/>
        </p:nvSpPr>
        <p:spPr>
          <a:xfrm>
            <a:off x="5074920" y="4453128"/>
            <a:ext cx="0" cy="621792"/>
          </a:xfrm>
          <a:prstGeom prst="line">
            <a:avLst/>
          </a:prstGeom>
          <a:noFill/>
          <a:ln w="9525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1"/>
          <p:cNvSpPr/>
          <p:nvPr/>
        </p:nvSpPr>
        <p:spPr>
          <a:xfrm>
            <a:off x="5349240" y="4315968"/>
            <a:ext cx="5577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possible de la détection aux tentatives de fraude sur WhatsApp.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502920" y="5266944"/>
            <a:ext cx="1060704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635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Shape 23"/>
          <p:cNvSpPr/>
          <p:nvPr/>
        </p:nvSpPr>
        <p:spPr>
          <a:xfrm>
            <a:off x="685800" y="5458968"/>
            <a:ext cx="512064" cy="512064"/>
          </a:xfrm>
          <a:prstGeom prst="ellipse">
            <a:avLst/>
          </a:prstGeom>
          <a:solidFill>
            <a:srgbClr val="FF7900">
              <a:alpha val="92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1" name="Image 5" descr="/home/claude/work/icons/trending_FFFFFF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7489" y="5530657"/>
            <a:ext cx="368686" cy="36868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417320" y="5266944"/>
            <a:ext cx="35661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Intelligence évolutive</a:t>
            </a:r>
            <a:endParaRPr lang="en-US" sz="1350" dirty="0"/>
          </a:p>
        </p:txBody>
      </p:sp>
      <p:sp>
        <p:nvSpPr>
          <p:cNvPr id="33" name="Shape 25"/>
          <p:cNvSpPr/>
          <p:nvPr/>
        </p:nvSpPr>
        <p:spPr>
          <a:xfrm>
            <a:off x="5074920" y="5404104"/>
            <a:ext cx="0" cy="621792"/>
          </a:xfrm>
          <a:prstGeom prst="line">
            <a:avLst/>
          </a:prstGeom>
          <a:noFill/>
          <a:ln w="9525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26"/>
          <p:cNvSpPr/>
          <p:nvPr/>
        </p:nvSpPr>
        <p:spPr>
          <a:xfrm>
            <a:off x="5349240" y="5266944"/>
            <a:ext cx="5577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fiabilité de détection s'améliore en continu avec la communauté.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07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DIFFÉRENCIER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 err="1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Positionnement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fr-FR" sz="1500" noProof="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Ceux avec quoi KWISMO se différencie par rapport à la concurrence.</a:t>
            </a:r>
            <a:endParaRPr lang="fr-FR" sz="1500" noProof="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4D6AB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4D6AB1">
              <a:alpha val="18000"/>
            </a:srgbClr>
          </a:solidFill>
          <a:ln w="19050">
            <a:solidFill>
              <a:srgbClr val="4D6AB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1" descr="/home/claude/work/icons/layers_4D6AB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POSITIONNEMENT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KWISMO face à l'existant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417320"/>
            <a:ext cx="10607040" cy="457200"/>
          </a:xfrm>
          <a:prstGeom prst="roundRect">
            <a:avLst>
              <a:gd name="adj" fmla="val 12000"/>
            </a:avLst>
          </a:prstGeom>
          <a:solidFill>
            <a:srgbClr val="F1F3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" name="Text 3"/>
          <p:cNvSpPr/>
          <p:nvPr/>
        </p:nvSpPr>
        <p:spPr>
          <a:xfrm>
            <a:off x="685800" y="141732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166360" y="1417320"/>
            <a:ext cx="198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Truecaller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147560" y="1417320"/>
            <a:ext cx="198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Whoscall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128760" y="1417320"/>
            <a:ext cx="198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KWISMO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02920" y="1874520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635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685800" y="1874520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des numéros</a:t>
            </a:r>
            <a:endParaRPr lang="en-US" sz="1200" dirty="0"/>
          </a:p>
        </p:txBody>
      </p:sp>
      <p:pic>
        <p:nvPicPr>
          <p:cNvPr id="12" name="Image 1" descr="/home/claude/work/icons/checkcircle_3A43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3224" y="1965960"/>
            <a:ext cx="347472" cy="347472"/>
          </a:xfrm>
          <a:prstGeom prst="rect">
            <a:avLst/>
          </a:prstGeom>
        </p:spPr>
      </p:pic>
      <p:pic>
        <p:nvPicPr>
          <p:cNvPr id="13" name="Image 2" descr="/home/claude/work/icons/checkcircle_3A43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424" y="1965960"/>
            <a:ext cx="347472" cy="347472"/>
          </a:xfrm>
          <a:prstGeom prst="rect">
            <a:avLst/>
          </a:prstGeom>
        </p:spPr>
      </p:pic>
      <p:pic>
        <p:nvPicPr>
          <p:cNvPr id="14" name="Image 3" descr="/home/claude/work/icons/checkcircle_FF79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624" y="1965960"/>
            <a:ext cx="347472" cy="34747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502920" y="2450592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635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0"/>
          <p:cNvSpPr/>
          <p:nvPr/>
        </p:nvSpPr>
        <p:spPr>
          <a:xfrm>
            <a:off x="685800" y="2450592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des transferts</a:t>
            </a:r>
            <a:endParaRPr lang="en-US" sz="1200" dirty="0"/>
          </a:p>
        </p:txBody>
      </p:sp>
      <p:pic>
        <p:nvPicPr>
          <p:cNvPr id="17" name="Image 4" descr="/home/claude/work/icons/xcircle_9AA2B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3224" y="2542032"/>
            <a:ext cx="347472" cy="347472"/>
          </a:xfrm>
          <a:prstGeom prst="rect">
            <a:avLst/>
          </a:prstGeom>
        </p:spPr>
      </p:pic>
      <p:pic>
        <p:nvPicPr>
          <p:cNvPr id="18" name="Image 5" descr="/home/claude/work/icons/xcircle_9AA2B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2542032"/>
            <a:ext cx="347472" cy="347472"/>
          </a:xfrm>
          <a:prstGeom prst="rect">
            <a:avLst/>
          </a:prstGeom>
        </p:spPr>
      </p:pic>
      <p:pic>
        <p:nvPicPr>
          <p:cNvPr id="19" name="Image 6" descr="/home/claude/work/icons/checkcircle_FF79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624" y="2542032"/>
            <a:ext cx="347472" cy="347472"/>
          </a:xfrm>
          <a:prstGeom prst="rect">
            <a:avLst/>
          </a:prstGeom>
        </p:spPr>
      </p:pic>
      <p:sp>
        <p:nvSpPr>
          <p:cNvPr id="20" name="Shape 11"/>
          <p:cNvSpPr/>
          <p:nvPr/>
        </p:nvSpPr>
        <p:spPr>
          <a:xfrm>
            <a:off x="502920" y="3026664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635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2"/>
          <p:cNvSpPr/>
          <p:nvPr/>
        </p:nvSpPr>
        <p:spPr>
          <a:xfrm>
            <a:off x="685800" y="3026664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Signalement de numéros</a:t>
            </a:r>
            <a:endParaRPr lang="en-US" sz="1200" dirty="0"/>
          </a:p>
        </p:txBody>
      </p:sp>
      <p:pic>
        <p:nvPicPr>
          <p:cNvPr id="22" name="Image 7" descr="/home/claude/work/icons/checkcircle_3A43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3224" y="3118104"/>
            <a:ext cx="347472" cy="347472"/>
          </a:xfrm>
          <a:prstGeom prst="rect">
            <a:avLst/>
          </a:prstGeom>
        </p:spPr>
      </p:pic>
      <p:pic>
        <p:nvPicPr>
          <p:cNvPr id="23" name="Image 8" descr="/home/claude/work/icons/checkcircle_3A43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424" y="3118104"/>
            <a:ext cx="347472" cy="347472"/>
          </a:xfrm>
          <a:prstGeom prst="rect">
            <a:avLst/>
          </a:prstGeom>
        </p:spPr>
      </p:pic>
      <p:pic>
        <p:nvPicPr>
          <p:cNvPr id="24" name="Image 9" descr="/home/claude/work/icons/checkcircle_FF79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624" y="3118104"/>
            <a:ext cx="347472" cy="347472"/>
          </a:xfrm>
          <a:prstGeom prst="rect">
            <a:avLst/>
          </a:prstGeom>
        </p:spPr>
      </p:pic>
      <p:sp>
        <p:nvSpPr>
          <p:cNvPr id="25" name="Shape 13"/>
          <p:cNvSpPr/>
          <p:nvPr/>
        </p:nvSpPr>
        <p:spPr>
          <a:xfrm>
            <a:off x="502920" y="3602736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635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14"/>
          <p:cNvSpPr/>
          <p:nvPr/>
        </p:nvSpPr>
        <p:spPr>
          <a:xfrm>
            <a:off x="685800" y="360273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Adaptation à tous les réseaux</a:t>
            </a:r>
            <a:endParaRPr lang="en-US" sz="1200" dirty="0"/>
          </a:p>
        </p:txBody>
      </p:sp>
      <p:pic>
        <p:nvPicPr>
          <p:cNvPr id="27" name="Image 10" descr="/home/claude/work/icons/xcircle_9AA2B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3224" y="3694176"/>
            <a:ext cx="347472" cy="347472"/>
          </a:xfrm>
          <a:prstGeom prst="rect">
            <a:avLst/>
          </a:prstGeom>
        </p:spPr>
      </p:pic>
      <p:pic>
        <p:nvPicPr>
          <p:cNvPr id="28" name="Image 11" descr="/home/claude/work/icons/xcircle_9AA2B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3694176"/>
            <a:ext cx="347472" cy="347472"/>
          </a:xfrm>
          <a:prstGeom prst="rect">
            <a:avLst/>
          </a:prstGeom>
        </p:spPr>
      </p:pic>
      <p:pic>
        <p:nvPicPr>
          <p:cNvPr id="29" name="Image 12" descr="/home/claude/work/icons/checkcircle_FF79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624" y="3694176"/>
            <a:ext cx="347472" cy="347472"/>
          </a:xfrm>
          <a:prstGeom prst="rect">
            <a:avLst/>
          </a:prstGeom>
        </p:spPr>
      </p:pic>
      <p:sp>
        <p:nvSpPr>
          <p:cNvPr id="30" name="Shape 15"/>
          <p:cNvSpPr/>
          <p:nvPr/>
        </p:nvSpPr>
        <p:spPr>
          <a:xfrm>
            <a:off x="502920" y="4178808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635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16"/>
          <p:cNvSpPr/>
          <p:nvPr/>
        </p:nvSpPr>
        <p:spPr>
          <a:xfrm>
            <a:off x="685800" y="4178808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Signalement WhatsApp</a:t>
            </a:r>
            <a:endParaRPr lang="en-US" sz="1200" dirty="0"/>
          </a:p>
        </p:txBody>
      </p:sp>
      <p:pic>
        <p:nvPicPr>
          <p:cNvPr id="32" name="Image 13" descr="/home/claude/work/icons/xcircle_9AA2B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83224" y="4270248"/>
            <a:ext cx="347472" cy="347472"/>
          </a:xfrm>
          <a:prstGeom prst="rect">
            <a:avLst/>
          </a:prstGeom>
        </p:spPr>
      </p:pic>
      <p:pic>
        <p:nvPicPr>
          <p:cNvPr id="33" name="Image 14" descr="/home/claude/work/icons/xcircle_9AA2B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64424" y="4270248"/>
            <a:ext cx="347472" cy="347472"/>
          </a:xfrm>
          <a:prstGeom prst="rect">
            <a:avLst/>
          </a:prstGeom>
        </p:spPr>
      </p:pic>
      <p:pic>
        <p:nvPicPr>
          <p:cNvPr id="34" name="Image 15" descr="/home/claude/work/icons/checkcircle_FF79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624" y="4270248"/>
            <a:ext cx="347472" cy="347472"/>
          </a:xfrm>
          <a:prstGeom prst="rect">
            <a:avLst/>
          </a:prstGeom>
        </p:spPr>
      </p:pic>
      <p:sp>
        <p:nvSpPr>
          <p:cNvPr id="35" name="Shape 17"/>
          <p:cNvSpPr/>
          <p:nvPr/>
        </p:nvSpPr>
        <p:spPr>
          <a:xfrm>
            <a:off x="502920" y="4754880"/>
            <a:ext cx="10607040" cy="530352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635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18"/>
          <p:cNvSpPr/>
          <p:nvPr/>
        </p:nvSpPr>
        <p:spPr>
          <a:xfrm>
            <a:off x="685800" y="4754880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Disponibilité au grand public</a:t>
            </a:r>
            <a:endParaRPr lang="en-US" sz="1200" dirty="0"/>
          </a:p>
        </p:txBody>
      </p:sp>
      <p:pic>
        <p:nvPicPr>
          <p:cNvPr id="37" name="Image 16" descr="/home/claude/work/icons/checkcircle_3A43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3224" y="4846320"/>
            <a:ext cx="347472" cy="347472"/>
          </a:xfrm>
          <a:prstGeom prst="rect">
            <a:avLst/>
          </a:prstGeom>
        </p:spPr>
      </p:pic>
      <p:pic>
        <p:nvPicPr>
          <p:cNvPr id="38" name="Image 17" descr="/home/claude/work/icons/checkcircle_3A43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424" y="4846320"/>
            <a:ext cx="347472" cy="347472"/>
          </a:xfrm>
          <a:prstGeom prst="rect">
            <a:avLst/>
          </a:prstGeom>
        </p:spPr>
      </p:pic>
      <p:pic>
        <p:nvPicPr>
          <p:cNvPr id="39" name="Image 18" descr="/home/claude/work/icons/checkcircle_FF79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45624" y="4846320"/>
            <a:ext cx="347472" cy="347472"/>
          </a:xfrm>
          <a:prstGeom prst="rect">
            <a:avLst/>
          </a:prstGeom>
        </p:spPr>
      </p:pic>
      <p:sp>
        <p:nvSpPr>
          <p:cNvPr id="40" name="Shape 19"/>
          <p:cNvSpPr/>
          <p:nvPr/>
        </p:nvSpPr>
        <p:spPr>
          <a:xfrm>
            <a:off x="502920" y="5468112"/>
            <a:ext cx="106070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1" name="Shape 20"/>
          <p:cNvSpPr/>
          <p:nvPr/>
        </p:nvSpPr>
        <p:spPr>
          <a:xfrm>
            <a:off x="795528" y="5724144"/>
            <a:ext cx="530352" cy="530352"/>
          </a:xfrm>
          <a:prstGeom prst="ellipse">
            <a:avLst/>
          </a:prstGeom>
          <a:solidFill>
            <a:srgbClr val="FF7900">
              <a:alpha val="92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2" name="Image 19" descr="/home/claude/work/icons/globe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777" y="5798393"/>
            <a:ext cx="381853" cy="381853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1508760" y="5632704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KWISMO ne cherche pas à remplacer l'infrastructure de sécurité des opérateurs, mais à combler le vide laissé par les solutions généralistes existantes.</a:t>
            </a:r>
            <a:endParaRPr lang="en-US" sz="1300" dirty="0"/>
          </a:p>
        </p:txBody>
      </p:sp>
      <p:sp>
        <p:nvSpPr>
          <p:cNvPr id="44" name="Text 2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08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SERA PRODUIT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Livrables attendus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Quatre livrables majeurs : API, application mobile, site web et documentation complète.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FF7900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FF7900">
              <a:alpha val="18000"/>
            </a:srgbClr>
          </a:solidFill>
          <a:ln w="19050">
            <a:solidFill>
              <a:srgbClr val="FF7900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1" descr="/home/claude/work/icons/package_FF7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LIVRABLES ATTENDUS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Quatre livrables majeurs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02920" y="146304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3"/>
          <p:cNvSpPr/>
          <p:nvPr/>
        </p:nvSpPr>
        <p:spPr>
          <a:xfrm>
            <a:off x="777240" y="1719072"/>
            <a:ext cx="566928" cy="566928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7" name="Image 1" descr="/home/claude/work/icons/code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610" y="1798442"/>
            <a:ext cx="408188" cy="40818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08760" y="171907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API d'analyse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1508760" y="201168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numéros frauduleux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89468" y="2880360"/>
            <a:ext cx="1642262" cy="365760"/>
          </a:xfrm>
          <a:prstGeom prst="roundRect">
            <a:avLst>
              <a:gd name="adj" fmla="val 50000"/>
            </a:avLst>
          </a:prstGeom>
          <a:solidFill>
            <a:srgbClr val="F1F3F8"/>
          </a:solidFill>
          <a:ln w="6350">
            <a:solidFill>
              <a:srgbClr val="FF790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7"/>
          <p:cNvSpPr/>
          <p:nvPr/>
        </p:nvSpPr>
        <p:spPr>
          <a:xfrm>
            <a:off x="589468" y="2880360"/>
            <a:ext cx="164226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de numéros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2341458" y="2880360"/>
            <a:ext cx="1267358" cy="365760"/>
          </a:xfrm>
          <a:prstGeom prst="roundRect">
            <a:avLst>
              <a:gd name="adj" fmla="val 50000"/>
            </a:avLst>
          </a:prstGeom>
          <a:solidFill>
            <a:srgbClr val="F1F3F8"/>
          </a:solidFill>
          <a:ln w="6350">
            <a:solidFill>
              <a:srgbClr val="FF790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9"/>
          <p:cNvSpPr/>
          <p:nvPr/>
        </p:nvSpPr>
        <p:spPr>
          <a:xfrm>
            <a:off x="2341458" y="288036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IA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3718545" y="2880360"/>
            <a:ext cx="1867205" cy="365760"/>
          </a:xfrm>
          <a:prstGeom prst="roundRect">
            <a:avLst>
              <a:gd name="adj" fmla="val 50000"/>
            </a:avLst>
          </a:prstGeom>
          <a:solidFill>
            <a:srgbClr val="F1F3F8"/>
          </a:solidFill>
          <a:ln w="6350">
            <a:solidFill>
              <a:srgbClr val="FF790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3718545" y="2880360"/>
            <a:ext cx="186720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Swagger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5925312" y="146304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3"/>
          <p:cNvSpPr/>
          <p:nvPr/>
        </p:nvSpPr>
        <p:spPr>
          <a:xfrm>
            <a:off x="6199632" y="1719072"/>
            <a:ext cx="566928" cy="566928"/>
          </a:xfrm>
          <a:prstGeom prst="ellipse">
            <a:avLst/>
          </a:prstGeom>
          <a:solidFill>
            <a:srgbClr val="4D6AB1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8" name="Image 2" descr="/home/claude/work/icons/smartphone_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9002" y="1798442"/>
            <a:ext cx="408188" cy="4081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931152" y="171907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Application mobile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6931152" y="201168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KWISMO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199632" y="2880360"/>
            <a:ext cx="1567282" cy="365760"/>
          </a:xfrm>
          <a:prstGeom prst="roundRect">
            <a:avLst>
              <a:gd name="adj" fmla="val 50000"/>
            </a:avLst>
          </a:prstGeom>
          <a:solidFill>
            <a:srgbClr val="F1F3F8"/>
          </a:solidFill>
          <a:ln w="6350">
            <a:solidFill>
              <a:srgbClr val="4D6AB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7"/>
          <p:cNvSpPr/>
          <p:nvPr/>
        </p:nvSpPr>
        <p:spPr>
          <a:xfrm>
            <a:off x="6199632" y="2880360"/>
            <a:ext cx="15672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d'appel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7876642" y="2880360"/>
            <a:ext cx="1567282" cy="365760"/>
          </a:xfrm>
          <a:prstGeom prst="roundRect">
            <a:avLst>
              <a:gd name="adj" fmla="val 50000"/>
            </a:avLst>
          </a:prstGeom>
          <a:solidFill>
            <a:srgbClr val="F1F3F8"/>
          </a:solidFill>
          <a:ln w="6350">
            <a:solidFill>
              <a:srgbClr val="4D6AB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19"/>
          <p:cNvSpPr/>
          <p:nvPr/>
        </p:nvSpPr>
        <p:spPr>
          <a:xfrm>
            <a:off x="7876642" y="2880360"/>
            <a:ext cx="15672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Transfert protégé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9553651" y="2880360"/>
            <a:ext cx="1192378" cy="365760"/>
          </a:xfrm>
          <a:prstGeom prst="roundRect">
            <a:avLst>
              <a:gd name="adj" fmla="val 50000"/>
            </a:avLst>
          </a:prstGeom>
          <a:solidFill>
            <a:srgbClr val="F1F3F8"/>
          </a:solidFill>
          <a:ln w="6350">
            <a:solidFill>
              <a:srgbClr val="4D6AB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1"/>
          <p:cNvSpPr/>
          <p:nvPr/>
        </p:nvSpPr>
        <p:spPr>
          <a:xfrm>
            <a:off x="9553651" y="2880360"/>
            <a:ext cx="1192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OTP</a:t>
            </a:r>
            <a:endParaRPr lang="en-US" sz="1000" dirty="0"/>
          </a:p>
        </p:txBody>
      </p:sp>
      <p:sp>
        <p:nvSpPr>
          <p:cNvPr id="27" name="Shape 22"/>
          <p:cNvSpPr/>
          <p:nvPr/>
        </p:nvSpPr>
        <p:spPr>
          <a:xfrm>
            <a:off x="502920" y="402336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3"/>
          <p:cNvSpPr/>
          <p:nvPr/>
        </p:nvSpPr>
        <p:spPr>
          <a:xfrm>
            <a:off x="777240" y="4279392"/>
            <a:ext cx="566928" cy="566928"/>
          </a:xfrm>
          <a:prstGeom prst="ellipse">
            <a:avLst/>
          </a:prstGeom>
          <a:solidFill>
            <a:srgbClr val="F6A02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9" name="Image 3" descr="/home/claude/work/icons/glob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610" y="4358762"/>
            <a:ext cx="408188" cy="40818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1508760" y="427939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Site web</a:t>
            </a:r>
            <a:endParaRPr lang="en-US" sz="1550" dirty="0"/>
          </a:p>
        </p:txBody>
      </p:sp>
      <p:sp>
        <p:nvSpPr>
          <p:cNvPr id="31" name="Text 25"/>
          <p:cNvSpPr/>
          <p:nvPr/>
        </p:nvSpPr>
        <p:spPr>
          <a:xfrm>
            <a:off x="1508760" y="45720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vitrine &amp; administration</a:t>
            </a:r>
            <a:endParaRPr lang="en-US" sz="1150" dirty="0"/>
          </a:p>
        </p:txBody>
      </p:sp>
      <p:sp>
        <p:nvSpPr>
          <p:cNvPr id="32" name="Shape 26"/>
          <p:cNvSpPr/>
          <p:nvPr/>
        </p:nvSpPr>
        <p:spPr>
          <a:xfrm>
            <a:off x="777240" y="5440680"/>
            <a:ext cx="1192378" cy="365760"/>
          </a:xfrm>
          <a:prstGeom prst="roundRect">
            <a:avLst>
              <a:gd name="adj" fmla="val 50000"/>
            </a:avLst>
          </a:prstGeom>
          <a:solidFill>
            <a:srgbClr val="F1F3F8"/>
          </a:solidFill>
          <a:ln w="6350">
            <a:solidFill>
              <a:srgbClr val="F6A02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27"/>
          <p:cNvSpPr/>
          <p:nvPr/>
        </p:nvSpPr>
        <p:spPr>
          <a:xfrm>
            <a:off x="777240" y="5440680"/>
            <a:ext cx="1192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vitrine</a:t>
            </a:r>
            <a:endParaRPr lang="en-US" sz="1000" dirty="0"/>
          </a:p>
        </p:txBody>
      </p:sp>
      <p:sp>
        <p:nvSpPr>
          <p:cNvPr id="34" name="Shape 28"/>
          <p:cNvSpPr/>
          <p:nvPr/>
        </p:nvSpPr>
        <p:spPr>
          <a:xfrm>
            <a:off x="2079346" y="5440680"/>
            <a:ext cx="1192378" cy="365760"/>
          </a:xfrm>
          <a:prstGeom prst="roundRect">
            <a:avLst>
              <a:gd name="adj" fmla="val 50000"/>
            </a:avLst>
          </a:prstGeom>
          <a:solidFill>
            <a:srgbClr val="F1F3F8"/>
          </a:solidFill>
          <a:ln w="6350">
            <a:solidFill>
              <a:srgbClr val="F6A02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29"/>
          <p:cNvSpPr/>
          <p:nvPr/>
        </p:nvSpPr>
        <p:spPr>
          <a:xfrm>
            <a:off x="2079346" y="5440680"/>
            <a:ext cx="11923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admin</a:t>
            </a:r>
            <a:endParaRPr lang="en-US" sz="1000" dirty="0"/>
          </a:p>
        </p:txBody>
      </p:sp>
      <p:sp>
        <p:nvSpPr>
          <p:cNvPr id="36" name="Shape 30"/>
          <p:cNvSpPr/>
          <p:nvPr/>
        </p:nvSpPr>
        <p:spPr>
          <a:xfrm>
            <a:off x="3381451" y="5440680"/>
            <a:ext cx="1567282" cy="365760"/>
          </a:xfrm>
          <a:prstGeom prst="roundRect">
            <a:avLst>
              <a:gd name="adj" fmla="val 50000"/>
            </a:avLst>
          </a:prstGeom>
          <a:solidFill>
            <a:srgbClr val="F1F3F8"/>
          </a:solidFill>
          <a:ln w="6350">
            <a:solidFill>
              <a:srgbClr val="F6A020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1"/>
          <p:cNvSpPr/>
          <p:nvPr/>
        </p:nvSpPr>
        <p:spPr>
          <a:xfrm>
            <a:off x="3381451" y="5440680"/>
            <a:ext cx="15672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Espace partenaire</a:t>
            </a:r>
            <a:endParaRPr lang="en-US" sz="1000" dirty="0"/>
          </a:p>
        </p:txBody>
      </p:sp>
      <p:sp>
        <p:nvSpPr>
          <p:cNvPr id="38" name="Shape 32"/>
          <p:cNvSpPr/>
          <p:nvPr/>
        </p:nvSpPr>
        <p:spPr>
          <a:xfrm>
            <a:off x="5925312" y="4023360"/>
            <a:ext cx="516636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9" name="Shape 33"/>
          <p:cNvSpPr/>
          <p:nvPr/>
        </p:nvSpPr>
        <p:spPr>
          <a:xfrm>
            <a:off x="6199632" y="4279392"/>
            <a:ext cx="566928" cy="566928"/>
          </a:xfrm>
          <a:prstGeom prst="ellipse">
            <a:avLst/>
          </a:prstGeom>
          <a:solidFill>
            <a:srgbClr val="4D6AB1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40" name="Image 4" descr="/home/claude/work/icons/filetext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79002" y="4358762"/>
            <a:ext cx="408188" cy="408188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6931152" y="4279392"/>
            <a:ext cx="3886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Documentation</a:t>
            </a:r>
            <a:endParaRPr lang="en-US" sz="1550" dirty="0"/>
          </a:p>
        </p:txBody>
      </p:sp>
      <p:sp>
        <p:nvSpPr>
          <p:cNvPr id="42" name="Text 35"/>
          <p:cNvSpPr/>
          <p:nvPr/>
        </p:nvSpPr>
        <p:spPr>
          <a:xfrm>
            <a:off x="6931152" y="45720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claire et complète</a:t>
            </a:r>
            <a:endParaRPr lang="en-US" sz="1150" dirty="0"/>
          </a:p>
        </p:txBody>
      </p:sp>
      <p:sp>
        <p:nvSpPr>
          <p:cNvPr id="43" name="Shape 36"/>
          <p:cNvSpPr/>
          <p:nvPr/>
        </p:nvSpPr>
        <p:spPr>
          <a:xfrm>
            <a:off x="6199632" y="544068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1F3F8"/>
          </a:solidFill>
          <a:ln w="6350">
            <a:solidFill>
              <a:srgbClr val="4D6AB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37"/>
          <p:cNvSpPr/>
          <p:nvPr/>
        </p:nvSpPr>
        <p:spPr>
          <a:xfrm>
            <a:off x="6199632" y="544068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(API)</a:t>
            </a:r>
            <a:endParaRPr lang="en-US" sz="1000" dirty="0"/>
          </a:p>
        </p:txBody>
      </p:sp>
      <p:sp>
        <p:nvSpPr>
          <p:cNvPr id="45" name="Shape 38"/>
          <p:cNvSpPr/>
          <p:nvPr/>
        </p:nvSpPr>
        <p:spPr>
          <a:xfrm>
            <a:off x="7726680" y="5440680"/>
            <a:ext cx="1267358" cy="365760"/>
          </a:xfrm>
          <a:prstGeom prst="roundRect">
            <a:avLst>
              <a:gd name="adj" fmla="val 50000"/>
            </a:avLst>
          </a:prstGeom>
          <a:solidFill>
            <a:srgbClr val="F1F3F8"/>
          </a:solidFill>
          <a:ln w="6350">
            <a:solidFill>
              <a:srgbClr val="4D6AB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39"/>
          <p:cNvSpPr/>
          <p:nvPr/>
        </p:nvSpPr>
        <p:spPr>
          <a:xfrm>
            <a:off x="7726680" y="544068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Fonctionnelle</a:t>
            </a:r>
            <a:endParaRPr lang="en-US" sz="1000" dirty="0"/>
          </a:p>
        </p:txBody>
      </p:sp>
      <p:sp>
        <p:nvSpPr>
          <p:cNvPr id="47" name="Shape 40"/>
          <p:cNvSpPr/>
          <p:nvPr/>
        </p:nvSpPr>
        <p:spPr>
          <a:xfrm>
            <a:off x="9103766" y="5440680"/>
            <a:ext cx="1792224" cy="365760"/>
          </a:xfrm>
          <a:prstGeom prst="roundRect">
            <a:avLst>
              <a:gd name="adj" fmla="val 50000"/>
            </a:avLst>
          </a:prstGeom>
          <a:solidFill>
            <a:srgbClr val="F1F3F8"/>
          </a:solidFill>
          <a:ln w="6350">
            <a:solidFill>
              <a:srgbClr val="4D6AB1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Text 41"/>
          <p:cNvSpPr/>
          <p:nvPr/>
        </p:nvSpPr>
        <p:spPr>
          <a:xfrm>
            <a:off x="9103766" y="544068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Guides d'utilisation</a:t>
            </a:r>
            <a:endParaRPr lang="en-US" sz="1000" dirty="0"/>
          </a:p>
        </p:txBody>
      </p:sp>
      <p:sp>
        <p:nvSpPr>
          <p:cNvPr id="49" name="Text 4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divider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09 / 09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41732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FEUILLE DE ROUTE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69494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Planification</a:t>
            </a:r>
            <a:endParaRPr lang="en-US" sz="4600" dirty="0"/>
          </a:p>
        </p:txBody>
      </p:sp>
      <p:sp>
        <p:nvSpPr>
          <p:cNvPr id="6" name="Shape 3"/>
          <p:cNvSpPr/>
          <p:nvPr/>
        </p:nvSpPr>
        <p:spPr>
          <a:xfrm>
            <a:off x="749808" y="2212848"/>
            <a:ext cx="640080" cy="45720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sprints, du cadrage à la présentation finale du projet.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0" y="1463040"/>
            <a:ext cx="3931920" cy="3931920"/>
          </a:xfrm>
          <a:prstGeom prst="ellipse">
            <a:avLst/>
          </a:prstGeom>
          <a:ln w="15875">
            <a:solidFill>
              <a:srgbClr val="4D6AB1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9464040" y="1783080"/>
            <a:ext cx="3291840" cy="3291840"/>
          </a:xfrm>
          <a:prstGeom prst="ellipse">
            <a:avLst/>
          </a:prstGeom>
          <a:solidFill>
            <a:srgbClr val="4D6AB1">
              <a:alpha val="18000"/>
            </a:srgbClr>
          </a:solidFill>
          <a:ln w="19050">
            <a:solidFill>
              <a:srgbClr val="4D6AB1">
                <a:alpha val="8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0" name="Image 1" descr="/home/claude/work/icons/calendar_4D6AB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54082" y="2573122"/>
            <a:ext cx="1711757" cy="171175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PLANIFICATION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11 sprints, du cadrage à la soutenance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7863840" y="402336"/>
            <a:ext cx="379476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6" name="Image 1" descr="/home/claude/work/icons/gitbranch_FF7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8432" y="484632"/>
            <a:ext cx="237744" cy="23774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8366760" y="40233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détaillé : ClickUp · Planning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502920" y="1417320"/>
            <a:ext cx="10607040" cy="384048"/>
          </a:xfrm>
          <a:prstGeom prst="roundRect">
            <a:avLst>
              <a:gd name="adj" fmla="val 11905"/>
            </a:avLst>
          </a:prstGeom>
          <a:solidFill>
            <a:srgbClr val="F1F3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5"/>
          <p:cNvSpPr/>
          <p:nvPr/>
        </p:nvSpPr>
        <p:spPr>
          <a:xfrm>
            <a:off x="640080" y="141732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2057400" y="1417320"/>
            <a:ext cx="6309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OBJECTIF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366760" y="14173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PÉRIODE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02920" y="1801368"/>
            <a:ext cx="10607040" cy="420624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9"/>
          <p:cNvSpPr/>
          <p:nvPr/>
        </p:nvSpPr>
        <p:spPr>
          <a:xfrm>
            <a:off x="640080" y="180136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2057400" y="1801368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Cadrage &amp; recherche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366760" y="180136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1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02920" y="2221992"/>
            <a:ext cx="10607040" cy="420624"/>
          </a:xfrm>
          <a:prstGeom prst="rect">
            <a:avLst/>
          </a:prstGeom>
          <a:solidFill>
            <a:srgbClr val="F1F3F8"/>
          </a:solidFill>
          <a:ln w="508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3"/>
          <p:cNvSpPr/>
          <p:nvPr/>
        </p:nvSpPr>
        <p:spPr>
          <a:xfrm>
            <a:off x="640080" y="222199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057400" y="2221992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&amp; spécifications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8366760" y="222199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2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02920" y="2642616"/>
            <a:ext cx="10607040" cy="420624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7"/>
          <p:cNvSpPr/>
          <p:nvPr/>
        </p:nvSpPr>
        <p:spPr>
          <a:xfrm>
            <a:off x="640080" y="264261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2057400" y="2642616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technique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8366760" y="264261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3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502920" y="3063240"/>
            <a:ext cx="10607040" cy="420624"/>
          </a:xfrm>
          <a:prstGeom prst="rect">
            <a:avLst/>
          </a:prstGeom>
          <a:solidFill>
            <a:srgbClr val="F1F3F8"/>
          </a:solidFill>
          <a:ln w="508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1"/>
          <p:cNvSpPr/>
          <p:nvPr/>
        </p:nvSpPr>
        <p:spPr>
          <a:xfrm>
            <a:off x="640080" y="306324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2057400" y="3063240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UI/UX</a:t>
            </a:r>
            <a:endParaRPr lang="en-US" sz="1150" dirty="0"/>
          </a:p>
        </p:txBody>
      </p:sp>
      <p:sp>
        <p:nvSpPr>
          <p:cNvPr id="27" name="Text 23"/>
          <p:cNvSpPr/>
          <p:nvPr/>
        </p:nvSpPr>
        <p:spPr>
          <a:xfrm>
            <a:off x="8366760" y="306324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4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502920" y="3483864"/>
            <a:ext cx="10607040" cy="420624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5"/>
          <p:cNvSpPr/>
          <p:nvPr/>
        </p:nvSpPr>
        <p:spPr>
          <a:xfrm>
            <a:off x="640080" y="348386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2057400" y="3483864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API v1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8366760" y="348386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5-6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502920" y="3904488"/>
            <a:ext cx="10607040" cy="420624"/>
          </a:xfrm>
          <a:prstGeom prst="rect">
            <a:avLst/>
          </a:prstGeom>
          <a:solidFill>
            <a:srgbClr val="F1F3F8"/>
          </a:solidFill>
          <a:ln w="508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29"/>
          <p:cNvSpPr/>
          <p:nvPr/>
        </p:nvSpPr>
        <p:spPr>
          <a:xfrm>
            <a:off x="640080" y="390448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6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2057400" y="3904488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Développement app mobile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8366760" y="390448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6-7</a:t>
            </a:r>
            <a:endParaRPr lang="en-US" sz="1150" dirty="0"/>
          </a:p>
        </p:txBody>
      </p:sp>
      <p:sp>
        <p:nvSpPr>
          <p:cNvPr id="36" name="Shape 32"/>
          <p:cNvSpPr/>
          <p:nvPr/>
        </p:nvSpPr>
        <p:spPr>
          <a:xfrm>
            <a:off x="502920" y="4325112"/>
            <a:ext cx="10607040" cy="420624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3"/>
          <p:cNvSpPr/>
          <p:nvPr/>
        </p:nvSpPr>
        <p:spPr>
          <a:xfrm>
            <a:off x="640080" y="4325112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7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2057400" y="4325112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Intégration IA / détection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366760" y="4325112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8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4745736"/>
            <a:ext cx="10607040" cy="420624"/>
          </a:xfrm>
          <a:prstGeom prst="rect">
            <a:avLst/>
          </a:prstGeom>
          <a:solidFill>
            <a:srgbClr val="F1F3F8"/>
          </a:solidFill>
          <a:ln w="508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1" name="Text 37"/>
          <p:cNvSpPr/>
          <p:nvPr/>
        </p:nvSpPr>
        <p:spPr>
          <a:xfrm>
            <a:off x="640080" y="4745736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8</a:t>
            </a:r>
            <a:endParaRPr lang="en-US" sz="1150" dirty="0"/>
          </a:p>
        </p:txBody>
      </p:sp>
      <p:sp>
        <p:nvSpPr>
          <p:cNvPr id="42" name="Text 38"/>
          <p:cNvSpPr/>
          <p:nvPr/>
        </p:nvSpPr>
        <p:spPr>
          <a:xfrm>
            <a:off x="2057400" y="4745736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web &amp; documentation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8366760" y="4745736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9</a:t>
            </a: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502920" y="5166360"/>
            <a:ext cx="10607040" cy="420624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5" name="Text 41"/>
          <p:cNvSpPr/>
          <p:nvPr/>
        </p:nvSpPr>
        <p:spPr>
          <a:xfrm>
            <a:off x="640080" y="5166360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9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2057400" y="5166360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&amp; QA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366760" y="5166360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10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5586984"/>
            <a:ext cx="10607040" cy="420624"/>
          </a:xfrm>
          <a:prstGeom prst="rect">
            <a:avLst/>
          </a:prstGeom>
          <a:solidFill>
            <a:srgbClr val="F1F3F8"/>
          </a:solidFill>
          <a:ln w="508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Text 45"/>
          <p:cNvSpPr/>
          <p:nvPr/>
        </p:nvSpPr>
        <p:spPr>
          <a:xfrm>
            <a:off x="640080" y="558698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10</a:t>
            </a:r>
            <a:endParaRPr lang="en-US" sz="1150" dirty="0"/>
          </a:p>
        </p:txBody>
      </p:sp>
      <p:sp>
        <p:nvSpPr>
          <p:cNvPr id="50" name="Text 46"/>
          <p:cNvSpPr/>
          <p:nvPr/>
        </p:nvSpPr>
        <p:spPr>
          <a:xfrm>
            <a:off x="2057400" y="5586984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Correctifs &amp; polish</a:t>
            </a:r>
            <a:endParaRPr lang="en-US" sz="1150" dirty="0"/>
          </a:p>
        </p:txBody>
      </p:sp>
      <p:sp>
        <p:nvSpPr>
          <p:cNvPr id="51" name="Text 47"/>
          <p:cNvSpPr/>
          <p:nvPr/>
        </p:nvSpPr>
        <p:spPr>
          <a:xfrm>
            <a:off x="8366760" y="5586984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11</a:t>
            </a:r>
            <a:endParaRPr lang="en-US" sz="1150" dirty="0"/>
          </a:p>
        </p:txBody>
      </p:sp>
      <p:sp>
        <p:nvSpPr>
          <p:cNvPr id="52" name="Shape 48"/>
          <p:cNvSpPr/>
          <p:nvPr/>
        </p:nvSpPr>
        <p:spPr>
          <a:xfrm>
            <a:off x="502920" y="6007608"/>
            <a:ext cx="10607040" cy="420624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3" name="Text 49"/>
          <p:cNvSpPr/>
          <p:nvPr/>
        </p:nvSpPr>
        <p:spPr>
          <a:xfrm>
            <a:off x="640080" y="6007608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11</a:t>
            </a:r>
            <a:endParaRPr lang="en-US" sz="1150" dirty="0"/>
          </a:p>
        </p:txBody>
      </p:sp>
      <p:sp>
        <p:nvSpPr>
          <p:cNvPr id="54" name="Text 50"/>
          <p:cNvSpPr/>
          <p:nvPr/>
        </p:nvSpPr>
        <p:spPr>
          <a:xfrm>
            <a:off x="2057400" y="6007608"/>
            <a:ext cx="63093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 &amp; présentation</a:t>
            </a:r>
            <a:endParaRPr lang="en-US" sz="1150" dirty="0"/>
          </a:p>
        </p:txBody>
      </p:sp>
      <p:sp>
        <p:nvSpPr>
          <p:cNvPr id="55" name="Text 51"/>
          <p:cNvSpPr/>
          <p:nvPr/>
        </p:nvSpPr>
        <p:spPr>
          <a:xfrm>
            <a:off x="8366760" y="6007608"/>
            <a:ext cx="2743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Semaine 12</a:t>
            </a:r>
            <a:endParaRPr lang="en-US" sz="1150" dirty="0"/>
          </a:p>
        </p:txBody>
      </p:sp>
      <p:sp>
        <p:nvSpPr>
          <p:cNvPr id="56" name="Text 52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title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38648" y="1234440"/>
            <a:ext cx="914400" cy="914400"/>
          </a:xfrm>
          <a:prstGeom prst="ellipse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1"/>
          <p:cNvSpPr/>
          <p:nvPr/>
        </p:nvSpPr>
        <p:spPr>
          <a:xfrm>
            <a:off x="0" y="2423160"/>
            <a:ext cx="121916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Merci</a:t>
            </a:r>
            <a:endParaRPr lang="en-US" sz="5600" dirty="0"/>
          </a:p>
        </p:txBody>
      </p:sp>
      <p:sp>
        <p:nvSpPr>
          <p:cNvPr id="6" name="Text 2"/>
          <p:cNvSpPr/>
          <p:nvPr/>
        </p:nvSpPr>
        <p:spPr>
          <a:xfrm>
            <a:off x="0" y="333756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questions ? Discutons de la suite du projet.</a:t>
            </a:r>
            <a:endParaRPr lang="en-US" sz="1700" dirty="0"/>
          </a:p>
        </p:txBody>
      </p:sp>
      <p:sp>
        <p:nvSpPr>
          <p:cNvPr id="7" name="Shape 3"/>
          <p:cNvSpPr/>
          <p:nvPr/>
        </p:nvSpPr>
        <p:spPr>
          <a:xfrm>
            <a:off x="1450696" y="411480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F7900">
                <a:alpha val="75000"/>
              </a:srgbClr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8" name="Image 2" descr="/home/claude/work/icons/users_FF79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15288" y="4242816"/>
            <a:ext cx="310896" cy="310896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2017624" y="411480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SAFESEND</a:t>
            </a:r>
            <a:endParaRPr lang="en-US" sz="1250" dirty="0"/>
          </a:p>
        </p:txBody>
      </p:sp>
      <p:sp>
        <p:nvSpPr>
          <p:cNvPr id="10" name="Shape 5"/>
          <p:cNvSpPr/>
          <p:nvPr/>
        </p:nvSpPr>
        <p:spPr>
          <a:xfrm>
            <a:off x="4632808" y="411480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D6AB1">
                <a:alpha val="75000"/>
              </a:srgbClr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1" name="Image 3" descr="/home/claude/work/icons/briefcase_4D6AB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97400" y="4242816"/>
            <a:ext cx="310896" cy="310896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199736" y="411480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Digital Center</a:t>
            </a:r>
            <a:endParaRPr lang="en-US" sz="1250" dirty="0"/>
          </a:p>
        </p:txBody>
      </p:sp>
      <p:sp>
        <p:nvSpPr>
          <p:cNvPr id="13" name="Shape 7"/>
          <p:cNvSpPr/>
          <p:nvPr/>
        </p:nvSpPr>
        <p:spPr>
          <a:xfrm>
            <a:off x="7814920" y="411480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6A020">
                <a:alpha val="75000"/>
              </a:srgbClr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4" name="Image 4" descr="/home/claude/work/icons/award_F6A02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9512" y="4242816"/>
            <a:ext cx="310896" cy="310896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8381848" y="411480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Summer Challenge</a:t>
            </a:r>
            <a:endParaRPr lang="en-US" sz="1250" dirty="0"/>
          </a:p>
        </p:txBody>
      </p:sp>
      <p:sp>
        <p:nvSpPr>
          <p:cNvPr id="16" name="Text 9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DF1CB35E-D573-E269-76D4-7930C24380F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34048" y="1329840"/>
            <a:ext cx="723600" cy="7236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9">
    <p:bg>
      <p:bgPr>
        <a:solidFill>
          <a:srgbClr val="F7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POSITIONNEMENT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Modèle économique envisagé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502920" y="1325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partenaire technique plutôt qu'un concurrent : KWISMO apporte une couche d'intelligence, Orange conserve la relation client.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929488" y="2057400"/>
            <a:ext cx="28346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7" name="Shape 4"/>
          <p:cNvSpPr/>
          <p:nvPr/>
        </p:nvSpPr>
        <p:spPr>
          <a:xfrm>
            <a:off x="2072488" y="2240280"/>
            <a:ext cx="548640" cy="54864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8" name="Image 1" descr="/home/claude/work/icons/user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9297" y="2317090"/>
            <a:ext cx="395021" cy="39502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66648" y="2880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1066648" y="313639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Abonné à « KWISMO Security+ »</a:t>
            </a:r>
            <a:endParaRPr lang="en-US" sz="1050" dirty="0"/>
          </a:p>
        </p:txBody>
      </p:sp>
      <p:pic>
        <p:nvPicPr>
          <p:cNvPr id="11" name="Image 2" descr="/home/claude/work/icons/arrowright_6B74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38448" y="2560320"/>
            <a:ext cx="365760" cy="36576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678528" y="2057400"/>
            <a:ext cx="28346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Shape 8"/>
          <p:cNvSpPr/>
          <p:nvPr/>
        </p:nvSpPr>
        <p:spPr>
          <a:xfrm>
            <a:off x="5821528" y="2240280"/>
            <a:ext cx="548640" cy="548640"/>
          </a:xfrm>
          <a:prstGeom prst="ellipse">
            <a:avLst/>
          </a:prstGeom>
          <a:solidFill>
            <a:srgbClr val="4D6AB1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4" name="Image 3" descr="/home/claude/work/icons/briefcase_FFFFF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8337" y="2317090"/>
            <a:ext cx="395021" cy="395021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4815688" y="2880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Orange Digital Center</a:t>
            </a:r>
            <a:endParaRPr lang="en-US" sz="1350" dirty="0"/>
          </a:p>
        </p:txBody>
      </p:sp>
      <p:sp>
        <p:nvSpPr>
          <p:cNvPr id="16" name="Text 10"/>
          <p:cNvSpPr/>
          <p:nvPr/>
        </p:nvSpPr>
        <p:spPr>
          <a:xfrm>
            <a:off x="4815688" y="313639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Facturation &amp; stratégie commerciale</a:t>
            </a:r>
            <a:endParaRPr lang="en-US" sz="1050" dirty="0"/>
          </a:p>
        </p:txBody>
      </p:sp>
      <p:pic>
        <p:nvPicPr>
          <p:cNvPr id="17" name="Image 4" descr="/home/claude/work/icons/arrowright_6B74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87488" y="2560320"/>
            <a:ext cx="365760" cy="36576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8427568" y="2057400"/>
            <a:ext cx="28346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9" name="Shape 12"/>
          <p:cNvSpPr/>
          <p:nvPr/>
        </p:nvSpPr>
        <p:spPr>
          <a:xfrm>
            <a:off x="9570568" y="2240280"/>
            <a:ext cx="548640" cy="548640"/>
          </a:xfrm>
          <a:prstGeom prst="ellipse">
            <a:avLst/>
          </a:prstGeom>
          <a:solidFill>
            <a:srgbClr val="F6A02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20" name="Image 5" descr="/home/claude/work/icons/shield_FFFFF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47377" y="2317090"/>
            <a:ext cx="395021" cy="395021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8564728" y="28803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KWISMO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8564728" y="313639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Pourcentage négocié des revenus</a:t>
            </a:r>
            <a:endParaRPr lang="en-US" sz="1050" dirty="0"/>
          </a:p>
        </p:txBody>
      </p:sp>
      <p:sp>
        <p:nvSpPr>
          <p:cNvPr id="23" name="Shape 15"/>
          <p:cNvSpPr/>
          <p:nvPr/>
        </p:nvSpPr>
        <p:spPr>
          <a:xfrm>
            <a:off x="502920" y="3977640"/>
            <a:ext cx="1060704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Text 16"/>
          <p:cNvSpPr/>
          <p:nvPr/>
        </p:nvSpPr>
        <p:spPr>
          <a:xfrm>
            <a:off x="822960" y="42976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79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≈ 200 FCFA</a:t>
            </a:r>
            <a:endParaRPr lang="en-US" sz="4000" dirty="0"/>
          </a:p>
        </p:txBody>
      </p:sp>
      <p:sp>
        <p:nvSpPr>
          <p:cNvPr id="25" name="Text 17"/>
          <p:cNvSpPr/>
          <p:nvPr/>
        </p:nvSpPr>
        <p:spPr>
          <a:xfrm>
            <a:off x="822960" y="5212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mois — hypothèse de travail</a:t>
            </a:r>
            <a:endParaRPr lang="en-US" sz="1250" dirty="0"/>
          </a:p>
        </p:txBody>
      </p:sp>
      <p:sp>
        <p:nvSpPr>
          <p:cNvPr id="26" name="Shape 18"/>
          <p:cNvSpPr/>
          <p:nvPr/>
        </p:nvSpPr>
        <p:spPr>
          <a:xfrm>
            <a:off x="5669280" y="4251960"/>
            <a:ext cx="0" cy="1600200"/>
          </a:xfrm>
          <a:prstGeom prst="line">
            <a:avLst/>
          </a:prstGeom>
          <a:noFill/>
          <a:ln w="12700">
            <a:solidFill>
              <a:srgbClr val="E3E7E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19"/>
          <p:cNvSpPr/>
          <p:nvPr/>
        </p:nvSpPr>
        <p:spPr>
          <a:xfrm>
            <a:off x="5989320" y="434340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prix final et la stratégie de facturation restent définis par l'opérateur partenaire, en fonction du marché et de l'offre commerciale retenue.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7F8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9433EA-C8C9-4212-64CE-8B8574860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bg/bg_content_light.png">
            <a:extLst>
              <a:ext uri="{FF2B5EF4-FFF2-40B4-BE49-F238E27FC236}">
                <a16:creationId xmlns:a16="http://schemas.microsoft.com/office/drawing/2014/main" id="{65466CE1-B1AF-D19D-15B0-308507854B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383EE9FF-9F88-BBE0-05DD-4AFC463740DE}"/>
              </a:ext>
            </a:extLst>
          </p:cNvPr>
          <p:cNvSpPr/>
          <p:nvPr/>
        </p:nvSpPr>
        <p:spPr>
          <a:xfrm>
            <a:off x="502920" y="384048"/>
            <a:ext cx="9144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</a:t>
            </a:r>
            <a:endParaRPr lang="en-US" sz="1300" dirty="0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D912CC4A-C028-B667-823C-76E9D6A88B8E}"/>
              </a:ext>
            </a:extLst>
          </p:cNvPr>
          <p:cNvSpPr/>
          <p:nvPr/>
        </p:nvSpPr>
        <p:spPr>
          <a:xfrm>
            <a:off x="502920" y="658368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23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Trois situations réelles de fraude</a:t>
            </a:r>
            <a:endParaRPr lang="en-US" sz="2800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F935C2F7-B35F-AEB4-4816-65EAE28D8AAA}"/>
              </a:ext>
            </a:extLst>
          </p:cNvPr>
          <p:cNvSpPr/>
          <p:nvPr/>
        </p:nvSpPr>
        <p:spPr>
          <a:xfrm>
            <a:off x="502920" y="1508760"/>
            <a:ext cx="3520440" cy="4709160"/>
          </a:xfrm>
          <a:prstGeom prst="roundRect">
            <a:avLst>
              <a:gd name="adj" fmla="val 2338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E0D7EEAF-66D9-77F0-EC3C-BD6F66B03F14}"/>
              </a:ext>
            </a:extLst>
          </p:cNvPr>
          <p:cNvSpPr/>
          <p:nvPr/>
        </p:nvSpPr>
        <p:spPr>
          <a:xfrm>
            <a:off x="502920" y="1508760"/>
            <a:ext cx="3520440" cy="54864"/>
          </a:xfrm>
          <a:prstGeom prst="rect">
            <a:avLst/>
          </a:prstGeom>
          <a:solidFill>
            <a:srgbClr val="FF790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1283AED2-2F47-91CB-53CC-AC55985B73C1}"/>
              </a:ext>
            </a:extLst>
          </p:cNvPr>
          <p:cNvSpPr/>
          <p:nvPr/>
        </p:nvSpPr>
        <p:spPr>
          <a:xfrm>
            <a:off x="777240" y="1783080"/>
            <a:ext cx="640080" cy="640080"/>
          </a:xfrm>
          <a:prstGeom prst="ellipse">
            <a:avLst/>
          </a:prstGeom>
          <a:solidFill>
            <a:srgbClr val="FF790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8" name="Image 1" descr="/home/claude/work/icons/phone_FFFFFF.png">
            <a:extLst>
              <a:ext uri="{FF2B5EF4-FFF2-40B4-BE49-F238E27FC236}">
                <a16:creationId xmlns:a16="http://schemas.microsoft.com/office/drawing/2014/main" id="{7999EF4B-EC35-18A0-C119-64CC18DA47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851" y="1872691"/>
            <a:ext cx="460858" cy="460858"/>
          </a:xfrm>
          <a:prstGeom prst="rect">
            <a:avLst/>
          </a:prstGeom>
        </p:spPr>
      </p:pic>
      <p:sp>
        <p:nvSpPr>
          <p:cNvPr id="9" name="Text 5">
            <a:extLst>
              <a:ext uri="{FF2B5EF4-FFF2-40B4-BE49-F238E27FC236}">
                <a16:creationId xmlns:a16="http://schemas.microsoft.com/office/drawing/2014/main" id="{9481E84E-63D8-C74A-41F4-BDF11D8E68E4}"/>
              </a:ext>
            </a:extLst>
          </p:cNvPr>
          <p:cNvSpPr/>
          <p:nvPr/>
        </p:nvSpPr>
        <p:spPr>
          <a:xfrm>
            <a:off x="1554480" y="180136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Ndongo Marie</a:t>
            </a:r>
            <a:endParaRPr lang="en-US" sz="145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7DFCA431-9008-7327-1207-34A618DB8690}"/>
              </a:ext>
            </a:extLst>
          </p:cNvPr>
          <p:cNvSpPr/>
          <p:nvPr/>
        </p:nvSpPr>
        <p:spPr>
          <a:xfrm>
            <a:off x="1554480" y="2103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ans · Commerçante</a:t>
            </a:r>
            <a:endParaRPr lang="en-US" sz="11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DF98DEF7-0BAF-C956-79A6-134A947602C9}"/>
              </a:ext>
            </a:extLst>
          </p:cNvPr>
          <p:cNvSpPr/>
          <p:nvPr/>
        </p:nvSpPr>
        <p:spPr>
          <a:xfrm>
            <a:off x="777240" y="26517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VÉCUE</a:t>
            </a:r>
            <a:endParaRPr lang="en-US" sz="105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1CE03F86-0992-3594-CE71-6C3EDD2A58C4}"/>
              </a:ext>
            </a:extLst>
          </p:cNvPr>
          <p:cNvSpPr/>
          <p:nvPr/>
        </p:nvSpPr>
        <p:spPr>
          <a:xfrm>
            <a:off x="777240" y="2953512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faux « service client » l'appelle et la convainc de composer un code USSD pour « sécuriser » son compte — vidé quelques minutes plus tard.</a:t>
            </a:r>
            <a:endParaRPr lang="en-US" sz="1200" dirty="0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DFFBCE0C-6880-FA7B-6D03-A07DE253138F}"/>
              </a:ext>
            </a:extLst>
          </p:cNvPr>
          <p:cNvSpPr/>
          <p:nvPr/>
        </p:nvSpPr>
        <p:spPr>
          <a:xfrm>
            <a:off x="777240" y="4846320"/>
            <a:ext cx="2971800" cy="1051560"/>
          </a:xfrm>
          <a:prstGeom prst="roundRect">
            <a:avLst>
              <a:gd name="adj" fmla="val 6957"/>
            </a:avLst>
          </a:prstGeom>
          <a:solidFill>
            <a:srgbClr val="F1F3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229D0084-0CB0-D919-B059-F5C057F84BE7}"/>
              </a:ext>
            </a:extLst>
          </p:cNvPr>
          <p:cNvSpPr/>
          <p:nvPr/>
        </p:nvSpPr>
        <p:spPr>
          <a:xfrm>
            <a:off x="914400" y="493776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F7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</a:t>
            </a:r>
            <a:endParaRPr lang="en-US" sz="1000" dirty="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C1DD1AB3-CB37-D576-2698-85FFAD614358}"/>
              </a:ext>
            </a:extLst>
          </p:cNvPr>
          <p:cNvSpPr/>
          <p:nvPr/>
        </p:nvSpPr>
        <p:spPr>
          <a:xfrm>
            <a:off x="914400" y="516636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Être alertée en temps réel pendant l'appel suspect.</a:t>
            </a:r>
            <a:endParaRPr lang="en-US" sz="1200" dirty="0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14631C5D-D941-4756-EF3D-32FB3981D3F4}"/>
              </a:ext>
            </a:extLst>
          </p:cNvPr>
          <p:cNvSpPr/>
          <p:nvPr/>
        </p:nvSpPr>
        <p:spPr>
          <a:xfrm>
            <a:off x="4224528" y="1508760"/>
            <a:ext cx="3520440" cy="4709160"/>
          </a:xfrm>
          <a:prstGeom prst="roundRect">
            <a:avLst>
              <a:gd name="adj" fmla="val 2338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3">
            <a:extLst>
              <a:ext uri="{FF2B5EF4-FFF2-40B4-BE49-F238E27FC236}">
                <a16:creationId xmlns:a16="http://schemas.microsoft.com/office/drawing/2014/main" id="{6AA0063F-DCDB-3774-75C3-3C4532527C31}"/>
              </a:ext>
            </a:extLst>
          </p:cNvPr>
          <p:cNvSpPr/>
          <p:nvPr/>
        </p:nvSpPr>
        <p:spPr>
          <a:xfrm>
            <a:off x="4224528" y="1508760"/>
            <a:ext cx="3520440" cy="54864"/>
          </a:xfrm>
          <a:prstGeom prst="rect">
            <a:avLst/>
          </a:prstGeom>
          <a:solidFill>
            <a:srgbClr val="4D6AB1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437B147C-CE30-EBFA-B7FD-2118F0CC9452}"/>
              </a:ext>
            </a:extLst>
          </p:cNvPr>
          <p:cNvSpPr/>
          <p:nvPr/>
        </p:nvSpPr>
        <p:spPr>
          <a:xfrm>
            <a:off x="4498848" y="1783080"/>
            <a:ext cx="640080" cy="640080"/>
          </a:xfrm>
          <a:prstGeom prst="ellipse">
            <a:avLst/>
          </a:prstGeom>
          <a:solidFill>
            <a:srgbClr val="4D6AB1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19" name="Image 2" descr="/home/claude/work/icons/card_FFFFFF.png">
            <a:extLst>
              <a:ext uri="{FF2B5EF4-FFF2-40B4-BE49-F238E27FC236}">
                <a16:creationId xmlns:a16="http://schemas.microsoft.com/office/drawing/2014/main" id="{2D7E9406-4FCA-6534-FCF9-1738E55D1C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8459" y="1872691"/>
            <a:ext cx="460858" cy="460858"/>
          </a:xfrm>
          <a:prstGeom prst="rect">
            <a:avLst/>
          </a:prstGeom>
        </p:spPr>
      </p:pic>
      <p:sp>
        <p:nvSpPr>
          <p:cNvPr id="20" name="Text 15">
            <a:extLst>
              <a:ext uri="{FF2B5EF4-FFF2-40B4-BE49-F238E27FC236}">
                <a16:creationId xmlns:a16="http://schemas.microsoft.com/office/drawing/2014/main" id="{B522C051-DAD3-3A8F-8185-738E7C63BE98}"/>
              </a:ext>
            </a:extLst>
          </p:cNvPr>
          <p:cNvSpPr/>
          <p:nvPr/>
        </p:nvSpPr>
        <p:spPr>
          <a:xfrm>
            <a:off x="5276088" y="180136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Fotso Junior</a:t>
            </a:r>
            <a:endParaRPr lang="en-US" sz="1450" dirty="0"/>
          </a:p>
        </p:txBody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F1600F13-C091-6FD5-DC87-A0D0FC0FF5A2}"/>
              </a:ext>
            </a:extLst>
          </p:cNvPr>
          <p:cNvSpPr/>
          <p:nvPr/>
        </p:nvSpPr>
        <p:spPr>
          <a:xfrm>
            <a:off x="5276088" y="2103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ans · Chauffeur moto-taxi</a:t>
            </a:r>
            <a:endParaRPr lang="en-US" sz="1100" dirty="0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F3FE3064-3C78-7AD7-BC55-CE09EB3C1FB9}"/>
              </a:ext>
            </a:extLst>
          </p:cNvPr>
          <p:cNvSpPr/>
          <p:nvPr/>
        </p:nvSpPr>
        <p:spPr>
          <a:xfrm>
            <a:off x="4498848" y="26517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VÉCUE</a:t>
            </a:r>
            <a:endParaRPr lang="en-US" sz="1050" dirty="0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0DBA6418-2583-13B5-1650-35C44D42E4AB}"/>
              </a:ext>
            </a:extLst>
          </p:cNvPr>
          <p:cNvSpPr/>
          <p:nvPr/>
        </p:nvSpPr>
        <p:spPr>
          <a:xfrm>
            <a:off x="4498848" y="2953512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« agent partenaire » lui propose une offre limitée dans le temps. Pressé, il valide un transfert vers un numéro inconnu.</a:t>
            </a:r>
            <a:endParaRPr lang="en-US" sz="1200" dirty="0"/>
          </a:p>
        </p:txBody>
      </p:sp>
      <p:sp>
        <p:nvSpPr>
          <p:cNvPr id="24" name="Shape 19">
            <a:extLst>
              <a:ext uri="{FF2B5EF4-FFF2-40B4-BE49-F238E27FC236}">
                <a16:creationId xmlns:a16="http://schemas.microsoft.com/office/drawing/2014/main" id="{2FC3A8CD-DE01-DEA6-70D4-19A752D3E8E8}"/>
              </a:ext>
            </a:extLst>
          </p:cNvPr>
          <p:cNvSpPr/>
          <p:nvPr/>
        </p:nvSpPr>
        <p:spPr>
          <a:xfrm>
            <a:off x="4498848" y="4846320"/>
            <a:ext cx="2971800" cy="1051560"/>
          </a:xfrm>
          <a:prstGeom prst="roundRect">
            <a:avLst>
              <a:gd name="adj" fmla="val 6957"/>
            </a:avLst>
          </a:prstGeom>
          <a:solidFill>
            <a:srgbClr val="F1F3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944C4549-85F4-5BAD-768D-AC10D5430743}"/>
              </a:ext>
            </a:extLst>
          </p:cNvPr>
          <p:cNvSpPr/>
          <p:nvPr/>
        </p:nvSpPr>
        <p:spPr>
          <a:xfrm>
            <a:off x="4636008" y="493776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4D6A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</a:t>
            </a:r>
            <a:endParaRPr lang="en-US" sz="1000" dirty="0"/>
          </a:p>
        </p:txBody>
      </p:sp>
      <p:sp>
        <p:nvSpPr>
          <p:cNvPr id="26" name="Text 21">
            <a:extLst>
              <a:ext uri="{FF2B5EF4-FFF2-40B4-BE49-F238E27FC236}">
                <a16:creationId xmlns:a16="http://schemas.microsoft.com/office/drawing/2014/main" id="{6160A943-62A7-DEF4-CF71-25F4FF963DC9}"/>
              </a:ext>
            </a:extLst>
          </p:cNvPr>
          <p:cNvSpPr/>
          <p:nvPr/>
        </p:nvSpPr>
        <p:spPr>
          <a:xfrm>
            <a:off x="4636008" y="516636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un numéro avant d'agir, et le signaler.</a:t>
            </a:r>
            <a:endParaRPr lang="en-US" sz="1200" dirty="0"/>
          </a:p>
        </p:txBody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2D81FB58-97C0-ACD6-6864-46AEFD5C6FCD}"/>
              </a:ext>
            </a:extLst>
          </p:cNvPr>
          <p:cNvSpPr/>
          <p:nvPr/>
        </p:nvSpPr>
        <p:spPr>
          <a:xfrm>
            <a:off x="7946136" y="1508760"/>
            <a:ext cx="3520440" cy="4709160"/>
          </a:xfrm>
          <a:prstGeom prst="roundRect">
            <a:avLst>
              <a:gd name="adj" fmla="val 2338"/>
            </a:avLst>
          </a:prstGeom>
          <a:solidFill>
            <a:srgbClr val="FFFFFF"/>
          </a:solidFill>
          <a:ln w="9525">
            <a:solidFill>
              <a:srgbClr val="E3E7EF"/>
            </a:solidFill>
            <a:prstDash val="solid"/>
          </a:ln>
          <a:effectLst>
            <a:outerShdw algn="bl" rotWithShape="0">
              <a:srgbClr val="1B2333">
                <a:alpha val="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Shape 23">
            <a:extLst>
              <a:ext uri="{FF2B5EF4-FFF2-40B4-BE49-F238E27FC236}">
                <a16:creationId xmlns:a16="http://schemas.microsoft.com/office/drawing/2014/main" id="{023C11A1-9FDF-6007-6727-7203A3CF9F40}"/>
              </a:ext>
            </a:extLst>
          </p:cNvPr>
          <p:cNvSpPr/>
          <p:nvPr/>
        </p:nvSpPr>
        <p:spPr>
          <a:xfrm>
            <a:off x="7946136" y="1508760"/>
            <a:ext cx="3520440" cy="54864"/>
          </a:xfrm>
          <a:prstGeom prst="rect">
            <a:avLst/>
          </a:prstGeom>
          <a:solidFill>
            <a:srgbClr val="F6A020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843674E2-CA9C-37AA-192D-0F4A82F28D70}"/>
              </a:ext>
            </a:extLst>
          </p:cNvPr>
          <p:cNvSpPr/>
          <p:nvPr/>
        </p:nvSpPr>
        <p:spPr>
          <a:xfrm>
            <a:off x="8220456" y="1783080"/>
            <a:ext cx="640080" cy="640080"/>
          </a:xfrm>
          <a:prstGeom prst="ellipse">
            <a:avLst/>
          </a:prstGeom>
          <a:solidFill>
            <a:srgbClr val="F6A020">
              <a:alpha val="90000"/>
            </a:srgbClr>
          </a:solidFill>
          <a:ln/>
        </p:spPr>
        <p:txBody>
          <a:bodyPr/>
          <a:lstStyle/>
          <a:p>
            <a:endParaRPr lang="fr-FR"/>
          </a:p>
        </p:txBody>
      </p:sp>
      <p:pic>
        <p:nvPicPr>
          <p:cNvPr id="30" name="Image 3" descr="/home/claude/work/icons/message_FFFFFF.png">
            <a:extLst>
              <a:ext uri="{FF2B5EF4-FFF2-40B4-BE49-F238E27FC236}">
                <a16:creationId xmlns:a16="http://schemas.microsoft.com/office/drawing/2014/main" id="{D32EC1E9-B0CB-A9B5-FCCF-D81237FB4C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0067" y="1872691"/>
            <a:ext cx="460858" cy="460858"/>
          </a:xfrm>
          <a:prstGeom prst="rect">
            <a:avLst/>
          </a:prstGeom>
        </p:spPr>
      </p:pic>
      <p:sp>
        <p:nvSpPr>
          <p:cNvPr id="31" name="Text 25">
            <a:extLst>
              <a:ext uri="{FF2B5EF4-FFF2-40B4-BE49-F238E27FC236}">
                <a16:creationId xmlns:a16="http://schemas.microsoft.com/office/drawing/2014/main" id="{CF7A05BB-1D8A-3710-A8E3-55F203916664}"/>
              </a:ext>
            </a:extLst>
          </p:cNvPr>
          <p:cNvSpPr/>
          <p:nvPr/>
        </p:nvSpPr>
        <p:spPr>
          <a:xfrm>
            <a:off x="8997696" y="1801368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Ateba Sandrine</a:t>
            </a:r>
            <a:endParaRPr lang="en-US" sz="1450" dirty="0"/>
          </a:p>
        </p:txBody>
      </p:sp>
      <p:sp>
        <p:nvSpPr>
          <p:cNvPr id="32" name="Text 26">
            <a:extLst>
              <a:ext uri="{FF2B5EF4-FFF2-40B4-BE49-F238E27FC236}">
                <a16:creationId xmlns:a16="http://schemas.microsoft.com/office/drawing/2014/main" id="{E61F025F-8DDA-1430-B426-0895BF9D5E62}"/>
              </a:ext>
            </a:extLst>
          </p:cNvPr>
          <p:cNvSpPr/>
          <p:nvPr/>
        </p:nvSpPr>
        <p:spPr>
          <a:xfrm>
            <a:off x="8997696" y="21031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ans · Enseignante</a:t>
            </a:r>
            <a:endParaRPr lang="en-US" sz="1100" dirty="0"/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A96CB8F9-2169-8E3B-29EC-0927F04D0FFE}"/>
              </a:ext>
            </a:extLst>
          </p:cNvPr>
          <p:cNvSpPr/>
          <p:nvPr/>
        </p:nvSpPr>
        <p:spPr>
          <a:xfrm>
            <a:off x="8220456" y="2651760"/>
            <a:ext cx="2971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20" dirty="0">
                <a:solidFill>
                  <a:srgbClr val="F6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VÉCUE</a:t>
            </a:r>
            <a:endParaRPr lang="en-US" sz="1050" dirty="0"/>
          </a:p>
        </p:txBody>
      </p:sp>
      <p:sp>
        <p:nvSpPr>
          <p:cNvPr id="34" name="Text 28">
            <a:extLst>
              <a:ext uri="{FF2B5EF4-FFF2-40B4-BE49-F238E27FC236}">
                <a16:creationId xmlns:a16="http://schemas.microsoft.com/office/drawing/2014/main" id="{8F91407E-E684-F94E-B126-20D8442A9ACD}"/>
              </a:ext>
            </a:extLst>
          </p:cNvPr>
          <p:cNvSpPr/>
          <p:nvPr/>
        </p:nvSpPr>
        <p:spPr>
          <a:xfrm>
            <a:off x="8220456" y="2953512"/>
            <a:ext cx="2971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compte WhatsApp d'un proche est piraté. Le fraudeur, se faisant passer pour lui, lui demande un dépannage urgent.</a:t>
            </a:r>
            <a:endParaRPr lang="en-US" sz="1200" dirty="0"/>
          </a:p>
        </p:txBody>
      </p:sp>
      <p:sp>
        <p:nvSpPr>
          <p:cNvPr id="35" name="Shape 29">
            <a:extLst>
              <a:ext uri="{FF2B5EF4-FFF2-40B4-BE49-F238E27FC236}">
                <a16:creationId xmlns:a16="http://schemas.microsoft.com/office/drawing/2014/main" id="{BC9491C3-68AF-2FE6-F933-F409F80C8F0C}"/>
              </a:ext>
            </a:extLst>
          </p:cNvPr>
          <p:cNvSpPr/>
          <p:nvPr/>
        </p:nvSpPr>
        <p:spPr>
          <a:xfrm>
            <a:off x="8220456" y="4846320"/>
            <a:ext cx="2971800" cy="1051560"/>
          </a:xfrm>
          <a:prstGeom prst="roundRect">
            <a:avLst>
              <a:gd name="adj" fmla="val 6957"/>
            </a:avLst>
          </a:prstGeom>
          <a:solidFill>
            <a:srgbClr val="F1F3F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789DA448-DA68-4658-1F05-4E311EAF305A}"/>
              </a:ext>
            </a:extLst>
          </p:cNvPr>
          <p:cNvSpPr/>
          <p:nvPr/>
        </p:nvSpPr>
        <p:spPr>
          <a:xfrm>
            <a:off x="8357616" y="4937760"/>
            <a:ext cx="2697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20" dirty="0">
                <a:solidFill>
                  <a:srgbClr val="F6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BESOIN</a:t>
            </a:r>
            <a:endParaRPr lang="en-US" sz="1000" dirty="0"/>
          </a:p>
        </p:txBody>
      </p:sp>
      <p:sp>
        <p:nvSpPr>
          <p:cNvPr id="37" name="Text 31">
            <a:extLst>
              <a:ext uri="{FF2B5EF4-FFF2-40B4-BE49-F238E27FC236}">
                <a16:creationId xmlns:a16="http://schemas.microsoft.com/office/drawing/2014/main" id="{FE4B7664-4EF2-0656-FF98-83FE39863408}"/>
              </a:ext>
            </a:extLst>
          </p:cNvPr>
          <p:cNvSpPr/>
          <p:nvPr/>
        </p:nvSpPr>
        <p:spPr>
          <a:xfrm>
            <a:off x="8357616" y="5166360"/>
            <a:ext cx="2697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1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Être protégée aussi sur WhatsApp, et alerter ses contacts.</a:t>
            </a:r>
            <a:endParaRPr lang="en-US" sz="1200" dirty="0"/>
          </a:p>
        </p:txBody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0E5DFF29-7DE4-1C59-AEC0-E2F4861FBCF0}"/>
              </a:ext>
            </a:extLst>
          </p:cNvPr>
          <p:cNvSpPr/>
          <p:nvPr/>
        </p:nvSpPr>
        <p:spPr>
          <a:xfrm>
            <a:off x="11368735" y="64008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9AA2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402564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1392</Words>
  <Application>Microsoft Office PowerPoint</Application>
  <PresentationFormat>Grand écran</PresentationFormat>
  <Paragraphs>325</Paragraphs>
  <Slides>27</Slides>
  <Notes>27</Notes>
  <HiddenSlides>2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27</vt:i4>
      </vt:variant>
    </vt:vector>
  </HeadingPairs>
  <TitlesOfParts>
    <vt:vector size="31" baseType="lpstr">
      <vt:lpstr>Arial</vt:lpstr>
      <vt:lpstr>Calibri</vt:lpstr>
      <vt:lpstr>Montserrat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Brayan Weko</cp:lastModifiedBy>
  <cp:revision>3</cp:revision>
  <dcterms:created xsi:type="dcterms:W3CDTF">2026-08-19T21:39:07Z</dcterms:created>
  <dcterms:modified xsi:type="dcterms:W3CDTF">2026-08-25T00:30:36Z</dcterms:modified>
</cp:coreProperties>
</file>