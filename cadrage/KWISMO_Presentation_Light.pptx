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1" r:id="rId15"/>
    <p:sldId id="282" r:id="rId16"/>
    <p:sldId id="269" r:id="rId17"/>
    <p:sldId id="270" r:id="rId18"/>
    <p:sldId id="271" r:id="rId19"/>
    <p:sldId id="272" r:id="rId20"/>
    <p:sldId id="273" r:id="rId21"/>
    <p:sldId id="275" r:id="rId22"/>
    <p:sldId id="276" r:id="rId23"/>
    <p:sldId id="277" r:id="rId24"/>
    <p:sldId id="278" r:id="rId25"/>
    <p:sldId id="279" r:id="rId26"/>
    <p:sldId id="274" r:id="rId27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028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B2FA5-9D1A-942B-32AC-F4F76ED1C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919AF-5692-EAF7-66CC-A63C7415B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E990B-C096-2173-AC0F-BE5EC23C6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A8200-3C09-00B9-BF0A-EC9987663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94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36B4-7F87-94FF-748E-377F864C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D107B-931E-2AED-2DFF-C0707A73E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BC45B-5357-9CD5-444F-B06D6FDC4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CEA7C-E4F7-D17F-5517-5691F9466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34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D39A9-CB70-0515-C431-0A3B9FD9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8D783-784A-27D0-89A7-444E93B5B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772F0-0262-4CC7-3D61-45F8B0B5F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EAFC2-9D55-AD32-F940-6E0421C3CA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0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4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tit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2928" y="594360"/>
            <a:ext cx="1005840" cy="1005840"/>
          </a:xfrm>
          <a:prstGeom prst="ellipse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1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CADRAGE DE PROJET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0" y="2377440"/>
            <a:ext cx="12191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</a:t>
            </a:r>
            <a:endParaRPr lang="en-US" sz="6600" dirty="0"/>
          </a:p>
        </p:txBody>
      </p:sp>
      <p:sp>
        <p:nvSpPr>
          <p:cNvPr id="7" name="Text 3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anti-fraude Mobile Money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970636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7900">
                <a:alpha val="75000"/>
              </a:srgbClr>
            </a:solidFill>
            <a:prstDash val="solid"/>
          </a:ln>
          <a:effectLst>
            <a:outerShdw blurRad="88900" dist="25400" dir="5400000" algn="bl" rotWithShape="0">
              <a:srgbClr val="1B2333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9" name="Image 2" descr="/home/claude/work/icons/users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228" y="4471416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564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SAFESEND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472788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D6AB1">
                <a:alpha val="75000"/>
              </a:srgbClr>
            </a:solidFill>
            <a:prstDash val="solid"/>
          </a:ln>
          <a:effectLst>
            <a:outerShdw blurRad="1129030000" dist="322580000"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3" descr="/home/claude/work/icons/briefcase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380" y="4471416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39716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Orange Digital Center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7974940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6A020">
                <a:alpha val="75000"/>
              </a:srgbClr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4" descr="/home/claude/work/icons/award_F6A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532" y="4471416"/>
            <a:ext cx="310896" cy="310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41868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Summer Challenge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0" y="6291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Août 2026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16381127-643C-28C3-C807-D66B569F49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4048" y="735480"/>
            <a:ext cx="723600" cy="72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allons voir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67512" y="1764792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60020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074920" y="1600200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2496312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67512" y="2660904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/home/claude/work/icons/briefc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2491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49631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du projet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074920" y="2496312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02920" y="3392424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667512" y="3557016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/home/claude/work/icons/bar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2102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39242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074920" y="3392424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4288536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67512" y="4453128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/home/claude/work/icons/aler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17136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4288536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utilisateur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5074920" y="4288536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P.11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02920" y="5184648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667512" y="5349240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/home/claude/work/icons/us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413248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80160" y="518464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5074920" y="5184648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309360" y="1600200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3"/>
          <p:cNvSpPr/>
          <p:nvPr/>
        </p:nvSpPr>
        <p:spPr>
          <a:xfrm>
            <a:off x="6473952" y="1764792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6" descr="/home/claude/work/icons/shield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1828800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86600" y="160020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KWISMO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10881360" y="1600200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P.15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6309360" y="2496312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27"/>
          <p:cNvSpPr/>
          <p:nvPr/>
        </p:nvSpPr>
        <p:spPr>
          <a:xfrm>
            <a:off x="6473952" y="2660904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7" descr="/home/claude/work/icons/zap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2724912"/>
            <a:ext cx="329184" cy="3291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086600" y="249631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KWISMO apporte</a:t>
            </a:r>
            <a:endParaRPr lang="en-US" sz="1450" dirty="0"/>
          </a:p>
        </p:txBody>
      </p:sp>
      <p:sp>
        <p:nvSpPr>
          <p:cNvPr id="39" name="Text 29"/>
          <p:cNvSpPr/>
          <p:nvPr/>
        </p:nvSpPr>
        <p:spPr>
          <a:xfrm>
            <a:off x="10881360" y="2496312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P.16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6309360" y="3392424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1"/>
          <p:cNvSpPr/>
          <p:nvPr/>
        </p:nvSpPr>
        <p:spPr>
          <a:xfrm>
            <a:off x="6473952" y="3557016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8" descr="/home/claude/work/icons/layers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621024"/>
            <a:ext cx="329184" cy="32918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086600" y="339242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&amp; modèle économique</a:t>
            </a:r>
            <a:endParaRPr lang="en-US" sz="1450" dirty="0"/>
          </a:p>
        </p:txBody>
      </p:sp>
      <p:sp>
        <p:nvSpPr>
          <p:cNvPr id="44" name="Text 33"/>
          <p:cNvSpPr/>
          <p:nvPr/>
        </p:nvSpPr>
        <p:spPr>
          <a:xfrm>
            <a:off x="10881360" y="3392424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P.18</a:t>
            </a:r>
            <a:endParaRPr lang="en-US" sz="1300" dirty="0"/>
          </a:p>
        </p:txBody>
      </p:sp>
      <p:sp>
        <p:nvSpPr>
          <p:cNvPr id="45" name="Shape 34"/>
          <p:cNvSpPr/>
          <p:nvPr/>
        </p:nvSpPr>
        <p:spPr>
          <a:xfrm>
            <a:off x="6309360" y="4288536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35"/>
          <p:cNvSpPr/>
          <p:nvPr/>
        </p:nvSpPr>
        <p:spPr>
          <a:xfrm>
            <a:off x="6473952" y="4453128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7" name="Image 9" descr="/home/claude/work/icons/package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4517136"/>
            <a:ext cx="329184" cy="329184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086600" y="4288536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attendus</a:t>
            </a:r>
            <a:endParaRPr lang="en-US" sz="1450" dirty="0"/>
          </a:p>
        </p:txBody>
      </p:sp>
      <p:sp>
        <p:nvSpPr>
          <p:cNvPr id="49" name="Text 37"/>
          <p:cNvSpPr/>
          <p:nvPr/>
        </p:nvSpPr>
        <p:spPr>
          <a:xfrm>
            <a:off x="10881360" y="4288536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P.21</a:t>
            </a:r>
            <a:endParaRPr lang="en-US" sz="1300" dirty="0"/>
          </a:p>
        </p:txBody>
      </p:sp>
      <p:sp>
        <p:nvSpPr>
          <p:cNvPr id="50" name="Shape 38"/>
          <p:cNvSpPr/>
          <p:nvPr/>
        </p:nvSpPr>
        <p:spPr>
          <a:xfrm>
            <a:off x="6309360" y="5184648"/>
            <a:ext cx="525780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Shape 39"/>
          <p:cNvSpPr/>
          <p:nvPr/>
        </p:nvSpPr>
        <p:spPr>
          <a:xfrm>
            <a:off x="6473952" y="5349240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2" name="Image 10" descr="/home/claude/work/icons/calendar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5413248"/>
            <a:ext cx="329184" cy="329184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7086600" y="518464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450" dirty="0"/>
          </a:p>
        </p:txBody>
      </p:sp>
      <p:sp>
        <p:nvSpPr>
          <p:cNvPr id="54" name="Text 41"/>
          <p:cNvSpPr/>
          <p:nvPr/>
        </p:nvSpPr>
        <p:spPr>
          <a:xfrm>
            <a:off x="10881360" y="5184648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P.23</a:t>
            </a:r>
            <a:endParaRPr lang="en-US" sz="1300" dirty="0"/>
          </a:p>
        </p:txBody>
      </p:sp>
      <p:sp>
        <p:nvSpPr>
          <p:cNvPr id="55" name="Text 4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SOMMES-NOUS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L'équipe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talents de l'équipe SAFESEND, réunis autour d'une seule mission : protéger les utilisateurs Mobile Money.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8000"/>
            </a:srgbClr>
          </a:solidFill>
          <a:ln w="19050">
            <a:solidFill>
              <a:srgbClr val="FF790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users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SAFESEND — 6 talents, une seule mission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1783080" y="1764792"/>
            <a:ext cx="960120" cy="960120"/>
          </a:xfrm>
          <a:prstGeom prst="ellipse">
            <a:avLst/>
          </a:prstGeom>
          <a:solidFill>
            <a:srgbClr val="FF7900">
              <a:alpha val="12000"/>
            </a:srgbClr>
          </a:solidFill>
          <a:ln w="15875">
            <a:solidFill>
              <a:srgbClr val="FF790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user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09" y="1956816"/>
            <a:ext cx="499262" cy="4992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Achonduh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777240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F7900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822960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Porteur de projet &amp; Dev Backend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79392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5559552" y="1764792"/>
            <a:ext cx="960120" cy="960120"/>
          </a:xfrm>
          <a:prstGeom prst="ellipse">
            <a:avLst/>
          </a:prstGeom>
          <a:solidFill>
            <a:srgbClr val="4D6AB1">
              <a:alpha val="12000"/>
            </a:srgbClr>
          </a:solidFill>
          <a:ln w="15875">
            <a:solidFill>
              <a:srgbClr val="4D6AB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user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981" y="1956816"/>
            <a:ext cx="499262" cy="4992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16552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Brayan Weko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553712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4599432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d'équipe &amp; Dev Mobile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55864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9336024" y="1764792"/>
            <a:ext cx="960120" cy="960120"/>
          </a:xfrm>
          <a:prstGeom prst="ellipse">
            <a:avLst/>
          </a:prstGeom>
          <a:solidFill>
            <a:srgbClr val="F6A020">
              <a:alpha val="12000"/>
            </a:srgbClr>
          </a:solidFill>
          <a:ln w="15875">
            <a:solidFill>
              <a:srgbClr val="F6A02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3" descr="/home/claude/work/icons/user_F6A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453" y="1956816"/>
            <a:ext cx="499262" cy="4992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93024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Ingrid Gabin Mboutie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8330184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6A020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8375904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 / UX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1783080" y="4352544"/>
            <a:ext cx="960120" cy="960120"/>
          </a:xfrm>
          <a:prstGeom prst="ellipse">
            <a:avLst/>
          </a:prstGeom>
          <a:solidFill>
            <a:srgbClr val="4D6AB1">
              <a:alpha val="12000"/>
            </a:srgbClr>
          </a:solidFill>
          <a:ln w="15875">
            <a:solidFill>
              <a:srgbClr val="4D6AB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4" descr="/home/claude/work/icons/user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509" y="4544568"/>
            <a:ext cx="499262" cy="4992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Lumière Bothe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777240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1"/>
          <p:cNvSpPr/>
          <p:nvPr/>
        </p:nvSpPr>
        <p:spPr>
          <a:xfrm>
            <a:off x="822960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Développeuse Web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279392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5559552" y="4352544"/>
            <a:ext cx="960120" cy="960120"/>
          </a:xfrm>
          <a:prstGeom prst="ellipse">
            <a:avLst/>
          </a:prstGeom>
          <a:solidFill>
            <a:srgbClr val="FF7900">
              <a:alpha val="12000"/>
            </a:srgbClr>
          </a:solidFill>
          <a:ln w="15875">
            <a:solidFill>
              <a:srgbClr val="FF790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5" descr="/home/claude/work/icons/user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1" y="4544568"/>
            <a:ext cx="499262" cy="4992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16552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Leal Braël Tido Keubou</a:t>
            </a:r>
            <a:endParaRPr lang="en-US" sz="1450" dirty="0"/>
          </a:p>
        </p:txBody>
      </p:sp>
      <p:sp>
        <p:nvSpPr>
          <p:cNvPr id="33" name="Shape 25"/>
          <p:cNvSpPr/>
          <p:nvPr/>
        </p:nvSpPr>
        <p:spPr>
          <a:xfrm>
            <a:off x="4553712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F7900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6"/>
          <p:cNvSpPr/>
          <p:nvPr/>
        </p:nvSpPr>
        <p:spPr>
          <a:xfrm>
            <a:off x="4599432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 Artificielle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055864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28"/>
          <p:cNvSpPr/>
          <p:nvPr/>
        </p:nvSpPr>
        <p:spPr>
          <a:xfrm>
            <a:off x="9336024" y="4352544"/>
            <a:ext cx="960120" cy="960120"/>
          </a:xfrm>
          <a:prstGeom prst="ellipse">
            <a:avLst/>
          </a:prstGeom>
          <a:solidFill>
            <a:srgbClr val="4D6AB1">
              <a:alpha val="12000"/>
            </a:srgbClr>
          </a:solidFill>
          <a:ln w="15875">
            <a:solidFill>
              <a:srgbClr val="4D6AB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7" name="Image 6" descr="/home/claude/work/icons/user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453" y="4544568"/>
            <a:ext cx="499262" cy="49926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193024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Sonia Tchakounte Nana</a:t>
            </a:r>
            <a:endParaRPr lang="en-US" sz="1450" dirty="0"/>
          </a:p>
        </p:txBody>
      </p:sp>
      <p:sp>
        <p:nvSpPr>
          <p:cNvPr id="39" name="Shape 30"/>
          <p:cNvSpPr/>
          <p:nvPr/>
        </p:nvSpPr>
        <p:spPr>
          <a:xfrm>
            <a:off x="8330184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1"/>
          <p:cNvSpPr/>
          <p:nvPr/>
        </p:nvSpPr>
        <p:spPr>
          <a:xfrm>
            <a:off x="8375904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 Artificielle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INSTITUTIONNEL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Cadre du projet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porté avec Orange Digital Center, dans le cadre de l'Orange Summer Challenge.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8000"/>
            </a:srgbClr>
          </a:solidFill>
          <a:ln w="19050">
            <a:solidFill>
              <a:srgbClr val="4D6AB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briefcase_4D6A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DU PROJET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projet porté avec Orange Digital Center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795528" y="1801368"/>
            <a:ext cx="566928" cy="566928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briefc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8" y="1880738"/>
            <a:ext cx="408188" cy="408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01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554480" y="2039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Orange Digital Center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95528" y="265176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soutien de l'Orange Digital Center, qui accompagne les équipes dans le développement de solutions innovantes.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16752" y="15087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309360" y="1801368"/>
            <a:ext cx="566928" cy="566928"/>
          </a:xfrm>
          <a:prstGeom prst="ellipse">
            <a:avLst/>
          </a:prstGeom>
          <a:solidFill>
            <a:srgbClr val="4D6AB1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aw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730" y="1880738"/>
            <a:ext cx="408188" cy="408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68312" y="1801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068312" y="2039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Orange Summer Challenge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309360" y="265176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d'accompagnement à l'innovation, du cadrage jusqu'à la démonstration finale.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3977640"/>
            <a:ext cx="10515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795528" y="4270248"/>
            <a:ext cx="566928" cy="566928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/home/claude/work/icons/targe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98" y="4349618"/>
            <a:ext cx="408188" cy="4081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CE DOCUMENT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95528" y="46360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Rassembler contexte, problème, personas, solution, positionnement, livrables et planification en un seul document de référence pour l'équipe et le partenaire.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Contexte &amp; étude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marché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cybercriminalité et la fraude Mobile Money progressent plus vite que les réponses apportées au Cameroun.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8000"/>
            </a:srgbClr>
          </a:solidFill>
          <a:ln w="19050">
            <a:solidFill>
              <a:srgbClr val="FF790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barchart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cybercriminalité au Cameroun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02920" y="1527048"/>
            <a:ext cx="54864" cy="156362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58952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32 500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8952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réquisitions judiciaires traitées par l'ANTIC en 2025 (+30% vs 2024)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27832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227832" y="1527048"/>
            <a:ext cx="54864" cy="156362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483864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8 502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483864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techniques détectées depuis janvier 2024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52744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952744" y="1527048"/>
            <a:ext cx="54864" cy="156362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208776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1,027 Md FCFA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208776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perdus en 2025 à cause des arnaques en ligne — MINPOSTEL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77656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8677656" y="1527048"/>
            <a:ext cx="54864" cy="156362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8933688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+30%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933688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hausse annuelle des sollicitations judiciaires liées au numérique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34290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cybercriminalité ne se limite plus aux attaques techniques : elle s'étend aux escroqueries qui exploitent directement la confiance des utilisateurs Mobile Money.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4251960"/>
            <a:ext cx="10607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795528" y="4754880"/>
            <a:ext cx="685800" cy="6858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1" descr="/home/claude/work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850892"/>
            <a:ext cx="493776" cy="49377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737360" y="4544568"/>
            <a:ext cx="9052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de la lutte reste concentré sur la réponse judiciaire a posteriori — peu d'outils protègent l'utilisateur au moment précis où l'arnaque se produit.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fraude Mobile Money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02920" y="1481328"/>
            <a:ext cx="54864" cy="142646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58952" y="16276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M+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8952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actifs Mobile Money au Cameroun (2025)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33088" y="146304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133088" y="1481328"/>
            <a:ext cx="54864" cy="142646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389120" y="16276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22 137 Md FCFA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389120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transactions Mobile Money en zone CEMAC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63256" y="146304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7763256" y="1481328"/>
            <a:ext cx="54864" cy="142646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8019288" y="16276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+28%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019288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hausse des fraudes sur paiements mobiles en 2026 — BEAC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 DE LA FRAUDE — MOBILE MONEY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 sociale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971800" y="370332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2971800" y="3703320"/>
            <a:ext cx="2386584" cy="237744"/>
          </a:xfrm>
          <a:prstGeom prst="roundRect">
            <a:avLst>
              <a:gd name="adj" fmla="val 19231"/>
            </a:avLst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806440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Failles techniques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971800" y="420624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2971800" y="4206240"/>
            <a:ext cx="246888" cy="237744"/>
          </a:xfrm>
          <a:prstGeom prst="roundRect">
            <a:avLst>
              <a:gd name="adj" fmla="val 19231"/>
            </a:avLst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806440" y="4160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292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2971800" y="470916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2971800" y="4709160"/>
            <a:ext cx="109728" cy="237744"/>
          </a:xfrm>
          <a:prstGeom prst="roundRect">
            <a:avLst>
              <a:gd name="adj" fmla="val 41667"/>
            </a:avLst>
          </a:prstGeom>
          <a:solidFill>
            <a:srgbClr val="9AA2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580644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720840" y="3246120"/>
            <a:ext cx="49834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7040880" y="35021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7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87%</a:t>
            </a:r>
            <a:endParaRPr lang="en-US" sz="4600" dirty="0"/>
          </a:p>
        </p:txBody>
      </p:sp>
      <p:sp>
        <p:nvSpPr>
          <p:cNvPr id="32" name="Text 29"/>
          <p:cNvSpPr/>
          <p:nvPr/>
        </p:nvSpPr>
        <p:spPr>
          <a:xfrm>
            <a:off x="7040880" y="43434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fraudes proviennent de l'ingénierie sociale : une manipulation humaine réussie, plus qu'une faille technique.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040880" y="5184648"/>
            <a:ext cx="43434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7040880" y="5349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10 000+ plaintes de fraude par an chez un opérateur majeur  ·  90 000 clients sensibilisés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L'ANGLE MORT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problème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utilisateur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vide critique s'ouvre au moment précis où l'utilisateur est le plus vulnérable — pendant l'appel frauduleux.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8000"/>
            </a:srgbClr>
          </a:solidFill>
          <a:ln w="19050">
            <a:solidFill>
              <a:srgbClr val="4D6AB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alert_4D6A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vide au moment précis où l'utilisateur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 vulnérable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16276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EXISTE AUJOURD'HUI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09360" y="16276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MANQUE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658368" y="2194560"/>
            <a:ext cx="457200" cy="457200"/>
          </a:xfrm>
          <a:prstGeom prst="ellipse">
            <a:avLst/>
          </a:prstGeom>
          <a:solidFill>
            <a:srgbClr val="9AA2B1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/home/claude/work/icons/xcircle_6B74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2585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9659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après incident (USSD, WhatsApp, hotline)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196596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7900">
                <a:alpha val="55000"/>
              </a:srgbClr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464808" y="2194560"/>
            <a:ext cx="457200" cy="457200"/>
          </a:xfrm>
          <a:prstGeom prst="ellipse">
            <a:avLst/>
          </a:prstGeom>
          <a:solidFill>
            <a:srgbClr val="FF7900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22585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19659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en temps réel pendant l'appel entrant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2920" y="2953512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658368" y="3182112"/>
            <a:ext cx="457200" cy="457200"/>
          </a:xfrm>
          <a:prstGeom prst="ellipse">
            <a:avLst/>
          </a:prstGeom>
          <a:solidFill>
            <a:srgbClr val="9AA2B1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/home/claude/work/icons/xcircle_6B74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24612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295351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générique par SMS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309360" y="2953512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7900">
                <a:alpha val="55000"/>
              </a:srgbClr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6464808" y="3182112"/>
            <a:ext cx="457200" cy="457200"/>
          </a:xfrm>
          <a:prstGeom prst="ellipse">
            <a:avLst/>
          </a:prstGeom>
          <a:solidFill>
            <a:srgbClr val="FF7900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295351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contextualisée aux scripts d'arnaque locaux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02920" y="3941064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658368" y="4169664"/>
            <a:ext cx="457200" cy="457200"/>
          </a:xfrm>
          <a:prstGeom prst="ellipse">
            <a:avLst/>
          </a:prstGeom>
          <a:solidFill>
            <a:srgbClr val="9AA2B1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5" descr="/home/claude/work/icons/xcircle_6B74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233672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0160" y="394106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 côté transaction (biométrie, QR)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309360" y="3941064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7900">
                <a:alpha val="55000"/>
              </a:srgbClr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0"/>
          <p:cNvSpPr/>
          <p:nvPr/>
        </p:nvSpPr>
        <p:spPr>
          <a:xfrm>
            <a:off x="6464808" y="4169664"/>
            <a:ext cx="457200" cy="457200"/>
          </a:xfrm>
          <a:prstGeom prst="ellipse">
            <a:avLst/>
          </a:prstGeom>
          <a:solidFill>
            <a:srgbClr val="FF7900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6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233672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86600" y="394106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appel suspect + tentative de transaction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502920" y="4928616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3"/>
          <p:cNvSpPr/>
          <p:nvPr/>
        </p:nvSpPr>
        <p:spPr>
          <a:xfrm>
            <a:off x="658368" y="5157216"/>
            <a:ext cx="457200" cy="457200"/>
          </a:xfrm>
          <a:prstGeom prst="ellipse">
            <a:avLst/>
          </a:prstGeom>
          <a:solidFill>
            <a:srgbClr val="9AA2B1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7" descr="/home/claude/work/icons/xcircle_6B74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221224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280160" y="492861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 blocage d'appel généralistes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6309360" y="4928616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7900">
                <a:alpha val="55000"/>
              </a:srgbClr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26"/>
          <p:cNvSpPr/>
          <p:nvPr/>
        </p:nvSpPr>
        <p:spPr>
          <a:xfrm>
            <a:off x="6464808" y="5157216"/>
            <a:ext cx="457200" cy="457200"/>
          </a:xfrm>
          <a:prstGeom prst="ellipse">
            <a:avLst/>
          </a:prstGeom>
          <a:solidFill>
            <a:srgbClr val="FF7900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8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5221224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086600" y="492861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locale, adaptée au contexte camerounais</a:t>
            </a:r>
            <a:endParaRPr lang="en-US" sz="1250" dirty="0"/>
          </a:p>
        </p:txBody>
      </p:sp>
      <p:sp>
        <p:nvSpPr>
          <p:cNvPr id="39" name="Text 28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TERRAIN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situations réelles de fraude vécues par des utilisateurs Mobile Money au Cameroun.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8000"/>
            </a:srgbClr>
          </a:solidFill>
          <a:ln w="19050">
            <a:solidFill>
              <a:srgbClr val="FF790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user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1ère situation réelle de fraude</a:t>
            </a:r>
            <a:endParaRPr lang="fr-FR" sz="2800" noProof="0" dirty="0"/>
          </a:p>
        </p:txBody>
      </p:sp>
      <p:sp>
        <p:nvSpPr>
          <p:cNvPr id="38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D4B39464-B0EB-CF36-950F-51EE66CFE9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327104"/>
            <a:ext cx="9279999" cy="5219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F9261-F06B-9374-3006-C3C22D977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>
            <a:extLst>
              <a:ext uri="{FF2B5EF4-FFF2-40B4-BE49-F238E27FC236}">
                <a16:creationId xmlns:a16="http://schemas.microsoft.com/office/drawing/2014/main" id="{59DBF5C8-05CA-7C38-44F4-38CF36F00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8630864-0739-DB85-A21E-451601261375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6FDB5BA-B350-FAFE-189C-8CB099555593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2ème</a:t>
            </a:r>
            <a:r>
              <a:rPr lang="fr-FR" sz="2800" b="1" noProof="0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réelle de fraude</a:t>
            </a:r>
            <a:endParaRPr lang="fr-FR" sz="2800" noProof="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3F2867A5-3A9C-76AF-4A29-BF5BAE415984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317393C-4869-B643-CA5A-8302E534F1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1" y="1327104"/>
            <a:ext cx="9279998" cy="52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0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71247-C19E-E2AB-1C08-A97765237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>
            <a:extLst>
              <a:ext uri="{FF2B5EF4-FFF2-40B4-BE49-F238E27FC236}">
                <a16:creationId xmlns:a16="http://schemas.microsoft.com/office/drawing/2014/main" id="{7D9CDDC7-A44F-2B93-DA14-F0AD6C3FC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2B6D1B2-F4AC-090A-C234-BB0B12AC06C4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3FB212-B25D-EF84-41EF-63020670A5D9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3ème</a:t>
            </a:r>
            <a:r>
              <a:rPr lang="fr-FR" sz="2800" b="1" noProof="0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réelle de fraude</a:t>
            </a:r>
            <a:endParaRPr lang="fr-FR" sz="2800" noProof="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8A7F86C0-F03B-3382-5C6D-306A72267447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2A662AC-CF97-E527-7AD5-D0CCC36569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327104"/>
            <a:ext cx="9280000" cy="52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11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solution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 : une plateforme intelligente de prévention contre la fraude Mobile Money, avant, pendant et après l'appel.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8000"/>
            </a:srgbClr>
          </a:solidFill>
          <a:ln w="19050">
            <a:solidFill>
              <a:srgbClr val="FF790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shield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intelligente de prévention contre la fraude Mobile Money, propulsée par l'intelligence communautaire et l'IA.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795528" y="2423160"/>
            <a:ext cx="640080" cy="64008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/home/claude/work/icons/smart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512771"/>
            <a:ext cx="460858" cy="460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" y="320040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mobile autonome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95528" y="3611880"/>
            <a:ext cx="4581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Téléchargeable, elle détecte les appels suspects, permet le signalement communautaire et alerte en temps réel.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25312" y="21488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217920" y="2423160"/>
            <a:ext cx="640080" cy="640080"/>
          </a:xfrm>
          <a:prstGeom prst="ellipse">
            <a:avLst/>
          </a:prstGeom>
          <a:solidFill>
            <a:srgbClr val="4D6AB1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531" y="2512771"/>
            <a:ext cx="460858" cy="4608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320040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Mini-application intégrée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217920" y="3611880"/>
            <a:ext cx="4581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 comme « Centre de Sécurité » d'un super-app opérateur (ex. Max it) : alerte native, sans installation.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480060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7900">
                <a:alpha val="65000"/>
              </a:srgbClr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795528" y="5184648"/>
            <a:ext cx="566928" cy="566928"/>
          </a:xfrm>
          <a:prstGeom prst="ellipse">
            <a:avLst/>
          </a:prstGeom>
          <a:solidFill>
            <a:srgbClr val="FF7900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/home/claude/work/icons/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98" y="5264018"/>
            <a:ext cx="408188" cy="4081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50566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ambition : devenir l'infrastructure africaine de référence pour la protection contre la fraude Mobile Money.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KWISMO apporte concrètement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85800" y="1655064"/>
            <a:ext cx="512064" cy="512064"/>
          </a:xfrm>
          <a:prstGeom prst="ellipse">
            <a:avLst/>
          </a:prstGeom>
          <a:solidFill>
            <a:srgbClr val="FF7900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z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89" y="1726753"/>
            <a:ext cx="368686" cy="3686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46304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préventive en temps réel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074920" y="1600200"/>
            <a:ext cx="0" cy="621792"/>
          </a:xfrm>
          <a:prstGeom prst="line">
            <a:avLst/>
          </a:prstGeom>
          <a:noFill/>
          <a:ln w="9525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5349240" y="1463040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que l'utilisateur ne soit piégé — pas un simple signalement après coup.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2414016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F1F3F8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85800" y="2606040"/>
            <a:ext cx="512064" cy="512064"/>
          </a:xfrm>
          <a:prstGeom prst="ellipse">
            <a:avLst/>
          </a:prstGeom>
          <a:solidFill>
            <a:srgbClr val="4D6AB1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89" y="2677729"/>
            <a:ext cx="368686" cy="3686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414016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communautaire locale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074920" y="2551176"/>
            <a:ext cx="0" cy="621792"/>
          </a:xfrm>
          <a:prstGeom prst="line">
            <a:avLst/>
          </a:prstGeom>
          <a:noFill/>
          <a:ln w="9525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5349240" y="2414016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de renseignement alimentée par les signalements des utilisateurs.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3364992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685800" y="3557016"/>
            <a:ext cx="512064" cy="512064"/>
          </a:xfrm>
          <a:prstGeom prst="ellipse">
            <a:avLst/>
          </a:prstGeom>
          <a:solidFill>
            <a:srgbClr val="FF7900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/home/claude/work/icons/checkcirc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489" y="3628705"/>
            <a:ext cx="368686" cy="36868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364992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avant transaction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074920" y="3502152"/>
            <a:ext cx="0" cy="621792"/>
          </a:xfrm>
          <a:prstGeom prst="line">
            <a:avLst/>
          </a:prstGeom>
          <a:noFill/>
          <a:ln w="9525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5349240" y="3364992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réputation d'un numéro est contrôlée avant toute validation Mobile Money.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02920" y="4315968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F1F3F8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685800" y="4507992"/>
            <a:ext cx="512064" cy="512064"/>
          </a:xfrm>
          <a:prstGeom prst="ellipse">
            <a:avLst/>
          </a:prstGeom>
          <a:solidFill>
            <a:srgbClr val="4D6AB1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4" descr="/home/claude/work/icons/messag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489" y="4579681"/>
            <a:ext cx="368686" cy="36868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4315968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étendue à WhatsApp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5074920" y="4453128"/>
            <a:ext cx="0" cy="621792"/>
          </a:xfrm>
          <a:prstGeom prst="line">
            <a:avLst/>
          </a:prstGeom>
          <a:noFill/>
          <a:ln w="9525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1"/>
          <p:cNvSpPr/>
          <p:nvPr/>
        </p:nvSpPr>
        <p:spPr>
          <a:xfrm>
            <a:off x="5349240" y="4315968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possible de la détection aux tentatives de fraude sur WhatsApp.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02920" y="5266944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685800" y="5458968"/>
            <a:ext cx="512064" cy="512064"/>
          </a:xfrm>
          <a:prstGeom prst="ellipse">
            <a:avLst/>
          </a:prstGeom>
          <a:solidFill>
            <a:srgbClr val="FF7900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/home/claude/work/icons/trending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489" y="5530657"/>
            <a:ext cx="368686" cy="3686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266944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évolutive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5074920" y="5404104"/>
            <a:ext cx="0" cy="621792"/>
          </a:xfrm>
          <a:prstGeom prst="line">
            <a:avLst/>
          </a:prstGeom>
          <a:noFill/>
          <a:ln w="9525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6"/>
          <p:cNvSpPr/>
          <p:nvPr/>
        </p:nvSpPr>
        <p:spPr>
          <a:xfrm>
            <a:off x="5349240" y="5266944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fiabilité de détection s'améliore en continu avec la communauté.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DIFFÉRENCIER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 err="1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Positionnement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500" noProof="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avec quoi KWISMO se différencie par rapport à la concurrence.</a:t>
            </a:r>
            <a:endParaRPr lang="fr-FR" sz="1500" noProof="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8000"/>
            </a:srgbClr>
          </a:solidFill>
          <a:ln w="19050">
            <a:solidFill>
              <a:srgbClr val="4D6AB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layers_4D6A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 face à l'existant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1663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Truecaller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475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Whoscall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287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85800" y="18745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numéros</a:t>
            </a:r>
            <a:endParaRPr lang="en-US" sz="1200" dirty="0"/>
          </a:p>
        </p:txBody>
      </p:sp>
      <p:pic>
        <p:nvPicPr>
          <p:cNvPr id="12" name="Image 1" descr="/home/claude/work/icons/checkcircle_3A43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1965960"/>
            <a:ext cx="347472" cy="347472"/>
          </a:xfrm>
          <a:prstGeom prst="rect">
            <a:avLst/>
          </a:prstGeom>
        </p:spPr>
      </p:pic>
      <p:pic>
        <p:nvPicPr>
          <p:cNvPr id="13" name="Image 2" descr="/home/claude/work/icons/checkcircle_3A43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965960"/>
            <a:ext cx="347472" cy="347472"/>
          </a:xfrm>
          <a:prstGeom prst="rect">
            <a:avLst/>
          </a:prstGeom>
        </p:spPr>
      </p:pic>
      <p:pic>
        <p:nvPicPr>
          <p:cNvPr id="14" name="Image 3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1965960"/>
            <a:ext cx="347472" cy="34747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2920" y="2450592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0"/>
          <p:cNvSpPr/>
          <p:nvPr/>
        </p:nvSpPr>
        <p:spPr>
          <a:xfrm>
            <a:off x="685800" y="245059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transferts</a:t>
            </a:r>
            <a:endParaRPr lang="en-US" sz="1200" dirty="0"/>
          </a:p>
        </p:txBody>
      </p:sp>
      <p:pic>
        <p:nvPicPr>
          <p:cNvPr id="17" name="Image 4" descr="/home/claude/work/icons/xcircle_9AA2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2542032"/>
            <a:ext cx="347472" cy="347472"/>
          </a:xfrm>
          <a:prstGeom prst="rect">
            <a:avLst/>
          </a:prstGeom>
        </p:spPr>
      </p:pic>
      <p:pic>
        <p:nvPicPr>
          <p:cNvPr id="18" name="Image 5" descr="/home/claude/work/icons/xcircle_9AA2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2542032"/>
            <a:ext cx="347472" cy="347472"/>
          </a:xfrm>
          <a:prstGeom prst="rect">
            <a:avLst/>
          </a:prstGeom>
        </p:spPr>
      </p:pic>
      <p:pic>
        <p:nvPicPr>
          <p:cNvPr id="19" name="Image 6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2542032"/>
            <a:ext cx="347472" cy="347472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02920" y="3026664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2"/>
          <p:cNvSpPr/>
          <p:nvPr/>
        </p:nvSpPr>
        <p:spPr>
          <a:xfrm>
            <a:off x="685800" y="302666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de numéros</a:t>
            </a:r>
            <a:endParaRPr lang="en-US" sz="1200" dirty="0"/>
          </a:p>
        </p:txBody>
      </p:sp>
      <p:pic>
        <p:nvPicPr>
          <p:cNvPr id="22" name="Image 7" descr="/home/claude/work/icons/checkcircle_3A43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3118104"/>
            <a:ext cx="347472" cy="347472"/>
          </a:xfrm>
          <a:prstGeom prst="rect">
            <a:avLst/>
          </a:prstGeom>
        </p:spPr>
      </p:pic>
      <p:pic>
        <p:nvPicPr>
          <p:cNvPr id="23" name="Image 8" descr="/home/claude/work/icons/checkcircle_3A43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3118104"/>
            <a:ext cx="347472" cy="347472"/>
          </a:xfrm>
          <a:prstGeom prst="rect">
            <a:avLst/>
          </a:prstGeom>
        </p:spPr>
      </p:pic>
      <p:pic>
        <p:nvPicPr>
          <p:cNvPr id="24" name="Image 9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3118104"/>
            <a:ext cx="347472" cy="347472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502920" y="3602736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14"/>
          <p:cNvSpPr/>
          <p:nvPr/>
        </p:nvSpPr>
        <p:spPr>
          <a:xfrm>
            <a:off x="685800" y="360273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à tous les réseaux</a:t>
            </a:r>
            <a:endParaRPr lang="en-US" sz="1200" dirty="0"/>
          </a:p>
        </p:txBody>
      </p:sp>
      <p:pic>
        <p:nvPicPr>
          <p:cNvPr id="27" name="Image 10" descr="/home/claude/work/icons/xcircle_9AA2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3694176"/>
            <a:ext cx="347472" cy="347472"/>
          </a:xfrm>
          <a:prstGeom prst="rect">
            <a:avLst/>
          </a:prstGeom>
        </p:spPr>
      </p:pic>
      <p:pic>
        <p:nvPicPr>
          <p:cNvPr id="28" name="Image 11" descr="/home/claude/work/icons/xcircle_9AA2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3694176"/>
            <a:ext cx="347472" cy="347472"/>
          </a:xfrm>
          <a:prstGeom prst="rect">
            <a:avLst/>
          </a:prstGeom>
        </p:spPr>
      </p:pic>
      <p:pic>
        <p:nvPicPr>
          <p:cNvPr id="29" name="Image 12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3694176"/>
            <a:ext cx="347472" cy="347472"/>
          </a:xfrm>
          <a:prstGeom prst="rect">
            <a:avLst/>
          </a:prstGeom>
        </p:spPr>
      </p:pic>
      <p:sp>
        <p:nvSpPr>
          <p:cNvPr id="30" name="Shape 15"/>
          <p:cNvSpPr/>
          <p:nvPr/>
        </p:nvSpPr>
        <p:spPr>
          <a:xfrm>
            <a:off x="502920" y="4178808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16"/>
          <p:cNvSpPr/>
          <p:nvPr/>
        </p:nvSpPr>
        <p:spPr>
          <a:xfrm>
            <a:off x="685800" y="41788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WhatsApp</a:t>
            </a:r>
            <a:endParaRPr lang="en-US" sz="1200" dirty="0"/>
          </a:p>
        </p:txBody>
      </p:sp>
      <p:pic>
        <p:nvPicPr>
          <p:cNvPr id="32" name="Image 13" descr="/home/claude/work/icons/xcircle_9AA2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4270248"/>
            <a:ext cx="347472" cy="347472"/>
          </a:xfrm>
          <a:prstGeom prst="rect">
            <a:avLst/>
          </a:prstGeom>
        </p:spPr>
      </p:pic>
      <p:pic>
        <p:nvPicPr>
          <p:cNvPr id="33" name="Image 14" descr="/home/claude/work/icons/xcircle_9AA2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4270248"/>
            <a:ext cx="347472" cy="347472"/>
          </a:xfrm>
          <a:prstGeom prst="rect">
            <a:avLst/>
          </a:prstGeom>
        </p:spPr>
      </p:pic>
      <p:pic>
        <p:nvPicPr>
          <p:cNvPr id="34" name="Image 15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4270248"/>
            <a:ext cx="347472" cy="347472"/>
          </a:xfrm>
          <a:prstGeom prst="rect">
            <a:avLst/>
          </a:prstGeom>
        </p:spPr>
      </p:pic>
      <p:sp>
        <p:nvSpPr>
          <p:cNvPr id="35" name="Shape 17"/>
          <p:cNvSpPr/>
          <p:nvPr/>
        </p:nvSpPr>
        <p:spPr>
          <a:xfrm>
            <a:off x="502920" y="4754880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18"/>
          <p:cNvSpPr/>
          <p:nvPr/>
        </p:nvSpPr>
        <p:spPr>
          <a:xfrm>
            <a:off x="685800" y="47548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au grand public</a:t>
            </a:r>
            <a:endParaRPr lang="en-US" sz="1200" dirty="0"/>
          </a:p>
        </p:txBody>
      </p:sp>
      <p:pic>
        <p:nvPicPr>
          <p:cNvPr id="37" name="Image 16" descr="/home/claude/work/icons/checkcircle_3A43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4846320"/>
            <a:ext cx="347472" cy="347472"/>
          </a:xfrm>
          <a:prstGeom prst="rect">
            <a:avLst/>
          </a:prstGeom>
        </p:spPr>
      </p:pic>
      <p:pic>
        <p:nvPicPr>
          <p:cNvPr id="38" name="Image 17" descr="/home/claude/work/icons/checkcircle_3A43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846320"/>
            <a:ext cx="347472" cy="347472"/>
          </a:xfrm>
          <a:prstGeom prst="rect">
            <a:avLst/>
          </a:prstGeom>
        </p:spPr>
      </p:pic>
      <p:pic>
        <p:nvPicPr>
          <p:cNvPr id="39" name="Image 18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4846320"/>
            <a:ext cx="347472" cy="347472"/>
          </a:xfrm>
          <a:prstGeom prst="rect">
            <a:avLst/>
          </a:prstGeom>
        </p:spPr>
      </p:pic>
      <p:sp>
        <p:nvSpPr>
          <p:cNvPr id="40" name="Shape 19"/>
          <p:cNvSpPr/>
          <p:nvPr/>
        </p:nvSpPr>
        <p:spPr>
          <a:xfrm>
            <a:off x="502920" y="5468112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20"/>
          <p:cNvSpPr/>
          <p:nvPr/>
        </p:nvSpPr>
        <p:spPr>
          <a:xfrm>
            <a:off x="795528" y="5724144"/>
            <a:ext cx="530352" cy="530352"/>
          </a:xfrm>
          <a:prstGeom prst="ellipse">
            <a:avLst/>
          </a:prstGeom>
          <a:solidFill>
            <a:srgbClr val="FF7900">
              <a:alpha val="9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19" descr="/home/claude/work/icons/glob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77" y="5798393"/>
            <a:ext cx="381853" cy="381853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1508760" y="5632704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 ne cherche pas à remplacer l'infrastructure de sécurité des opérateurs, mais à combler le vide laissé par les solutions généralistes existantes.</a:t>
            </a:r>
            <a:endParaRPr lang="en-US" sz="1300" dirty="0"/>
          </a:p>
        </p:txBody>
      </p:sp>
      <p:sp>
        <p:nvSpPr>
          <p:cNvPr id="44" name="Text 2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SERA PRODUIT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Livrables attendus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livrables majeurs : API, application mobile, site web et documentation complète.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8000"/>
            </a:srgbClr>
          </a:solidFill>
          <a:ln w="19050">
            <a:solidFill>
              <a:srgbClr val="FF790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package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ATTENDUS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livrables majeurs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777240" y="1719072"/>
            <a:ext cx="566928" cy="566928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10" y="1798442"/>
            <a:ext cx="408188" cy="408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7190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d'analyse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508760" y="2011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numéros frauduleux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89468" y="2880360"/>
            <a:ext cx="1642262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589468" y="2880360"/>
            <a:ext cx="16422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numéros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341458" y="2880360"/>
            <a:ext cx="1267358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2341458" y="288036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IA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18545" y="2880360"/>
            <a:ext cx="1867205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3718545" y="2880360"/>
            <a:ext cx="18672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Swagger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25312" y="14630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199632" y="1719072"/>
            <a:ext cx="566928" cy="566928"/>
          </a:xfrm>
          <a:prstGeom prst="ellipse">
            <a:avLst/>
          </a:prstGeom>
          <a:solidFill>
            <a:srgbClr val="4D6AB1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/home/claude/work/icons/smartpho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002" y="1798442"/>
            <a:ext cx="408188" cy="4081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17190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mobile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931152" y="2011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99632" y="2880360"/>
            <a:ext cx="1567282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/>
          <p:nvPr/>
        </p:nvSpPr>
        <p:spPr>
          <a:xfrm>
            <a:off x="6199632" y="2880360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d'appel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876642" y="2880360"/>
            <a:ext cx="1567282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7876642" y="2880360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protégé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553651" y="2880360"/>
            <a:ext cx="1192378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1"/>
          <p:cNvSpPr/>
          <p:nvPr/>
        </p:nvSpPr>
        <p:spPr>
          <a:xfrm>
            <a:off x="9553651" y="2880360"/>
            <a:ext cx="119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OTP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02920" y="402336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F6A02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3" descr="/home/claude/work/icons/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10" y="4358762"/>
            <a:ext cx="408188" cy="4081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08760" y="42793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web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1508760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&amp; administration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777240" y="5440680"/>
            <a:ext cx="1192378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F6A02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777240" y="5440680"/>
            <a:ext cx="119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vitrine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2079346" y="5440680"/>
            <a:ext cx="1192378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F6A02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29"/>
          <p:cNvSpPr/>
          <p:nvPr/>
        </p:nvSpPr>
        <p:spPr>
          <a:xfrm>
            <a:off x="2079346" y="5440680"/>
            <a:ext cx="119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381451" y="5440680"/>
            <a:ext cx="1567282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F6A02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3381451" y="5440680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partenaire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925312" y="402336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3"/>
          <p:cNvSpPr/>
          <p:nvPr/>
        </p:nvSpPr>
        <p:spPr>
          <a:xfrm>
            <a:off x="6199632" y="4279392"/>
            <a:ext cx="566928" cy="566928"/>
          </a:xfrm>
          <a:prstGeom prst="ellipse">
            <a:avLst/>
          </a:prstGeom>
          <a:solidFill>
            <a:srgbClr val="4D6AB1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4" descr="/home/claude/work/icons/filetex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002" y="4358762"/>
            <a:ext cx="408188" cy="4081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931152" y="42793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42" name="Text 35"/>
          <p:cNvSpPr/>
          <p:nvPr/>
        </p:nvSpPr>
        <p:spPr>
          <a:xfrm>
            <a:off x="6931152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claire et complète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6199632" y="54406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/>
          <p:nvPr/>
        </p:nvSpPr>
        <p:spPr>
          <a:xfrm>
            <a:off x="6199632" y="5440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(API)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7726680" y="5440680"/>
            <a:ext cx="1267358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39"/>
          <p:cNvSpPr/>
          <p:nvPr/>
        </p:nvSpPr>
        <p:spPr>
          <a:xfrm>
            <a:off x="7726680" y="544068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9103766" y="5440680"/>
            <a:ext cx="1792224" cy="36576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 w="63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1"/>
          <p:cNvSpPr/>
          <p:nvPr/>
        </p:nvSpPr>
        <p:spPr>
          <a:xfrm>
            <a:off x="9103766" y="54406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d'utilisation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FEUILLE DE ROUTE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Planification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sprints, du cadrage à la présentation finale du projet.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8000"/>
            </a:srgbClr>
          </a:solidFill>
          <a:ln w="19050">
            <a:solidFill>
              <a:srgbClr val="4D6AB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calendar_4D6A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sprints, du cadrage à la soutenance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863840" y="402336"/>
            <a:ext cx="37947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/home/claude/work/icons/gitbranch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484632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6760" y="4023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détaillé : ClickUp · Planning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02920" y="1417320"/>
            <a:ext cx="10607040" cy="384048"/>
          </a:xfrm>
          <a:prstGeom prst="roundRect">
            <a:avLst>
              <a:gd name="adj" fmla="val 11905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640080" y="1417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057400" y="14173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6676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1801368"/>
            <a:ext cx="106070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640080" y="180136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057400" y="180136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recherche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366760" y="18013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2221992"/>
            <a:ext cx="10607040" cy="420624"/>
          </a:xfrm>
          <a:prstGeom prst="rect">
            <a:avLst/>
          </a:prstGeom>
          <a:solidFill>
            <a:srgbClr val="F1F3F8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640080" y="22219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057400" y="222199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&amp; spécifications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366760" y="22219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2642616"/>
            <a:ext cx="106070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40080" y="26426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2057400" y="264261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366760" y="26426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3063240"/>
            <a:ext cx="10607040" cy="420624"/>
          </a:xfrm>
          <a:prstGeom prst="rect">
            <a:avLst/>
          </a:prstGeom>
          <a:solidFill>
            <a:srgbClr val="F1F3F8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640080" y="30632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2057400" y="306324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UI/UX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8366760" y="3063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02920" y="3483864"/>
            <a:ext cx="106070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640080" y="34838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2057400" y="348386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API v1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8366760" y="34838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5-6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02920" y="3904488"/>
            <a:ext cx="10607040" cy="420624"/>
          </a:xfrm>
          <a:prstGeom prst="rect">
            <a:avLst/>
          </a:prstGeom>
          <a:solidFill>
            <a:srgbClr val="F1F3F8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640080" y="3904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2057400" y="390448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app mobile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366760" y="39044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6-7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502920" y="4325112"/>
            <a:ext cx="106070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3"/>
          <p:cNvSpPr/>
          <p:nvPr/>
        </p:nvSpPr>
        <p:spPr>
          <a:xfrm>
            <a:off x="640080" y="43251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2057400" y="432511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IA / détection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8366760" y="43251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8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502920" y="4745736"/>
            <a:ext cx="10607040" cy="420624"/>
          </a:xfrm>
          <a:prstGeom prst="rect">
            <a:avLst/>
          </a:prstGeom>
          <a:solidFill>
            <a:srgbClr val="F1F3F8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7"/>
          <p:cNvSpPr/>
          <p:nvPr/>
        </p:nvSpPr>
        <p:spPr>
          <a:xfrm>
            <a:off x="640080" y="47457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2057400" y="474573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&amp; documentation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8366760" y="47457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9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502920" y="5166360"/>
            <a:ext cx="106070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1"/>
          <p:cNvSpPr/>
          <p:nvPr/>
        </p:nvSpPr>
        <p:spPr>
          <a:xfrm>
            <a:off x="640080" y="51663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9</a:t>
            </a:r>
            <a:endParaRPr lang="en-US" sz="1150" dirty="0"/>
          </a:p>
        </p:txBody>
      </p:sp>
      <p:sp>
        <p:nvSpPr>
          <p:cNvPr id="46" name="Text 42"/>
          <p:cNvSpPr/>
          <p:nvPr/>
        </p:nvSpPr>
        <p:spPr>
          <a:xfrm>
            <a:off x="2057400" y="51663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QA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8366760" y="51663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10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502920" y="5586984"/>
            <a:ext cx="10607040" cy="420624"/>
          </a:xfrm>
          <a:prstGeom prst="rect">
            <a:avLst/>
          </a:prstGeom>
          <a:solidFill>
            <a:srgbClr val="F1F3F8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5"/>
          <p:cNvSpPr/>
          <p:nvPr/>
        </p:nvSpPr>
        <p:spPr>
          <a:xfrm>
            <a:off x="640080" y="558698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2057400" y="558698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Correctifs &amp; polish</a:t>
            </a:r>
            <a:endParaRPr lang="en-US" sz="1150" dirty="0"/>
          </a:p>
        </p:txBody>
      </p:sp>
      <p:sp>
        <p:nvSpPr>
          <p:cNvPr id="51" name="Text 47"/>
          <p:cNvSpPr/>
          <p:nvPr/>
        </p:nvSpPr>
        <p:spPr>
          <a:xfrm>
            <a:off x="8366760" y="558698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11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502920" y="6007608"/>
            <a:ext cx="106070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49"/>
          <p:cNvSpPr/>
          <p:nvPr/>
        </p:nvSpPr>
        <p:spPr>
          <a:xfrm>
            <a:off x="640080" y="60076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11</a:t>
            </a:r>
            <a:endParaRPr lang="en-US" sz="1150" dirty="0"/>
          </a:p>
        </p:txBody>
      </p:sp>
      <p:sp>
        <p:nvSpPr>
          <p:cNvPr id="54" name="Text 50"/>
          <p:cNvSpPr/>
          <p:nvPr/>
        </p:nvSpPr>
        <p:spPr>
          <a:xfrm>
            <a:off x="2057400" y="600760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présentation</a:t>
            </a:r>
            <a:endParaRPr lang="en-US" sz="1150" dirty="0"/>
          </a:p>
        </p:txBody>
      </p:sp>
      <p:sp>
        <p:nvSpPr>
          <p:cNvPr id="55" name="Text 51"/>
          <p:cNvSpPr/>
          <p:nvPr/>
        </p:nvSpPr>
        <p:spPr>
          <a:xfrm>
            <a:off x="8366760" y="60076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12</a:t>
            </a:r>
            <a:endParaRPr lang="en-US" sz="1150" dirty="0"/>
          </a:p>
        </p:txBody>
      </p:sp>
      <p:sp>
        <p:nvSpPr>
          <p:cNvPr id="56" name="Text 5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tit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38648" y="1234440"/>
            <a:ext cx="914400" cy="914400"/>
          </a:xfrm>
          <a:prstGeom prst="ellipse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1"/>
          <p:cNvSpPr/>
          <p:nvPr/>
        </p:nvSpPr>
        <p:spPr>
          <a:xfrm>
            <a:off x="0" y="24231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Merci</a:t>
            </a:r>
            <a:endParaRPr lang="en-US" sz="5600" dirty="0"/>
          </a:p>
        </p:txBody>
      </p:sp>
      <p:sp>
        <p:nvSpPr>
          <p:cNvPr id="6" name="Text 2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 Discutons de la suite du projet.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1450696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7900">
                <a:alpha val="75000"/>
              </a:srgbClr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2" descr="/home/claude/work/icons/users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288" y="4242816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17624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SAFESEND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632808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D6AB1">
                <a:alpha val="75000"/>
              </a:srgbClr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3" descr="/home/claude/work/icons/briefcase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400" y="4242816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99736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7814920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6A020">
                <a:alpha val="75000"/>
              </a:srgbClr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4" descr="/home/claude/work/icons/award_F6A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9512" y="424281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381848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Summer Challenge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DF1CB35E-D573-E269-76D4-7930C24380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4048" y="1329840"/>
            <a:ext cx="723600" cy="72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économique envisagé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partenaire technique plutôt qu'un concurrent : KWISMO apporte une couche d'intelligence, Orange conserve la relation client.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29488" y="205740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072488" y="2240280"/>
            <a:ext cx="548640" cy="54864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297" y="2317090"/>
            <a:ext cx="395021" cy="39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6648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66648" y="3136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 à « KWISMO Security+ »</a:t>
            </a:r>
            <a:endParaRPr lang="en-US" sz="1050" dirty="0"/>
          </a:p>
        </p:txBody>
      </p:sp>
      <p:pic>
        <p:nvPicPr>
          <p:cNvPr id="11" name="Image 2" descr="/home/claude/work/icons/arrowright_6B74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448" y="2560320"/>
            <a:ext cx="365760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678528" y="205740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8"/>
          <p:cNvSpPr/>
          <p:nvPr/>
        </p:nvSpPr>
        <p:spPr>
          <a:xfrm>
            <a:off x="5821528" y="2240280"/>
            <a:ext cx="548640" cy="548640"/>
          </a:xfrm>
          <a:prstGeom prst="ellipse">
            <a:avLst/>
          </a:prstGeom>
          <a:solidFill>
            <a:srgbClr val="4D6AB1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3" descr="/home/claude/work/icons/briefc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8337" y="2317090"/>
            <a:ext cx="395021" cy="3950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15688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815688" y="3136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&amp; stratégie commerciale</a:t>
            </a:r>
            <a:endParaRPr lang="en-US" sz="1050" dirty="0"/>
          </a:p>
        </p:txBody>
      </p:sp>
      <p:pic>
        <p:nvPicPr>
          <p:cNvPr id="17" name="Image 4" descr="/home/claude/work/icons/arrowright_6B74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7488" y="2560320"/>
            <a:ext cx="365760" cy="36576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427568" y="205740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2"/>
          <p:cNvSpPr/>
          <p:nvPr/>
        </p:nvSpPr>
        <p:spPr>
          <a:xfrm>
            <a:off x="9570568" y="2240280"/>
            <a:ext cx="548640" cy="548640"/>
          </a:xfrm>
          <a:prstGeom prst="ellipse">
            <a:avLst/>
          </a:prstGeom>
          <a:solidFill>
            <a:srgbClr val="F6A02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5" descr="/home/claude/work/icons/shiel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7377" y="2317090"/>
            <a:ext cx="395021" cy="39502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64728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8564728" y="3136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Pourcentage négocié des revenus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502920" y="3977640"/>
            <a:ext cx="106070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16"/>
          <p:cNvSpPr/>
          <p:nvPr/>
        </p:nvSpPr>
        <p:spPr>
          <a:xfrm>
            <a:off x="82296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7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200 FCFA</a:t>
            </a:r>
            <a:endParaRPr lang="en-US" sz="4000" dirty="0"/>
          </a:p>
        </p:txBody>
      </p:sp>
      <p:sp>
        <p:nvSpPr>
          <p:cNvPr id="25" name="Text 17"/>
          <p:cNvSpPr/>
          <p:nvPr/>
        </p:nvSpPr>
        <p:spPr>
          <a:xfrm>
            <a:off x="82296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mois — hypothèse de travail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5669280" y="4251960"/>
            <a:ext cx="0" cy="160020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19"/>
          <p:cNvSpPr/>
          <p:nvPr/>
        </p:nvSpPr>
        <p:spPr>
          <a:xfrm>
            <a:off x="5989320" y="4343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final et la stratégie de facturation restent définis par l'opérateur partenaire, en fonction du marché et de l'offre commerciale retenue.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433EA-C8C9-4212-64CE-8B8574860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_light.png">
            <a:extLst>
              <a:ext uri="{FF2B5EF4-FFF2-40B4-BE49-F238E27FC236}">
                <a16:creationId xmlns:a16="http://schemas.microsoft.com/office/drawing/2014/main" id="{65466CE1-B1AF-D19D-15B0-308507854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83EE9FF-9F88-BBE0-05DD-4AFC463740DE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912CC4A-C028-B667-823C-76E9D6A88B8E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Trois situations réelles de fraude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935C2F7-B35F-AEB4-4816-65EAE28D8AAA}"/>
              </a:ext>
            </a:extLst>
          </p:cNvPr>
          <p:cNvSpPr/>
          <p:nvPr/>
        </p:nvSpPr>
        <p:spPr>
          <a:xfrm>
            <a:off x="502920" y="1508760"/>
            <a:ext cx="3520440" cy="4709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0D7EEAF-66D9-77F0-EC3C-BD6F66B03F14}"/>
              </a:ext>
            </a:extLst>
          </p:cNvPr>
          <p:cNvSpPr/>
          <p:nvPr/>
        </p:nvSpPr>
        <p:spPr>
          <a:xfrm>
            <a:off x="502920" y="1508760"/>
            <a:ext cx="3520440" cy="5486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283AED2-2F47-91CB-53CC-AC55985B73C1}"/>
              </a:ext>
            </a:extLst>
          </p:cNvPr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/home/claude/work/icons/phone_FFFFFF.png">
            <a:extLst>
              <a:ext uri="{FF2B5EF4-FFF2-40B4-BE49-F238E27FC236}">
                <a16:creationId xmlns:a16="http://schemas.microsoft.com/office/drawing/2014/main" id="{7999EF4B-EC35-18A0-C119-64CC18DA4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" y="1872691"/>
            <a:ext cx="460858" cy="46085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9481E84E-63D8-C74A-41F4-BDF11D8E68E4}"/>
              </a:ext>
            </a:extLst>
          </p:cNvPr>
          <p:cNvSpPr/>
          <p:nvPr/>
        </p:nvSpPr>
        <p:spPr>
          <a:xfrm>
            <a:off x="1554480" y="18013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Ndongo Marie</a:t>
            </a:r>
            <a:endParaRPr lang="en-US" sz="14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DFCA431-9008-7327-1207-34A618DB8690}"/>
              </a:ext>
            </a:extLst>
          </p:cNvPr>
          <p:cNvSpPr/>
          <p:nvPr/>
        </p:nvSpPr>
        <p:spPr>
          <a:xfrm>
            <a:off x="155448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ans · Commerçante</a:t>
            </a:r>
            <a:endParaRPr lang="en-US" sz="1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F98DEF7-0BAF-C956-79A6-134A947602C9}"/>
              </a:ext>
            </a:extLst>
          </p:cNvPr>
          <p:cNvSpPr/>
          <p:nvPr/>
        </p:nvSpPr>
        <p:spPr>
          <a:xfrm>
            <a:off x="777240" y="2651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VÉCUE</a:t>
            </a:r>
            <a:endParaRPr lang="en-US" sz="10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CE03F86-0992-3594-CE71-6C3EDD2A58C4}"/>
              </a:ext>
            </a:extLst>
          </p:cNvPr>
          <p:cNvSpPr/>
          <p:nvPr/>
        </p:nvSpPr>
        <p:spPr>
          <a:xfrm>
            <a:off x="777240" y="295351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faux « service client » l'appelle et la convainc de composer un code USSD pour « sécuriser » son compte — vidé quelques minutes plus tard.</a:t>
            </a:r>
            <a:endParaRPr lang="en-US"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DFFBCE0C-6880-FA7B-6D03-A07DE253138F}"/>
              </a:ext>
            </a:extLst>
          </p:cNvPr>
          <p:cNvSpPr/>
          <p:nvPr/>
        </p:nvSpPr>
        <p:spPr>
          <a:xfrm>
            <a:off x="777240" y="484632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29D0084-0CB0-D919-B059-F5C057F84BE7}"/>
              </a:ext>
            </a:extLst>
          </p:cNvPr>
          <p:cNvSpPr/>
          <p:nvPr/>
        </p:nvSpPr>
        <p:spPr>
          <a:xfrm>
            <a:off x="914400" y="49377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1DD1AB3-CB37-D576-2698-85FFAD614358}"/>
              </a:ext>
            </a:extLst>
          </p:cNvPr>
          <p:cNvSpPr/>
          <p:nvPr/>
        </p:nvSpPr>
        <p:spPr>
          <a:xfrm>
            <a:off x="914400" y="5166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alertée en temps réel pendant l'appel suspect.</a:t>
            </a:r>
            <a:endParaRPr lang="en-US" sz="12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14631C5D-D941-4756-EF3D-32FB3981D3F4}"/>
              </a:ext>
            </a:extLst>
          </p:cNvPr>
          <p:cNvSpPr/>
          <p:nvPr/>
        </p:nvSpPr>
        <p:spPr>
          <a:xfrm>
            <a:off x="4224528" y="1508760"/>
            <a:ext cx="3520440" cy="4709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6AA0063F-DCDB-3774-75C3-3C4532527C31}"/>
              </a:ext>
            </a:extLst>
          </p:cNvPr>
          <p:cNvSpPr/>
          <p:nvPr/>
        </p:nvSpPr>
        <p:spPr>
          <a:xfrm>
            <a:off x="4224528" y="1508760"/>
            <a:ext cx="3520440" cy="5486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37B147C-CE30-EBFA-B7FD-2118F0CC9452}"/>
              </a:ext>
            </a:extLst>
          </p:cNvPr>
          <p:cNvSpPr/>
          <p:nvPr/>
        </p:nvSpPr>
        <p:spPr>
          <a:xfrm>
            <a:off x="4498848" y="1783080"/>
            <a:ext cx="640080" cy="640080"/>
          </a:xfrm>
          <a:prstGeom prst="ellipse">
            <a:avLst/>
          </a:prstGeom>
          <a:solidFill>
            <a:srgbClr val="4D6AB1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/home/claude/work/icons/card_FFFFFF.png">
            <a:extLst>
              <a:ext uri="{FF2B5EF4-FFF2-40B4-BE49-F238E27FC236}">
                <a16:creationId xmlns:a16="http://schemas.microsoft.com/office/drawing/2014/main" id="{2D7E9406-4FCA-6534-FCF9-1738E55D1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459" y="1872691"/>
            <a:ext cx="460858" cy="460858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B522C051-DAD3-3A8F-8185-738E7C63BE98}"/>
              </a:ext>
            </a:extLst>
          </p:cNvPr>
          <p:cNvSpPr/>
          <p:nvPr/>
        </p:nvSpPr>
        <p:spPr>
          <a:xfrm>
            <a:off x="5276088" y="18013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Fotso Junior</a:t>
            </a:r>
            <a:endParaRPr lang="en-US" sz="14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1600F13-C091-6FD5-DC87-A0D0FC0FF5A2}"/>
              </a:ext>
            </a:extLst>
          </p:cNvPr>
          <p:cNvSpPr/>
          <p:nvPr/>
        </p:nvSpPr>
        <p:spPr>
          <a:xfrm>
            <a:off x="5276088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ans · Chauffeur moto-taxi</a:t>
            </a:r>
            <a:endParaRPr lang="en-US" sz="11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F3FE3064-3C78-7AD7-BC55-CE09EB3C1FB9}"/>
              </a:ext>
            </a:extLst>
          </p:cNvPr>
          <p:cNvSpPr/>
          <p:nvPr/>
        </p:nvSpPr>
        <p:spPr>
          <a:xfrm>
            <a:off x="4498848" y="2651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VÉCUE</a:t>
            </a:r>
            <a:endParaRPr lang="en-US" sz="105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0DBA6418-2583-13B5-1650-35C44D42E4AB}"/>
              </a:ext>
            </a:extLst>
          </p:cNvPr>
          <p:cNvSpPr/>
          <p:nvPr/>
        </p:nvSpPr>
        <p:spPr>
          <a:xfrm>
            <a:off x="4498848" y="295351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« agent partenaire » lui propose une offre limitée dans le temps. Pressé, il valide un transfert vers un numéro inconnu.</a:t>
            </a:r>
            <a:endParaRPr lang="en-US" sz="12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2FC3A8CD-DE01-DEA6-70D4-19A752D3E8E8}"/>
              </a:ext>
            </a:extLst>
          </p:cNvPr>
          <p:cNvSpPr/>
          <p:nvPr/>
        </p:nvSpPr>
        <p:spPr>
          <a:xfrm>
            <a:off x="4498848" y="484632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944C4549-85F4-5BAD-768D-AC10D5430743}"/>
              </a:ext>
            </a:extLst>
          </p:cNvPr>
          <p:cNvSpPr/>
          <p:nvPr/>
        </p:nvSpPr>
        <p:spPr>
          <a:xfrm>
            <a:off x="4636008" y="49377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6160A943-62A7-DEF4-CF71-25F4FF963DC9}"/>
              </a:ext>
            </a:extLst>
          </p:cNvPr>
          <p:cNvSpPr/>
          <p:nvPr/>
        </p:nvSpPr>
        <p:spPr>
          <a:xfrm>
            <a:off x="4636008" y="5166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un numéro avant d'agir, et le signaler.</a:t>
            </a:r>
            <a:endParaRPr lang="en-US" sz="12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2D81FB58-97C0-ACD6-6864-46AEFD5C6FCD}"/>
              </a:ext>
            </a:extLst>
          </p:cNvPr>
          <p:cNvSpPr/>
          <p:nvPr/>
        </p:nvSpPr>
        <p:spPr>
          <a:xfrm>
            <a:off x="7946136" y="1508760"/>
            <a:ext cx="3520440" cy="4709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algn="bl" rotWithShape="0">
              <a:srgbClr val="1B2333">
                <a:alpha val="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023C11A1-9FDF-6007-6727-7203A3CF9F40}"/>
              </a:ext>
            </a:extLst>
          </p:cNvPr>
          <p:cNvSpPr/>
          <p:nvPr/>
        </p:nvSpPr>
        <p:spPr>
          <a:xfrm>
            <a:off x="7946136" y="1508760"/>
            <a:ext cx="3520440" cy="54864"/>
          </a:xfrm>
          <a:prstGeom prst="rect">
            <a:avLst/>
          </a:prstGeom>
          <a:solidFill>
            <a:srgbClr val="F6A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843674E2-CA9C-37AA-192D-0F4A82F28D70}"/>
              </a:ext>
            </a:extLst>
          </p:cNvPr>
          <p:cNvSpPr/>
          <p:nvPr/>
        </p:nvSpPr>
        <p:spPr>
          <a:xfrm>
            <a:off x="8220456" y="1783080"/>
            <a:ext cx="640080" cy="640080"/>
          </a:xfrm>
          <a:prstGeom prst="ellipse">
            <a:avLst/>
          </a:prstGeom>
          <a:solidFill>
            <a:srgbClr val="F6A02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3" descr="/home/claude/work/icons/message_FFFFFF.png">
            <a:extLst>
              <a:ext uri="{FF2B5EF4-FFF2-40B4-BE49-F238E27FC236}">
                <a16:creationId xmlns:a16="http://schemas.microsoft.com/office/drawing/2014/main" id="{D32EC1E9-B0CB-A9B5-FCCF-D81237FB4C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067" y="1872691"/>
            <a:ext cx="460858" cy="460858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CF7A05BB-1D8A-3710-A8E3-55F203916664}"/>
              </a:ext>
            </a:extLst>
          </p:cNvPr>
          <p:cNvSpPr/>
          <p:nvPr/>
        </p:nvSpPr>
        <p:spPr>
          <a:xfrm>
            <a:off x="8997696" y="18013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Ateba Sandrine</a:t>
            </a:r>
            <a:endParaRPr lang="en-US" sz="145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E61F025F-8DDA-1430-B426-0895BF9D5E62}"/>
              </a:ext>
            </a:extLst>
          </p:cNvPr>
          <p:cNvSpPr/>
          <p:nvPr/>
        </p:nvSpPr>
        <p:spPr>
          <a:xfrm>
            <a:off x="8997696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ans · Enseignante</a:t>
            </a:r>
            <a:endParaRPr lang="en-US" sz="11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A96CB8F9-2169-8E3B-29EC-0927F04D0FFE}"/>
              </a:ext>
            </a:extLst>
          </p:cNvPr>
          <p:cNvSpPr/>
          <p:nvPr/>
        </p:nvSpPr>
        <p:spPr>
          <a:xfrm>
            <a:off x="8220456" y="2651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6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VÉCUE</a:t>
            </a:r>
            <a:endParaRPr lang="en-US" sz="105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8F91407E-E684-F94E-B126-20D8442A9ACD}"/>
              </a:ext>
            </a:extLst>
          </p:cNvPr>
          <p:cNvSpPr/>
          <p:nvPr/>
        </p:nvSpPr>
        <p:spPr>
          <a:xfrm>
            <a:off x="8220456" y="295351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WhatsApp d'un proche est piraté. Le fraudeur, se faisant passer pour lui, lui demande un dépannage urgent.</a:t>
            </a:r>
            <a:endParaRPr lang="en-US" sz="1200" dirty="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BC9491C3-68AF-2FE6-F933-F409F80C8F0C}"/>
              </a:ext>
            </a:extLst>
          </p:cNvPr>
          <p:cNvSpPr/>
          <p:nvPr/>
        </p:nvSpPr>
        <p:spPr>
          <a:xfrm>
            <a:off x="8220456" y="484632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789DA448-DA68-4658-1F05-4E311EAF305A}"/>
              </a:ext>
            </a:extLst>
          </p:cNvPr>
          <p:cNvSpPr/>
          <p:nvPr/>
        </p:nvSpPr>
        <p:spPr>
          <a:xfrm>
            <a:off x="8357616" y="49377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6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FE4B7664-4EF2-0656-FF98-83FE39863408}"/>
              </a:ext>
            </a:extLst>
          </p:cNvPr>
          <p:cNvSpPr/>
          <p:nvPr/>
        </p:nvSpPr>
        <p:spPr>
          <a:xfrm>
            <a:off x="8357616" y="5166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protégée aussi sur WhatsApp, et alerter ses contacts.</a:t>
            </a:r>
            <a:endParaRPr lang="en-US" sz="12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0E5DFF29-7DE4-1C59-AEC0-E2F4861FBCF0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2564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1392</Words>
  <Application>Microsoft Office PowerPoint</Application>
  <PresentationFormat>Grand écran</PresentationFormat>
  <Paragraphs>325</Paragraphs>
  <Slides>27</Slides>
  <Notes>27</Notes>
  <HiddenSlides>2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Brayan Weko</cp:lastModifiedBy>
  <cp:revision>4</cp:revision>
  <dcterms:created xsi:type="dcterms:W3CDTF">2026-08-19T21:39:07Z</dcterms:created>
  <dcterms:modified xsi:type="dcterms:W3CDTF">2026-09-01T02:19:25Z</dcterms:modified>
</cp:coreProperties>
</file>