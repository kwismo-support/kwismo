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15"/>
    <p:sldId id="282" r:id="rId16"/>
    <p:sldId id="281" r:id="rId17"/>
    <p:sldId id="269" r:id="rId18"/>
    <p:sldId id="270" r:id="rId19"/>
    <p:sldId id="271" r:id="rId20"/>
    <p:sldId id="272" r:id="rId21"/>
    <p:sldId id="273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963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93441-4A50-FC18-B7CD-559B9FE8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A0932-9895-F782-C5C8-B585FE869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FAAB7-C51A-4495-3337-3FEDABE48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F18D2-C7C3-43FF-3EF7-B8A60DC80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232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B7CF-3D78-4E43-DE87-C958AFD0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7BF0B-056C-9851-4962-DE16269F1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2D231-60A6-57EF-B903-12513BBAC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6DC7A-12F7-5CE5-73C8-A44897E6F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90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3A0AE-2CF9-9D89-6AF1-28101066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4DF40-407B-B80C-DC36-29BCD7E43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B6F97-3B49-8390-F553-6CEA50B24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9D232-4EE5-7683-6B7A-869A211DA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014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2928" y="594360"/>
            <a:ext cx="1005840" cy="1005840"/>
          </a:xfrm>
          <a:prstGeom prst="ellipse">
            <a:avLst/>
          </a:prstGeom>
          <a:solidFill>
            <a:srgbClr val="FF7900">
              <a:alpha val="22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Text 1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6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CADRAGE DE PROJET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0" y="2377440"/>
            <a:ext cx="12191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</a:t>
            </a:r>
            <a:endParaRPr lang="en-US" sz="6600" dirty="0"/>
          </a:p>
        </p:txBody>
      </p:sp>
      <p:sp>
        <p:nvSpPr>
          <p:cNvPr id="7" name="Text 3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anti-fraude Mobile Money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970636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9" name="Image 2" descr="/home/claude/work/icons/users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228" y="4471416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7564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SAFESEND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472788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2" name="Image 3" descr="/home/claude/work/icons/briefcase_4D6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380" y="4471416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39716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Orange Digital Center</a:t>
            </a:r>
            <a:endParaRPr lang="fr-FR" sz="1250" noProof="0" dirty="0"/>
          </a:p>
        </p:txBody>
      </p:sp>
      <p:sp>
        <p:nvSpPr>
          <p:cNvPr id="14" name="Shape 8"/>
          <p:cNvSpPr/>
          <p:nvPr/>
        </p:nvSpPr>
        <p:spPr>
          <a:xfrm>
            <a:off x="7974940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6A02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5" name="Image 4" descr="/home/claude/work/icons/award_F6A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532" y="4471416"/>
            <a:ext cx="310896" cy="3108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41868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Summer Challenge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0" y="6291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2026</a:t>
            </a:r>
            <a:endParaRPr lang="fr-FR" sz="1100" noProof="0" dirty="0"/>
          </a:p>
        </p:txBody>
      </p:sp>
      <p:sp>
        <p:nvSpPr>
          <p:cNvPr id="18" name="Text 11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704D3E4F-25A2-42FD-9C82-F3596BC190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4048" y="735480"/>
            <a:ext cx="723600" cy="72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allons voir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667512" y="1764792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7" name="Image 1" descr="/home/claude/wor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60020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074920" y="1600200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2496312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Shape 7"/>
          <p:cNvSpPr/>
          <p:nvPr/>
        </p:nvSpPr>
        <p:spPr>
          <a:xfrm>
            <a:off x="667512" y="2660904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2" name="Image 2" descr="/home/claude/work/icons/briefc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2491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49631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du projet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074920" y="2496312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02920" y="3392424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6" name="Shape 11"/>
          <p:cNvSpPr/>
          <p:nvPr/>
        </p:nvSpPr>
        <p:spPr>
          <a:xfrm>
            <a:off x="667512" y="3557016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7" name="Image 3" descr="/home/claude/work/icons/bar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2102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39242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074920" y="3392424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4288536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1" name="Shape 15"/>
          <p:cNvSpPr/>
          <p:nvPr/>
        </p:nvSpPr>
        <p:spPr>
          <a:xfrm>
            <a:off x="667512" y="4453128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2" name="Image 4" descr="/home/claude/work/icons/aler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17136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4288536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utilisateur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5074920" y="4288536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02920" y="5184648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6" name="Shape 19"/>
          <p:cNvSpPr/>
          <p:nvPr/>
        </p:nvSpPr>
        <p:spPr>
          <a:xfrm>
            <a:off x="667512" y="5349240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7" name="Image 5" descr="/home/claude/work/icons/us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413248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80160" y="518464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5074920" y="5184648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P.12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309360" y="1600200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1" name="Shape 23"/>
          <p:cNvSpPr/>
          <p:nvPr/>
        </p:nvSpPr>
        <p:spPr>
          <a:xfrm>
            <a:off x="6473952" y="1764792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2" name="Image 6" descr="/home/claude/work/icons/shield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1828800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86600" y="160020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KWISMO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10881360" y="1600200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P.17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6309360" y="2496312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6" name="Shape 27"/>
          <p:cNvSpPr/>
          <p:nvPr/>
        </p:nvSpPr>
        <p:spPr>
          <a:xfrm>
            <a:off x="6473952" y="2660904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7" name="Image 7" descr="/home/claude/work/icons/zap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2724912"/>
            <a:ext cx="329184" cy="3291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086600" y="249631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KWISMO apporte</a:t>
            </a:r>
            <a:endParaRPr lang="en-US" sz="1450" dirty="0"/>
          </a:p>
        </p:txBody>
      </p:sp>
      <p:sp>
        <p:nvSpPr>
          <p:cNvPr id="39" name="Text 29"/>
          <p:cNvSpPr/>
          <p:nvPr/>
        </p:nvSpPr>
        <p:spPr>
          <a:xfrm>
            <a:off x="10881360" y="2496312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P.19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6309360" y="3392424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1" name="Shape 31"/>
          <p:cNvSpPr/>
          <p:nvPr/>
        </p:nvSpPr>
        <p:spPr>
          <a:xfrm>
            <a:off x="6473952" y="3557016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42" name="Image 8" descr="/home/claude/work/icons/layers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621024"/>
            <a:ext cx="329184" cy="32918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086600" y="339242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fr-FR" sz="1450" noProof="0" dirty="0"/>
          </a:p>
        </p:txBody>
      </p:sp>
      <p:sp>
        <p:nvSpPr>
          <p:cNvPr id="44" name="Text 33"/>
          <p:cNvSpPr/>
          <p:nvPr/>
        </p:nvSpPr>
        <p:spPr>
          <a:xfrm>
            <a:off x="10881360" y="3392424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P.20</a:t>
            </a:r>
            <a:endParaRPr lang="en-US" sz="1300" dirty="0"/>
          </a:p>
        </p:txBody>
      </p:sp>
      <p:sp>
        <p:nvSpPr>
          <p:cNvPr id="45" name="Shape 34"/>
          <p:cNvSpPr/>
          <p:nvPr/>
        </p:nvSpPr>
        <p:spPr>
          <a:xfrm>
            <a:off x="6309360" y="4288536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6" name="Shape 35"/>
          <p:cNvSpPr/>
          <p:nvPr/>
        </p:nvSpPr>
        <p:spPr>
          <a:xfrm>
            <a:off x="6473952" y="4453128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47" name="Image 9" descr="/home/claude/work/icons/package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4517136"/>
            <a:ext cx="329184" cy="329184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086600" y="4288536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attendus</a:t>
            </a:r>
            <a:endParaRPr lang="en-US" sz="1450" dirty="0"/>
          </a:p>
        </p:txBody>
      </p:sp>
      <p:sp>
        <p:nvSpPr>
          <p:cNvPr id="49" name="Text 37"/>
          <p:cNvSpPr/>
          <p:nvPr/>
        </p:nvSpPr>
        <p:spPr>
          <a:xfrm>
            <a:off x="10881360" y="4288536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P.23</a:t>
            </a:r>
            <a:endParaRPr lang="en-US" sz="1300" dirty="0"/>
          </a:p>
        </p:txBody>
      </p:sp>
      <p:sp>
        <p:nvSpPr>
          <p:cNvPr id="50" name="Shape 38"/>
          <p:cNvSpPr/>
          <p:nvPr/>
        </p:nvSpPr>
        <p:spPr>
          <a:xfrm>
            <a:off x="6309360" y="5184648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1" name="Shape 39"/>
          <p:cNvSpPr/>
          <p:nvPr/>
        </p:nvSpPr>
        <p:spPr>
          <a:xfrm>
            <a:off x="6473952" y="5349240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52" name="Image 10" descr="/home/claude/work/icons/calendar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5413248"/>
            <a:ext cx="329184" cy="329184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7086600" y="518464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450" dirty="0"/>
          </a:p>
        </p:txBody>
      </p:sp>
      <p:sp>
        <p:nvSpPr>
          <p:cNvPr id="54" name="Text 41"/>
          <p:cNvSpPr/>
          <p:nvPr/>
        </p:nvSpPr>
        <p:spPr>
          <a:xfrm>
            <a:off x="10881360" y="5184648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P.25</a:t>
            </a:r>
            <a:endParaRPr lang="en-US" sz="1300" dirty="0"/>
          </a:p>
        </p:txBody>
      </p:sp>
      <p:sp>
        <p:nvSpPr>
          <p:cNvPr id="55" name="Text 4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SOMMES-NOUS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L'équipe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talents de l'équipe SAFESEND, réunis autour d'une seule mission : protéger les utilisateurs Mobile Money.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SAFESEND — 6 talents, une seule mission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1783080" y="1764792"/>
            <a:ext cx="960120" cy="960120"/>
          </a:xfrm>
          <a:prstGeom prst="ellipse">
            <a:avLst/>
          </a:prstGeom>
          <a:solidFill>
            <a:srgbClr val="FF7900">
              <a:alpha val="18000"/>
            </a:srgbClr>
          </a:solidFill>
          <a:ln w="15875">
            <a:solidFill>
              <a:srgbClr val="FF79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7" name="Image 1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09" y="1956816"/>
            <a:ext cx="499262" cy="4992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Achonduh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777240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F7900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 6"/>
          <p:cNvSpPr/>
          <p:nvPr/>
        </p:nvSpPr>
        <p:spPr>
          <a:xfrm>
            <a:off x="822960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Porteur de projet &amp; Dev Backend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79392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2" name="Shape 8"/>
          <p:cNvSpPr/>
          <p:nvPr/>
        </p:nvSpPr>
        <p:spPr>
          <a:xfrm>
            <a:off x="5559552" y="1764792"/>
            <a:ext cx="960120" cy="960120"/>
          </a:xfrm>
          <a:prstGeom prst="ellipse">
            <a:avLst/>
          </a:prstGeom>
          <a:solidFill>
            <a:srgbClr val="4D6AB1">
              <a:alpha val="18000"/>
            </a:srgbClr>
          </a:solidFill>
          <a:ln w="15875">
            <a:solidFill>
              <a:srgbClr val="4D6AB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3" name="Image 2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1" y="1956816"/>
            <a:ext cx="499262" cy="4992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16552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Brayan Weko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553712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6" name="Text 11"/>
          <p:cNvSpPr/>
          <p:nvPr/>
        </p:nvSpPr>
        <p:spPr>
          <a:xfrm>
            <a:off x="4599432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d'équipe &amp; Dev Mobile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55864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8" name="Shape 13"/>
          <p:cNvSpPr/>
          <p:nvPr/>
        </p:nvSpPr>
        <p:spPr>
          <a:xfrm>
            <a:off x="9336024" y="1764792"/>
            <a:ext cx="960120" cy="960120"/>
          </a:xfrm>
          <a:prstGeom prst="ellipse">
            <a:avLst/>
          </a:prstGeom>
          <a:solidFill>
            <a:srgbClr val="F6A020">
              <a:alpha val="18000"/>
            </a:srgbClr>
          </a:solidFill>
          <a:ln w="15875">
            <a:solidFill>
              <a:srgbClr val="F6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9" name="Image 3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453" y="1956816"/>
            <a:ext cx="499262" cy="4992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93024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Ingrid Gabin Mboutie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8330184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6A020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2" name="Text 16"/>
          <p:cNvSpPr/>
          <p:nvPr/>
        </p:nvSpPr>
        <p:spPr>
          <a:xfrm>
            <a:off x="8375904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UI / UX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Shape 18"/>
          <p:cNvSpPr/>
          <p:nvPr/>
        </p:nvSpPr>
        <p:spPr>
          <a:xfrm>
            <a:off x="1783080" y="4352544"/>
            <a:ext cx="960120" cy="960120"/>
          </a:xfrm>
          <a:prstGeom prst="ellipse">
            <a:avLst/>
          </a:prstGeom>
          <a:solidFill>
            <a:srgbClr val="4D6AB1">
              <a:alpha val="18000"/>
            </a:srgbClr>
          </a:solidFill>
          <a:ln w="15875">
            <a:solidFill>
              <a:srgbClr val="4D6AB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5" name="Image 4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09" y="4544568"/>
            <a:ext cx="499262" cy="4992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Lumière Bothe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777240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8" name="Text 21"/>
          <p:cNvSpPr/>
          <p:nvPr/>
        </p:nvSpPr>
        <p:spPr>
          <a:xfrm>
            <a:off x="822960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Développeuse Web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279392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0" name="Shape 23"/>
          <p:cNvSpPr/>
          <p:nvPr/>
        </p:nvSpPr>
        <p:spPr>
          <a:xfrm>
            <a:off x="5559552" y="4352544"/>
            <a:ext cx="960120" cy="960120"/>
          </a:xfrm>
          <a:prstGeom prst="ellipse">
            <a:avLst/>
          </a:prstGeom>
          <a:solidFill>
            <a:srgbClr val="FF7900">
              <a:alpha val="18000"/>
            </a:srgbClr>
          </a:solidFill>
          <a:ln w="15875">
            <a:solidFill>
              <a:srgbClr val="FF79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31" name="Image 5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1" y="4544568"/>
            <a:ext cx="499262" cy="4992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16552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Leal Braël Tido Keubou</a:t>
            </a:r>
            <a:endParaRPr lang="en-US" sz="1450" dirty="0"/>
          </a:p>
        </p:txBody>
      </p:sp>
      <p:sp>
        <p:nvSpPr>
          <p:cNvPr id="33" name="Shape 25"/>
          <p:cNvSpPr/>
          <p:nvPr/>
        </p:nvSpPr>
        <p:spPr>
          <a:xfrm>
            <a:off x="4553712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F7900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4" name="Text 26"/>
          <p:cNvSpPr/>
          <p:nvPr/>
        </p:nvSpPr>
        <p:spPr>
          <a:xfrm>
            <a:off x="4599432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Intelligence Artificielle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055864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6" name="Shape 28"/>
          <p:cNvSpPr/>
          <p:nvPr/>
        </p:nvSpPr>
        <p:spPr>
          <a:xfrm>
            <a:off x="9336024" y="4352544"/>
            <a:ext cx="960120" cy="960120"/>
          </a:xfrm>
          <a:prstGeom prst="ellipse">
            <a:avLst/>
          </a:prstGeom>
          <a:solidFill>
            <a:srgbClr val="4D6AB1">
              <a:alpha val="18000"/>
            </a:srgbClr>
          </a:solidFill>
          <a:ln w="15875">
            <a:solidFill>
              <a:srgbClr val="4D6AB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37" name="Image 6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453" y="4544568"/>
            <a:ext cx="499262" cy="49926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193024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Sonia Tchakounte Nana</a:t>
            </a:r>
            <a:endParaRPr lang="en-US" sz="1450" dirty="0"/>
          </a:p>
        </p:txBody>
      </p:sp>
      <p:sp>
        <p:nvSpPr>
          <p:cNvPr id="39" name="Shape 30"/>
          <p:cNvSpPr/>
          <p:nvPr/>
        </p:nvSpPr>
        <p:spPr>
          <a:xfrm>
            <a:off x="8330184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0" name="Text 31"/>
          <p:cNvSpPr/>
          <p:nvPr/>
        </p:nvSpPr>
        <p:spPr>
          <a:xfrm>
            <a:off x="8375904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Intelligence Artificielle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INSTITUTIONNEL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Cadre du projet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porté avec Orange Digital Center, dans le cadre de l'Orange Summer Challenge.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briefc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DU PROJET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projet porté avec Orange Digital Center</a:t>
            </a:r>
            <a:endParaRPr lang="fr-FR" sz="2800" noProof="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795528" y="1801368"/>
            <a:ext cx="566928" cy="566928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7" name="Image 1" descr="/home/claude/work/icons/briefc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98" y="1880738"/>
            <a:ext cx="408188" cy="408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01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554480" y="2039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Orange Digital Center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95528" y="265176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soutien de l'Orange Digital Center, qui accompagne les équipes dans le développement de solutions innovantes.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16752" y="15087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2" name="Shape 8"/>
          <p:cNvSpPr/>
          <p:nvPr/>
        </p:nvSpPr>
        <p:spPr>
          <a:xfrm>
            <a:off x="6309360" y="1801368"/>
            <a:ext cx="566928" cy="566928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3" name="Image 2" descr="/home/claude/work/icons/aw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730" y="1880738"/>
            <a:ext cx="408188" cy="408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68312" y="1801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068312" y="2039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Orange Summer Challenge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309360" y="265176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d'accompagnement à l'innovation, du cadrage jusqu'à la démonstration finale.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" y="3977640"/>
            <a:ext cx="10771632" cy="2148840"/>
          </a:xfrm>
          <a:prstGeom prst="roundRect">
            <a:avLst>
              <a:gd name="adj" fmla="val 486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8" name="Shape 13"/>
          <p:cNvSpPr/>
          <p:nvPr/>
        </p:nvSpPr>
        <p:spPr>
          <a:xfrm>
            <a:off x="795528" y="4270248"/>
            <a:ext cx="566928" cy="566928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9" name="Image 3" descr="/home/claude/work/icons/targe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98" y="4349618"/>
            <a:ext cx="408188" cy="4081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CE DOCUMENT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95528" y="5135336"/>
            <a:ext cx="10186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Rassembler contexte, problème, personas, solution, positionnement, livrables et planification en un seul document de référence pour l'équipe et le partenaire.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E0AB4EF-632C-729B-DE5B-8742848DCED2}"/>
              </a:ext>
            </a:extLst>
          </p:cNvPr>
          <p:cNvSpPr/>
          <p:nvPr/>
        </p:nvSpPr>
        <p:spPr>
          <a:xfrm>
            <a:off x="1554480" y="45171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Présentation du projet</a:t>
            </a:r>
            <a:endParaRPr lang="fr-FR" sz="18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Contexte &amp; étude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marché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cybercriminalité et la fraude Mobile Money progressent plus vite que les réponses apportées au Cameroun.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bar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cybercriminalité au Cameroun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502920" y="1527048"/>
            <a:ext cx="54864" cy="156362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58952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32 500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58952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réquisitions judiciaires traitées par l'ANTIC en 2025 (+30% vs 2024)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27832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Shape 7"/>
          <p:cNvSpPr/>
          <p:nvPr/>
        </p:nvSpPr>
        <p:spPr>
          <a:xfrm>
            <a:off x="3227832" y="1527048"/>
            <a:ext cx="54864" cy="156362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Text 8"/>
          <p:cNvSpPr/>
          <p:nvPr/>
        </p:nvSpPr>
        <p:spPr>
          <a:xfrm>
            <a:off x="3483864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8 502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483864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techniques détectées depuis janvier 2024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52744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Shape 11"/>
          <p:cNvSpPr/>
          <p:nvPr/>
        </p:nvSpPr>
        <p:spPr>
          <a:xfrm>
            <a:off x="5952744" y="1527048"/>
            <a:ext cx="54864" cy="156362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2"/>
          <p:cNvSpPr/>
          <p:nvPr/>
        </p:nvSpPr>
        <p:spPr>
          <a:xfrm>
            <a:off x="6208776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1,027 Md FCFA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208776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perdus en 2025 à cause des arnaques en ligne — MINPOSTEL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77656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8" name="Shape 15"/>
          <p:cNvSpPr/>
          <p:nvPr/>
        </p:nvSpPr>
        <p:spPr>
          <a:xfrm>
            <a:off x="8677656" y="1527048"/>
            <a:ext cx="54864" cy="156362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9" name="Text 16"/>
          <p:cNvSpPr/>
          <p:nvPr/>
        </p:nvSpPr>
        <p:spPr>
          <a:xfrm>
            <a:off x="8933688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+30%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933688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hausse annuelle des sollicitations judiciaires liées au numérique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3429000"/>
            <a:ext cx="1071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cybercriminalité ne se limite plus aux attaques techniques : elle s'étend aux escroqueries qui exploitent directement la confiance des utilisateurs Mobile Money.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4251960"/>
            <a:ext cx="10716768" cy="1691640"/>
          </a:xfrm>
          <a:prstGeom prst="roundRect">
            <a:avLst>
              <a:gd name="adj" fmla="val 486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3" name="Shape 20"/>
          <p:cNvSpPr/>
          <p:nvPr/>
        </p:nvSpPr>
        <p:spPr>
          <a:xfrm>
            <a:off x="795528" y="4754880"/>
            <a:ext cx="685800" cy="6858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4" name="Image 1" descr="/home/claude/work/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28" y="4831124"/>
            <a:ext cx="468000" cy="468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737360" y="4753080"/>
            <a:ext cx="9052560" cy="68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45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de la lutte reste concentré sur la réponse judiciaire a posteriori — peu d'outils protègent l'utilisateur après une arnaque et encore moins au moment précis où celle-ci se produit.</a:t>
            </a:r>
            <a:endParaRPr lang="fr-FR" sz="1450" noProof="0" dirty="0"/>
          </a:p>
        </p:txBody>
      </p:sp>
      <p:sp>
        <p:nvSpPr>
          <p:cNvPr id="26" name="Text 2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fraude Mobile Money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3600000" cy="1463040"/>
          </a:xfrm>
          <a:prstGeom prst="roundRect">
            <a:avLst>
              <a:gd name="adj" fmla="val 562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502920" y="1481328"/>
            <a:ext cx="54864" cy="142646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58952" y="16276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M+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58952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actifs Mobile Money au Cameroun (2025)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89906" y="1463040"/>
            <a:ext cx="3600000" cy="1463040"/>
          </a:xfrm>
          <a:prstGeom prst="roundRect">
            <a:avLst>
              <a:gd name="adj" fmla="val 562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Shape 7"/>
          <p:cNvSpPr/>
          <p:nvPr/>
        </p:nvSpPr>
        <p:spPr>
          <a:xfrm>
            <a:off x="4289906" y="1481328"/>
            <a:ext cx="54864" cy="142646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Text 8"/>
          <p:cNvSpPr/>
          <p:nvPr/>
        </p:nvSpPr>
        <p:spPr>
          <a:xfrm>
            <a:off x="4545938" y="1627632"/>
            <a:ext cx="30975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22 137 Md FCFA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45938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transactions Mobile Money en zone CEMAC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76891" y="1463040"/>
            <a:ext cx="3600000" cy="1463040"/>
          </a:xfrm>
          <a:prstGeom prst="roundRect">
            <a:avLst>
              <a:gd name="adj" fmla="val 562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Shape 11"/>
          <p:cNvSpPr/>
          <p:nvPr/>
        </p:nvSpPr>
        <p:spPr>
          <a:xfrm>
            <a:off x="8076893" y="1481328"/>
            <a:ext cx="54864" cy="142646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2"/>
          <p:cNvSpPr/>
          <p:nvPr/>
        </p:nvSpPr>
        <p:spPr>
          <a:xfrm>
            <a:off x="8332925" y="16276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+28%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332925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hausse des fraudes sur paiements mobiles en 2026 — BEAC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120" noProof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 DE LA FRAUDE — MOBILE MONEY</a:t>
            </a:r>
            <a:endParaRPr lang="fr-FR" sz="1100" noProof="0" dirty="0"/>
          </a:p>
        </p:txBody>
      </p:sp>
      <p:sp>
        <p:nvSpPr>
          <p:cNvPr id="18" name="Text 15"/>
          <p:cNvSpPr/>
          <p:nvPr/>
        </p:nvSpPr>
        <p:spPr>
          <a:xfrm>
            <a:off x="50292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 sociale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971800" y="370332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0" name="Shape 17"/>
          <p:cNvSpPr/>
          <p:nvPr/>
        </p:nvSpPr>
        <p:spPr>
          <a:xfrm>
            <a:off x="2971800" y="3703320"/>
            <a:ext cx="2386584" cy="237744"/>
          </a:xfrm>
          <a:prstGeom prst="roundRect">
            <a:avLst>
              <a:gd name="adj" fmla="val 19231"/>
            </a:avLst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1" name="Text 18"/>
          <p:cNvSpPr/>
          <p:nvPr/>
        </p:nvSpPr>
        <p:spPr>
          <a:xfrm>
            <a:off x="5806440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Failles techniques</a:t>
            </a:r>
            <a:endParaRPr lang="fr-FR" sz="1250" noProof="0" dirty="0"/>
          </a:p>
        </p:txBody>
      </p:sp>
      <p:sp>
        <p:nvSpPr>
          <p:cNvPr id="23" name="Shape 20"/>
          <p:cNvSpPr/>
          <p:nvPr/>
        </p:nvSpPr>
        <p:spPr>
          <a:xfrm>
            <a:off x="2971800" y="420624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Shape 21"/>
          <p:cNvSpPr/>
          <p:nvPr/>
        </p:nvSpPr>
        <p:spPr>
          <a:xfrm>
            <a:off x="2971800" y="4206240"/>
            <a:ext cx="246888" cy="237744"/>
          </a:xfrm>
          <a:prstGeom prst="roundRect">
            <a:avLst>
              <a:gd name="adj" fmla="val 19231"/>
            </a:avLst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5" name="Text 22"/>
          <p:cNvSpPr/>
          <p:nvPr/>
        </p:nvSpPr>
        <p:spPr>
          <a:xfrm>
            <a:off x="5806440" y="4160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292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2971800" y="470916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8" name="Shape 25"/>
          <p:cNvSpPr/>
          <p:nvPr/>
        </p:nvSpPr>
        <p:spPr>
          <a:xfrm>
            <a:off x="2971800" y="4709160"/>
            <a:ext cx="109728" cy="237744"/>
          </a:xfrm>
          <a:prstGeom prst="roundRect">
            <a:avLst>
              <a:gd name="adj" fmla="val 41667"/>
            </a:avLst>
          </a:prstGeom>
          <a:solidFill>
            <a:srgbClr val="8891A3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9" name="Text 26"/>
          <p:cNvSpPr/>
          <p:nvPr/>
        </p:nvSpPr>
        <p:spPr>
          <a:xfrm>
            <a:off x="580644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720840" y="3246120"/>
            <a:ext cx="4983480" cy="2880360"/>
          </a:xfrm>
          <a:prstGeom prst="roundRect">
            <a:avLst>
              <a:gd name="adj" fmla="val 2857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1" name="Text 28"/>
          <p:cNvSpPr/>
          <p:nvPr/>
        </p:nvSpPr>
        <p:spPr>
          <a:xfrm>
            <a:off x="7040880" y="35021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7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87%</a:t>
            </a:r>
            <a:endParaRPr lang="en-US" sz="4600" dirty="0"/>
          </a:p>
        </p:txBody>
      </p:sp>
      <p:sp>
        <p:nvSpPr>
          <p:cNvPr id="32" name="Text 29"/>
          <p:cNvSpPr/>
          <p:nvPr/>
        </p:nvSpPr>
        <p:spPr>
          <a:xfrm>
            <a:off x="7040880" y="43434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fr-FR" sz="130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fraudes proviennent de l'ingénierie sociale : une manipulation humaine réussie, plus qu'une faille technique.</a:t>
            </a:r>
            <a:endParaRPr lang="fr-FR" sz="1300" noProof="0" dirty="0"/>
          </a:p>
        </p:txBody>
      </p:sp>
      <p:sp>
        <p:nvSpPr>
          <p:cNvPr id="33" name="Shape 30"/>
          <p:cNvSpPr/>
          <p:nvPr/>
        </p:nvSpPr>
        <p:spPr>
          <a:xfrm>
            <a:off x="7040880" y="5184648"/>
            <a:ext cx="4343400" cy="0"/>
          </a:xfrm>
          <a:prstGeom prst="line">
            <a:avLst/>
          </a:prstGeom>
          <a:noFill/>
          <a:ln w="9525">
            <a:solidFill>
              <a:srgbClr val="8891A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4" name="Text 31"/>
          <p:cNvSpPr/>
          <p:nvPr/>
        </p:nvSpPr>
        <p:spPr>
          <a:xfrm>
            <a:off x="7040880" y="5349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fr-FR" sz="1150" noProof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10 000+ plaintes de fraude par an chez un opérateur majeur  ·  90 000 clients sensibilisés</a:t>
            </a:r>
            <a:endParaRPr lang="fr-FR" sz="1150" noProof="0" dirty="0"/>
          </a:p>
        </p:txBody>
      </p:sp>
      <p:sp>
        <p:nvSpPr>
          <p:cNvPr id="35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L'ANGLE MORT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problème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utilisateur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vide critique s'ouvre au moment précis où l'utilisateur est le plus vulnérable — pendant l'appel frauduleux.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vide au moment précis où l'utilisateur</a:t>
            </a:r>
            <a:endParaRPr lang="fr-FR" sz="2400" noProof="0" dirty="0"/>
          </a:p>
          <a:p>
            <a:pPr marL="0" indent="0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 vulnérable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502920" y="16276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EXISTE AUJOURD'HUI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09360" y="16276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MANQUE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8" name="Shape 5"/>
          <p:cNvSpPr/>
          <p:nvPr/>
        </p:nvSpPr>
        <p:spPr>
          <a:xfrm>
            <a:off x="658368" y="2194560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9" name="Image 1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2585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9659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après incident (USSD, WhatsApp, hotline)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196596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" name="Shape 8"/>
          <p:cNvSpPr/>
          <p:nvPr/>
        </p:nvSpPr>
        <p:spPr>
          <a:xfrm>
            <a:off x="6464808" y="2194560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3" name="Image 2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22585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1965960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en temps réel pendant l'appel entrant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2920" y="2953512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6" name="Shape 11"/>
          <p:cNvSpPr/>
          <p:nvPr/>
        </p:nvSpPr>
        <p:spPr>
          <a:xfrm>
            <a:off x="658368" y="3182112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7" name="Image 3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24612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295351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générique par SMS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309360" y="2953512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0" name="Shape 14"/>
          <p:cNvSpPr/>
          <p:nvPr/>
        </p:nvSpPr>
        <p:spPr>
          <a:xfrm>
            <a:off x="6464808" y="3182112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1" name="Image 4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2953512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contextualisée aux scripts d'arnaque locaux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02920" y="3941064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Shape 17"/>
          <p:cNvSpPr/>
          <p:nvPr/>
        </p:nvSpPr>
        <p:spPr>
          <a:xfrm>
            <a:off x="658368" y="4169664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5" name="Image 5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233672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80160" y="394106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renforcée côté transaction (biométrie, QR)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309360" y="3941064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8" name="Shape 20"/>
          <p:cNvSpPr/>
          <p:nvPr/>
        </p:nvSpPr>
        <p:spPr>
          <a:xfrm>
            <a:off x="6464808" y="4169664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9" name="Image 6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233672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86600" y="3941064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appel suspect + tentative de transaction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502920" y="4928616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2" name="Shape 23"/>
          <p:cNvSpPr/>
          <p:nvPr/>
        </p:nvSpPr>
        <p:spPr>
          <a:xfrm>
            <a:off x="658368" y="5157216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3" name="Image 7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221224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280160" y="492861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 blocage d'appel généralistes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6309360" y="4928616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6" name="Shape 26"/>
          <p:cNvSpPr/>
          <p:nvPr/>
        </p:nvSpPr>
        <p:spPr>
          <a:xfrm>
            <a:off x="6464808" y="5157216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7" name="Image 8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5221224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086600" y="4928616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locale, adaptée au contexte camerounais</a:t>
            </a:r>
            <a:endParaRPr lang="en-US" sz="1250" dirty="0"/>
          </a:p>
        </p:txBody>
      </p:sp>
      <p:sp>
        <p:nvSpPr>
          <p:cNvPr id="39" name="Text 28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TERRAIN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Quatres situations réelles de fraude vécues par des utilisateurs Mobile Money au Cameroun.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/home/claude/work/bg/bg_content.png">
            <a:extLst>
              <a:ext uri="{FF2B5EF4-FFF2-40B4-BE49-F238E27FC236}">
                <a16:creationId xmlns:a16="http://schemas.microsoft.com/office/drawing/2014/main" id="{06324108-5C0E-12C5-9750-5403B36C2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1ère situation réelle de fraude</a:t>
            </a:r>
            <a:endParaRPr lang="fr-FR" sz="2800" noProof="0" dirty="0"/>
          </a:p>
        </p:txBody>
      </p:sp>
      <p:sp>
        <p:nvSpPr>
          <p:cNvPr id="38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42BD6154-C855-6CAF-BAAC-326CE914E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7104"/>
            <a:ext cx="9279999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B5B40-56FA-D487-7213-38F5830AB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/home/claude/work/bg/bg_content.png">
            <a:extLst>
              <a:ext uri="{FF2B5EF4-FFF2-40B4-BE49-F238E27FC236}">
                <a16:creationId xmlns:a16="http://schemas.microsoft.com/office/drawing/2014/main" id="{182BDDD3-401A-C4B5-8D92-CBE020665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C691BD3-46FE-9645-EF65-A0C6228B0D8D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CAC12CE-A145-D035-8272-B4C11711C3DA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r>
              <a:rPr lang="fr-FR" sz="2800" b="1" noProof="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ème</a:t>
            </a: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situation réelle de fraude</a:t>
            </a:r>
            <a:endParaRPr lang="fr-FR" sz="2800" noProof="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0F063FEE-F9E6-A539-2713-0565D6B9A687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4B872D9-D05C-8F8D-93B8-861A2A6D2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7104"/>
            <a:ext cx="9280000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95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19A72-17B3-C025-905B-3C34D4B29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/home/claude/work/bg/bg_content.png">
            <a:extLst>
              <a:ext uri="{FF2B5EF4-FFF2-40B4-BE49-F238E27FC236}">
                <a16:creationId xmlns:a16="http://schemas.microsoft.com/office/drawing/2014/main" id="{DC9010E6-39B9-DD23-ECAD-9B956B8AF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DD13120-C4A4-7885-0797-6449CECF7F9C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23B43A6-5331-F7C4-72D6-8D174DFD7165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3ème</a:t>
            </a: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situation réelle de fraude</a:t>
            </a:r>
            <a:endParaRPr lang="fr-FR" sz="2800" noProof="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C631A83D-F066-8232-B39E-4FA5B74E7413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1AABCF9-270A-F80D-F9A9-AF3F999EF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7104"/>
            <a:ext cx="9280000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17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54BFE-4971-92C1-1D63-1DAFBCFD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/home/claude/work/bg/bg_content.png">
            <a:extLst>
              <a:ext uri="{FF2B5EF4-FFF2-40B4-BE49-F238E27FC236}">
                <a16:creationId xmlns:a16="http://schemas.microsoft.com/office/drawing/2014/main" id="{1F127983-B707-5B3A-4A08-10C549B8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036EFB3-4BD0-D921-A73C-05651D9D8D5F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8DB4C0F-6B70-BE06-F4E0-3A0C312FA054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4ème</a:t>
            </a: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situation réelle de fraude</a:t>
            </a:r>
            <a:endParaRPr lang="fr-FR" sz="2800" noProof="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32D8C756-E0D6-6F01-09E5-F7900607543F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129523-38C5-1DE4-7BB4-B3169FA26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7104"/>
            <a:ext cx="9280000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45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solution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intelligente de prévention contre la fraude Mobile Money, avant, pendant et après l'appel.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intelligente de prévention contre la fraude Mobile Money, propulsée par l'intelligence communautaire et l'IA.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795528" y="2423160"/>
            <a:ext cx="640080" cy="64008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/home/claude/work/icons/smart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2512771"/>
            <a:ext cx="460858" cy="4608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528" y="3200400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mobile autonome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95528" y="3611880"/>
            <a:ext cx="4581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Téléchargeable, elle détecte les appels suspects, permet le signalement communautaire et alerte en temps réel.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25312" y="21488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6217920" y="2423160"/>
            <a:ext cx="640080" cy="640080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/home/claude/work/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531" y="2512771"/>
            <a:ext cx="460858" cy="4608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3200400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Mini-application intégrée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217920" y="3611880"/>
            <a:ext cx="4581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 comme « Centre de Sécurité » d'un super-app opérateur (ex. Max it) : alerte native, sans installation.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4800600"/>
            <a:ext cx="10607040" cy="1371600"/>
          </a:xfrm>
          <a:prstGeom prst="roundRect">
            <a:avLst>
              <a:gd name="adj" fmla="val 6000"/>
            </a:avLst>
          </a:prstGeom>
          <a:solidFill>
            <a:srgbClr val="232C42"/>
          </a:solidFill>
          <a:ln w="952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795528" y="5184648"/>
            <a:ext cx="566928" cy="566928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/home/claude/work/icons/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98" y="5264018"/>
            <a:ext cx="408188" cy="4081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50566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ambition : devenir l'infrastructure africaine de référence pour la protection contre la fraude Mobile Money.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AJOUTÉE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KWISMO apporte concrètement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85800" y="1655064"/>
            <a:ext cx="512064" cy="512064"/>
          </a:xfrm>
          <a:prstGeom prst="ellipse">
            <a:avLst/>
          </a:prstGeom>
          <a:solidFill>
            <a:srgbClr val="FF7900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work/icons/z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89" y="1726753"/>
            <a:ext cx="368686" cy="3686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46304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préventive en temps réel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074920" y="1600200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5349240" y="1463040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que l'utilisateur ne soit piégé — pas un simple signalement après coup.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2414016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685800" y="2606040"/>
            <a:ext cx="512064" cy="512064"/>
          </a:xfrm>
          <a:prstGeom prst="ellipse">
            <a:avLst/>
          </a:prstGeom>
          <a:solidFill>
            <a:srgbClr val="4D6AB1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/home/claude/work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89" y="2677729"/>
            <a:ext cx="368686" cy="3686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414016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communautaire locale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074920" y="2551176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/>
          <p:nvPr/>
        </p:nvSpPr>
        <p:spPr>
          <a:xfrm>
            <a:off x="5349240" y="2414016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de renseignement alimentée par les signalements des utilisateurs.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" y="3364992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685800" y="3557016"/>
            <a:ext cx="512064" cy="512064"/>
          </a:xfrm>
          <a:prstGeom prst="ellipse">
            <a:avLst/>
          </a:prstGeom>
          <a:solidFill>
            <a:srgbClr val="FF7900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/home/claude/work/icons/checkcirc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489" y="3628705"/>
            <a:ext cx="368686" cy="36868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364992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avant transaction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074920" y="3502152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5349240" y="3364992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réputation d'un numéro est contrôlée avant toute validation Mobile Money.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02920" y="4315968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685800" y="4507992"/>
            <a:ext cx="512064" cy="512064"/>
          </a:xfrm>
          <a:prstGeom prst="ellipse">
            <a:avLst/>
          </a:prstGeom>
          <a:solidFill>
            <a:srgbClr val="4D6AB1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4" descr="/home/claude/work/icons/messag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489" y="4579681"/>
            <a:ext cx="368686" cy="36868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4315968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étendue à WhatsApp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5074920" y="4453128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1"/>
          <p:cNvSpPr/>
          <p:nvPr/>
        </p:nvSpPr>
        <p:spPr>
          <a:xfrm>
            <a:off x="5349240" y="4315968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fr-FR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</a:t>
            </a:r>
            <a:r>
              <a:rPr lang="fr-FR" sz="125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signalement de son contact comme compromis en cas de fraude sur WhatsApp.</a:t>
            </a:r>
            <a:endParaRPr lang="fr-FR" sz="1250" noProof="0" dirty="0"/>
          </a:p>
        </p:txBody>
      </p:sp>
      <p:sp>
        <p:nvSpPr>
          <p:cNvPr id="29" name="Shape 22"/>
          <p:cNvSpPr/>
          <p:nvPr/>
        </p:nvSpPr>
        <p:spPr>
          <a:xfrm>
            <a:off x="502920" y="5266944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685800" y="5458968"/>
            <a:ext cx="512064" cy="512064"/>
          </a:xfrm>
          <a:prstGeom prst="ellipse">
            <a:avLst/>
          </a:prstGeom>
          <a:solidFill>
            <a:srgbClr val="FF7900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5" descr="/home/claude/work/icons/trending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489" y="5530657"/>
            <a:ext cx="368686" cy="3686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266944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évolutive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5074920" y="5404104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6"/>
          <p:cNvSpPr/>
          <p:nvPr/>
        </p:nvSpPr>
        <p:spPr>
          <a:xfrm>
            <a:off x="5349240" y="5266944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fiabilité de détection s'améliore en continu avec la communauté.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DIFFÉRENCIER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fr-FR" sz="46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Positionnement</a:t>
            </a:r>
            <a:endParaRPr lang="fr-FR" sz="4600" noProof="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50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Ceux avec quoi KWISMO se différencie par rapport à la concurrence.</a:t>
            </a:r>
            <a:endParaRPr lang="fr-FR" sz="1500" noProof="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 face à l'existant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1663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Truecaller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475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Whoscall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287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85800" y="18745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numéros</a:t>
            </a:r>
            <a:endParaRPr lang="en-US" sz="1200" dirty="0"/>
          </a:p>
        </p:txBody>
      </p:sp>
      <p:pic>
        <p:nvPicPr>
          <p:cNvPr id="12" name="Image 1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1965960"/>
            <a:ext cx="347472" cy="347472"/>
          </a:xfrm>
          <a:prstGeom prst="rect">
            <a:avLst/>
          </a:prstGeom>
        </p:spPr>
      </p:pic>
      <p:pic>
        <p:nvPicPr>
          <p:cNvPr id="13" name="Image 2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965960"/>
            <a:ext cx="347472" cy="347472"/>
          </a:xfrm>
          <a:prstGeom prst="rect">
            <a:avLst/>
          </a:prstGeom>
        </p:spPr>
      </p:pic>
      <p:pic>
        <p:nvPicPr>
          <p:cNvPr id="14" name="Image 3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1965960"/>
            <a:ext cx="347472" cy="34747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2920" y="2450592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0"/>
          <p:cNvSpPr/>
          <p:nvPr/>
        </p:nvSpPr>
        <p:spPr>
          <a:xfrm>
            <a:off x="685800" y="245059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transferts</a:t>
            </a:r>
            <a:endParaRPr lang="en-US" sz="1200" dirty="0"/>
          </a:p>
        </p:txBody>
      </p:sp>
      <p:pic>
        <p:nvPicPr>
          <p:cNvPr id="17" name="Image 4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2542032"/>
            <a:ext cx="347472" cy="347472"/>
          </a:xfrm>
          <a:prstGeom prst="rect">
            <a:avLst/>
          </a:prstGeom>
        </p:spPr>
      </p:pic>
      <p:pic>
        <p:nvPicPr>
          <p:cNvPr id="18" name="Image 5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2542032"/>
            <a:ext cx="347472" cy="347472"/>
          </a:xfrm>
          <a:prstGeom prst="rect">
            <a:avLst/>
          </a:prstGeom>
        </p:spPr>
      </p:pic>
      <p:pic>
        <p:nvPicPr>
          <p:cNvPr id="19" name="Image 6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2542032"/>
            <a:ext cx="347472" cy="347472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502920" y="3026664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2"/>
          <p:cNvSpPr/>
          <p:nvPr/>
        </p:nvSpPr>
        <p:spPr>
          <a:xfrm>
            <a:off x="685800" y="302666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de numéros</a:t>
            </a:r>
            <a:endParaRPr lang="en-US" sz="1200" dirty="0"/>
          </a:p>
        </p:txBody>
      </p:sp>
      <p:pic>
        <p:nvPicPr>
          <p:cNvPr id="22" name="Image 7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3118104"/>
            <a:ext cx="347472" cy="347472"/>
          </a:xfrm>
          <a:prstGeom prst="rect">
            <a:avLst/>
          </a:prstGeom>
        </p:spPr>
      </p:pic>
      <p:pic>
        <p:nvPicPr>
          <p:cNvPr id="23" name="Image 8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3118104"/>
            <a:ext cx="347472" cy="347472"/>
          </a:xfrm>
          <a:prstGeom prst="rect">
            <a:avLst/>
          </a:prstGeom>
        </p:spPr>
      </p:pic>
      <p:pic>
        <p:nvPicPr>
          <p:cNvPr id="24" name="Image 9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3118104"/>
            <a:ext cx="347472" cy="347472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502920" y="3602736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14"/>
          <p:cNvSpPr/>
          <p:nvPr/>
        </p:nvSpPr>
        <p:spPr>
          <a:xfrm>
            <a:off x="685800" y="360273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à tous les réseaux</a:t>
            </a:r>
            <a:endParaRPr lang="en-US" sz="1200" dirty="0"/>
          </a:p>
        </p:txBody>
      </p:sp>
      <p:pic>
        <p:nvPicPr>
          <p:cNvPr id="27" name="Image 10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3694176"/>
            <a:ext cx="347472" cy="347472"/>
          </a:xfrm>
          <a:prstGeom prst="rect">
            <a:avLst/>
          </a:prstGeom>
        </p:spPr>
      </p:pic>
      <p:pic>
        <p:nvPicPr>
          <p:cNvPr id="28" name="Image 11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3694176"/>
            <a:ext cx="347472" cy="347472"/>
          </a:xfrm>
          <a:prstGeom prst="rect">
            <a:avLst/>
          </a:prstGeom>
        </p:spPr>
      </p:pic>
      <p:pic>
        <p:nvPicPr>
          <p:cNvPr id="29" name="Image 12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3694176"/>
            <a:ext cx="347472" cy="347472"/>
          </a:xfrm>
          <a:prstGeom prst="rect">
            <a:avLst/>
          </a:prstGeom>
        </p:spPr>
      </p:pic>
      <p:sp>
        <p:nvSpPr>
          <p:cNvPr id="30" name="Shape 15"/>
          <p:cNvSpPr/>
          <p:nvPr/>
        </p:nvSpPr>
        <p:spPr>
          <a:xfrm>
            <a:off x="502920" y="4178808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16"/>
          <p:cNvSpPr/>
          <p:nvPr/>
        </p:nvSpPr>
        <p:spPr>
          <a:xfrm>
            <a:off x="685800" y="41788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WhatsApp</a:t>
            </a:r>
            <a:endParaRPr lang="en-US" sz="1200" dirty="0"/>
          </a:p>
        </p:txBody>
      </p:sp>
      <p:pic>
        <p:nvPicPr>
          <p:cNvPr id="32" name="Image 13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4270248"/>
            <a:ext cx="347472" cy="347472"/>
          </a:xfrm>
          <a:prstGeom prst="rect">
            <a:avLst/>
          </a:prstGeom>
        </p:spPr>
      </p:pic>
      <p:pic>
        <p:nvPicPr>
          <p:cNvPr id="33" name="Image 14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4270248"/>
            <a:ext cx="347472" cy="347472"/>
          </a:xfrm>
          <a:prstGeom prst="rect">
            <a:avLst/>
          </a:prstGeom>
        </p:spPr>
      </p:pic>
      <p:pic>
        <p:nvPicPr>
          <p:cNvPr id="34" name="Image 15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4270248"/>
            <a:ext cx="347472" cy="347472"/>
          </a:xfrm>
          <a:prstGeom prst="rect">
            <a:avLst/>
          </a:prstGeom>
        </p:spPr>
      </p:pic>
      <p:sp>
        <p:nvSpPr>
          <p:cNvPr id="35" name="Shape 17"/>
          <p:cNvSpPr/>
          <p:nvPr/>
        </p:nvSpPr>
        <p:spPr>
          <a:xfrm>
            <a:off x="502920" y="4754880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18"/>
          <p:cNvSpPr/>
          <p:nvPr/>
        </p:nvSpPr>
        <p:spPr>
          <a:xfrm>
            <a:off x="685800" y="475488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au grand public</a:t>
            </a:r>
            <a:endParaRPr lang="en-US" sz="1200" dirty="0"/>
          </a:p>
        </p:txBody>
      </p:sp>
      <p:pic>
        <p:nvPicPr>
          <p:cNvPr id="37" name="Image 16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4846320"/>
            <a:ext cx="347472" cy="347472"/>
          </a:xfrm>
          <a:prstGeom prst="rect">
            <a:avLst/>
          </a:prstGeom>
        </p:spPr>
      </p:pic>
      <p:pic>
        <p:nvPicPr>
          <p:cNvPr id="38" name="Image 17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846320"/>
            <a:ext cx="347472" cy="347472"/>
          </a:xfrm>
          <a:prstGeom prst="rect">
            <a:avLst/>
          </a:prstGeom>
        </p:spPr>
      </p:pic>
      <p:pic>
        <p:nvPicPr>
          <p:cNvPr id="39" name="Image 18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4846320"/>
            <a:ext cx="347472" cy="347472"/>
          </a:xfrm>
          <a:prstGeom prst="rect">
            <a:avLst/>
          </a:prstGeom>
        </p:spPr>
      </p:pic>
      <p:sp>
        <p:nvSpPr>
          <p:cNvPr id="40" name="Shape 19"/>
          <p:cNvSpPr/>
          <p:nvPr/>
        </p:nvSpPr>
        <p:spPr>
          <a:xfrm>
            <a:off x="502920" y="5468112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20"/>
          <p:cNvSpPr/>
          <p:nvPr/>
        </p:nvSpPr>
        <p:spPr>
          <a:xfrm>
            <a:off x="795528" y="5724144"/>
            <a:ext cx="530352" cy="530352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19" descr="/home/claude/work/icons/glob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777" y="5798393"/>
            <a:ext cx="381853" cy="381853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1508760" y="5725296"/>
            <a:ext cx="9418320" cy="5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 ne cherche pas à remplacer l'infrastructure de sécurité des opérateurs, mais à combler le vide laissé par les solutions existantes.</a:t>
            </a:r>
            <a:endParaRPr lang="en-US" sz="1300" b="1" dirty="0"/>
          </a:p>
        </p:txBody>
      </p:sp>
      <p:sp>
        <p:nvSpPr>
          <p:cNvPr id="44" name="Text 2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SERA PRODUIT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Livrables attendus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livrables majeurs : API, application mobile, site web et documentation complète.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packa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ATTENDUS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livrables majeurs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777240" y="1719072"/>
            <a:ext cx="566928" cy="566928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work/icons/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10" y="1798442"/>
            <a:ext cx="408188" cy="408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7190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d'analyse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508760" y="2011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numéros frauduleux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94358" y="2880360"/>
            <a:ext cx="1642262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594358" y="2880360"/>
            <a:ext cx="16422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numéros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346348" y="2880360"/>
            <a:ext cx="1267358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2346348" y="288036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IA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23435" y="2880360"/>
            <a:ext cx="1867205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3723435" y="2880360"/>
            <a:ext cx="18672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Swagger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25312" y="14630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199632" y="1719072"/>
            <a:ext cx="566928" cy="566928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/home/claude/work/icons/smartpho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002" y="1798442"/>
            <a:ext cx="408188" cy="4081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17190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mobile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931152" y="2011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99632" y="2880360"/>
            <a:ext cx="1567282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/>
          <p:nvPr/>
        </p:nvSpPr>
        <p:spPr>
          <a:xfrm>
            <a:off x="6199632" y="2880360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d'appel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876642" y="2880360"/>
            <a:ext cx="1567282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7876642" y="2880360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protégé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553651" y="2880360"/>
            <a:ext cx="1192378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1"/>
          <p:cNvSpPr/>
          <p:nvPr/>
        </p:nvSpPr>
        <p:spPr>
          <a:xfrm>
            <a:off x="9553651" y="2880360"/>
            <a:ext cx="119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OTP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02920" y="402336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777240" y="4279392"/>
            <a:ext cx="566928" cy="566928"/>
          </a:xfrm>
          <a:prstGeom prst="ellipse">
            <a:avLst/>
          </a:prstGeom>
          <a:solidFill>
            <a:srgbClr val="F6A020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3" descr="/home/claude/work/icons/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10" y="4358762"/>
            <a:ext cx="408188" cy="4081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08760" y="42793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web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1508760" y="4572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&amp; administration</a:t>
            </a:r>
            <a:endParaRPr lang="en-US" sz="1150" dirty="0"/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17260059-8708-89CB-3D9E-B4B55C459646}"/>
              </a:ext>
            </a:extLst>
          </p:cNvPr>
          <p:cNvGrpSpPr/>
          <p:nvPr/>
        </p:nvGrpSpPr>
        <p:grpSpPr>
          <a:xfrm>
            <a:off x="594358" y="5440680"/>
            <a:ext cx="1192378" cy="365760"/>
            <a:chOff x="594358" y="5440680"/>
            <a:chExt cx="1192378" cy="365760"/>
          </a:xfrm>
        </p:grpSpPr>
        <p:sp>
          <p:nvSpPr>
            <p:cNvPr id="32" name="Shape 26"/>
            <p:cNvSpPr/>
            <p:nvPr/>
          </p:nvSpPr>
          <p:spPr>
            <a:xfrm>
              <a:off x="594358" y="5440680"/>
              <a:ext cx="1192378" cy="365760"/>
            </a:xfrm>
            <a:prstGeom prst="roundRect">
              <a:avLst>
                <a:gd name="adj" fmla="val 50000"/>
              </a:avLst>
            </a:prstGeom>
            <a:solidFill>
              <a:srgbClr val="1F2739"/>
            </a:solidFill>
            <a:ln w="6350">
              <a:solidFill>
                <a:srgbClr val="F6A020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 27"/>
            <p:cNvSpPr/>
            <p:nvPr/>
          </p:nvSpPr>
          <p:spPr>
            <a:xfrm>
              <a:off x="594358" y="5440680"/>
              <a:ext cx="11923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Site vitrine</a:t>
              </a:r>
              <a:endParaRPr lang="en-US" sz="1000" dirty="0"/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C058C8AB-5CE3-2E7B-2620-9AD26CF1F35D}"/>
              </a:ext>
            </a:extLst>
          </p:cNvPr>
          <p:cNvGrpSpPr/>
          <p:nvPr/>
        </p:nvGrpSpPr>
        <p:grpSpPr>
          <a:xfrm>
            <a:off x="2308858" y="5440680"/>
            <a:ext cx="1192378" cy="365760"/>
            <a:chOff x="1896464" y="5440680"/>
            <a:chExt cx="1192378" cy="365760"/>
          </a:xfrm>
        </p:grpSpPr>
        <p:sp>
          <p:nvSpPr>
            <p:cNvPr id="34" name="Shape 28"/>
            <p:cNvSpPr/>
            <p:nvPr/>
          </p:nvSpPr>
          <p:spPr>
            <a:xfrm>
              <a:off x="1896464" y="5440680"/>
              <a:ext cx="1192378" cy="365760"/>
            </a:xfrm>
            <a:prstGeom prst="roundRect">
              <a:avLst>
                <a:gd name="adj" fmla="val 50000"/>
              </a:avLst>
            </a:prstGeom>
            <a:solidFill>
              <a:srgbClr val="1F2739"/>
            </a:solidFill>
            <a:ln w="6350">
              <a:solidFill>
                <a:srgbClr val="F6A020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 29"/>
            <p:cNvSpPr/>
            <p:nvPr/>
          </p:nvSpPr>
          <p:spPr>
            <a:xfrm>
              <a:off x="1896464" y="5440680"/>
              <a:ext cx="11923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Espace admin</a:t>
              </a:r>
              <a:endParaRPr lang="en-US" sz="1000" dirty="0"/>
            </a:p>
          </p:txBody>
        </p:sp>
      </p:grp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2A0F23C4-FF6B-66AC-0A44-2E28B3BC1FCA}"/>
              </a:ext>
            </a:extLst>
          </p:cNvPr>
          <p:cNvGrpSpPr/>
          <p:nvPr/>
        </p:nvGrpSpPr>
        <p:grpSpPr>
          <a:xfrm>
            <a:off x="4023358" y="5417820"/>
            <a:ext cx="1567282" cy="365760"/>
            <a:chOff x="4023358" y="5417820"/>
            <a:chExt cx="1567282" cy="365760"/>
          </a:xfrm>
        </p:grpSpPr>
        <p:sp>
          <p:nvSpPr>
            <p:cNvPr id="36" name="Shape 30"/>
            <p:cNvSpPr/>
            <p:nvPr/>
          </p:nvSpPr>
          <p:spPr>
            <a:xfrm>
              <a:off x="4023358" y="5417820"/>
              <a:ext cx="1567282" cy="365760"/>
            </a:xfrm>
            <a:prstGeom prst="roundRect">
              <a:avLst>
                <a:gd name="adj" fmla="val 50000"/>
              </a:avLst>
            </a:prstGeom>
            <a:solidFill>
              <a:srgbClr val="1F2739"/>
            </a:solidFill>
            <a:ln w="6350">
              <a:solidFill>
                <a:srgbClr val="F6A020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 31"/>
            <p:cNvSpPr/>
            <p:nvPr/>
          </p:nvSpPr>
          <p:spPr>
            <a:xfrm>
              <a:off x="4023358" y="5417820"/>
              <a:ext cx="156728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Espace partenaire</a:t>
              </a:r>
              <a:endParaRPr lang="en-US" sz="1000" dirty="0"/>
            </a:p>
          </p:txBody>
        </p:sp>
      </p:grpSp>
      <p:sp>
        <p:nvSpPr>
          <p:cNvPr id="38" name="Shape 32"/>
          <p:cNvSpPr/>
          <p:nvPr/>
        </p:nvSpPr>
        <p:spPr>
          <a:xfrm>
            <a:off x="5925312" y="402336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3"/>
          <p:cNvSpPr/>
          <p:nvPr/>
        </p:nvSpPr>
        <p:spPr>
          <a:xfrm>
            <a:off x="6199632" y="4279392"/>
            <a:ext cx="566928" cy="566928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4" descr="/home/claude/work/icons/filetex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9002" y="4358762"/>
            <a:ext cx="408188" cy="4081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931152" y="42793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Documentation</a:t>
            </a:r>
            <a:endParaRPr lang="en-US" sz="1550" dirty="0"/>
          </a:p>
        </p:txBody>
      </p:sp>
      <p:sp>
        <p:nvSpPr>
          <p:cNvPr id="42" name="Text 35"/>
          <p:cNvSpPr/>
          <p:nvPr/>
        </p:nvSpPr>
        <p:spPr>
          <a:xfrm>
            <a:off x="6931152" y="4572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claire et complète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6199632" y="54406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7"/>
          <p:cNvSpPr/>
          <p:nvPr/>
        </p:nvSpPr>
        <p:spPr>
          <a:xfrm>
            <a:off x="6199632" y="5440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(API)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7726680" y="5440680"/>
            <a:ext cx="1267358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39"/>
          <p:cNvSpPr/>
          <p:nvPr/>
        </p:nvSpPr>
        <p:spPr>
          <a:xfrm>
            <a:off x="7726680" y="544068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Fonctionnelle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9103766" y="5440680"/>
            <a:ext cx="1792224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1"/>
          <p:cNvSpPr/>
          <p:nvPr/>
        </p:nvSpPr>
        <p:spPr>
          <a:xfrm>
            <a:off x="9103766" y="54406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d'utilisation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FEUILLE DE ROUTE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Planification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50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sprints, du cadrage à la présentation finale du projet.</a:t>
            </a:r>
            <a:endParaRPr lang="fr-FR" sz="1500" noProof="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calend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sprints, du cadrage à la soutenance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863840" y="402336"/>
            <a:ext cx="3794760" cy="402336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/home/claude/work/icons/gitbranch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484632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6760" y="40233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détaillé : ClickUp · Planning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02920" y="1417320"/>
            <a:ext cx="10607040" cy="384048"/>
          </a:xfrm>
          <a:prstGeom prst="roundRect">
            <a:avLst>
              <a:gd name="adj" fmla="val 11905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640080" y="1417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057400" y="14173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6676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1801368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640080" y="180136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057400" y="180136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recherche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366760" y="18013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2221992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640080" y="22219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057400" y="222199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&amp; spécifications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366760" y="22219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2642616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40080" y="26426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2057400" y="264261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366760" y="26426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3063240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/>
          <p:nvPr/>
        </p:nvSpPr>
        <p:spPr>
          <a:xfrm>
            <a:off x="640080" y="30632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2057400" y="306324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UI/UX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8366760" y="3063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02920" y="3483864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640080" y="348386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2057400" y="348386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API v1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8366760" y="34838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5-6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02920" y="3904488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640080" y="39044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2057400" y="390448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app mobile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8366760" y="39044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6-7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502920" y="4325112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3"/>
          <p:cNvSpPr/>
          <p:nvPr/>
        </p:nvSpPr>
        <p:spPr>
          <a:xfrm>
            <a:off x="640080" y="43251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2057400" y="432511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IA / détection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8366760" y="43251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8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502920" y="4745736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7"/>
          <p:cNvSpPr/>
          <p:nvPr/>
        </p:nvSpPr>
        <p:spPr>
          <a:xfrm>
            <a:off x="640080" y="47457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2057400" y="474573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&amp; documentation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8366760" y="47457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9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502920" y="5166360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1"/>
          <p:cNvSpPr/>
          <p:nvPr/>
        </p:nvSpPr>
        <p:spPr>
          <a:xfrm>
            <a:off x="640080" y="51663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9</a:t>
            </a:r>
            <a:endParaRPr lang="en-US" sz="1150" dirty="0"/>
          </a:p>
        </p:txBody>
      </p:sp>
      <p:sp>
        <p:nvSpPr>
          <p:cNvPr id="46" name="Text 42"/>
          <p:cNvSpPr/>
          <p:nvPr/>
        </p:nvSpPr>
        <p:spPr>
          <a:xfrm>
            <a:off x="2057400" y="516636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QA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8366760" y="51663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10</a:t>
            </a:r>
            <a:endParaRPr lang="en-US" sz="1150" dirty="0"/>
          </a:p>
        </p:txBody>
      </p:sp>
      <p:sp>
        <p:nvSpPr>
          <p:cNvPr id="48" name="Shape 44"/>
          <p:cNvSpPr/>
          <p:nvPr/>
        </p:nvSpPr>
        <p:spPr>
          <a:xfrm>
            <a:off x="502920" y="5586984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5"/>
          <p:cNvSpPr/>
          <p:nvPr/>
        </p:nvSpPr>
        <p:spPr>
          <a:xfrm>
            <a:off x="640080" y="558698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2057400" y="558698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Correctifs &amp; polish</a:t>
            </a:r>
            <a:endParaRPr lang="en-US" sz="1150" dirty="0"/>
          </a:p>
        </p:txBody>
      </p:sp>
      <p:sp>
        <p:nvSpPr>
          <p:cNvPr id="51" name="Text 47"/>
          <p:cNvSpPr/>
          <p:nvPr/>
        </p:nvSpPr>
        <p:spPr>
          <a:xfrm>
            <a:off x="8366760" y="558698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11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502920" y="6007608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49"/>
          <p:cNvSpPr/>
          <p:nvPr/>
        </p:nvSpPr>
        <p:spPr>
          <a:xfrm>
            <a:off x="640080" y="60076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11</a:t>
            </a:r>
            <a:endParaRPr lang="en-US" sz="1150" dirty="0"/>
          </a:p>
        </p:txBody>
      </p:sp>
      <p:sp>
        <p:nvSpPr>
          <p:cNvPr id="54" name="Text 50"/>
          <p:cNvSpPr/>
          <p:nvPr/>
        </p:nvSpPr>
        <p:spPr>
          <a:xfrm>
            <a:off x="2057400" y="600760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présentation</a:t>
            </a:r>
            <a:endParaRPr lang="fr-FR" sz="1150" noProof="0" dirty="0"/>
          </a:p>
        </p:txBody>
      </p:sp>
      <p:sp>
        <p:nvSpPr>
          <p:cNvPr id="55" name="Text 51"/>
          <p:cNvSpPr/>
          <p:nvPr/>
        </p:nvSpPr>
        <p:spPr>
          <a:xfrm>
            <a:off x="8366760" y="60076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12</a:t>
            </a:r>
            <a:endParaRPr lang="en-US" sz="1150" dirty="0"/>
          </a:p>
        </p:txBody>
      </p:sp>
      <p:sp>
        <p:nvSpPr>
          <p:cNvPr id="56" name="Text 5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38648" y="1234440"/>
            <a:ext cx="914400" cy="914400"/>
          </a:xfrm>
          <a:prstGeom prst="ellipse">
            <a:avLst/>
          </a:prstGeom>
          <a:solidFill>
            <a:srgbClr val="FF7900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1"/>
          <p:cNvSpPr/>
          <p:nvPr/>
        </p:nvSpPr>
        <p:spPr>
          <a:xfrm>
            <a:off x="0" y="24231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Merci</a:t>
            </a:r>
            <a:endParaRPr lang="en-US" sz="5600" dirty="0"/>
          </a:p>
        </p:txBody>
      </p:sp>
      <p:sp>
        <p:nvSpPr>
          <p:cNvPr id="6" name="Text 2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 Discutons de la suite du projet.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1450696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2" descr="/home/claude/work/icons/users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288" y="4242816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17624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SAFESEND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632808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1" name="Image 3" descr="/home/claude/work/icons/briefcase_4D6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400" y="4242816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199736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7814920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6A02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4" descr="/home/claude/work/icons/award_F6A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9512" y="4242816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381848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Summer Challenge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320770C-CCD7-AB85-7254-995D502041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4048" y="1329840"/>
            <a:ext cx="723600" cy="72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1182</Words>
  <Application>Microsoft Office PowerPoint</Application>
  <PresentationFormat>Grand écran</PresentationFormat>
  <Paragraphs>294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Arial</vt:lpstr>
      <vt:lpstr>Calibri</vt:lpstr>
      <vt:lpstr>Montserrat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Brayan Weko</cp:lastModifiedBy>
  <cp:revision>9</cp:revision>
  <dcterms:created xsi:type="dcterms:W3CDTF">2026-08-04T22:27:39Z</dcterms:created>
  <dcterms:modified xsi:type="dcterms:W3CDTF">2026-08-05T18:05:58Z</dcterms:modified>
</cp:coreProperties>
</file>