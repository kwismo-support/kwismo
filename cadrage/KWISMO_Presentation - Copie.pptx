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2" r:id="rId15"/>
    <p:sldId id="281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8963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BB7CF-3D78-4E43-DE87-C958AFD04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97BF0B-056C-9851-4962-DE16269F1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2D231-60A6-57EF-B903-12513BBAC7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6DC7A-12F7-5CE5-73C8-A44897E6F6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90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A0AE-2CF9-9D89-6AF1-28101066B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44DF40-407B-B80C-DC36-29BCD7E43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B6F97-3B49-8390-F553-6CEA50B24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9D232-4EE5-7683-6B7A-869A211DAE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0146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11B58-3E98-A720-D261-D0BC79CA4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6617CF-76A0-BD76-4AFE-7123678F4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5174C3-F6C7-0AB9-2364-9CDDDBAB1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A35AD-8179-C69D-524B-5F20EE3F9A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2100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14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6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1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92928" y="594360"/>
            <a:ext cx="1005840" cy="1005840"/>
          </a:xfrm>
          <a:prstGeom prst="ellipse">
            <a:avLst/>
          </a:prstGeom>
          <a:solidFill>
            <a:srgbClr val="FF7900">
              <a:alpha val="22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5" name="Text 1"/>
          <p:cNvSpPr/>
          <p:nvPr/>
        </p:nvSpPr>
        <p:spPr>
          <a:xfrm>
            <a:off x="0" y="19659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6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CADRAGE DE PROJET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0" y="2377440"/>
            <a:ext cx="121916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</a:t>
            </a:r>
            <a:endParaRPr lang="en-US" sz="6600" dirty="0"/>
          </a:p>
        </p:txBody>
      </p:sp>
      <p:sp>
        <p:nvSpPr>
          <p:cNvPr id="7" name="Text 3"/>
          <p:cNvSpPr/>
          <p:nvPr/>
        </p:nvSpPr>
        <p:spPr>
          <a:xfrm>
            <a:off x="0" y="34290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anti-fraude Mobile Money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970636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9" name="Image 2" descr="/home/claude/work/icons/users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228" y="4471416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7564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SAFESEND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4472788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2" name="Image 3" descr="/home/claude/work/icons/briefcase_4D6A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7380" y="4471416"/>
            <a:ext cx="310896" cy="31089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039716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 Orange Digital Center</a:t>
            </a:r>
            <a:endParaRPr lang="fr-FR" sz="1250" noProof="0" dirty="0"/>
          </a:p>
        </p:txBody>
      </p:sp>
      <p:sp>
        <p:nvSpPr>
          <p:cNvPr id="14" name="Shape 8"/>
          <p:cNvSpPr/>
          <p:nvPr/>
        </p:nvSpPr>
        <p:spPr>
          <a:xfrm>
            <a:off x="7974940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F6A02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5" name="Image 4" descr="/home/claude/work/icons/award_F6A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532" y="4471416"/>
            <a:ext cx="310896" cy="31089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541868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Summer Challenge</a:t>
            </a:r>
            <a:endParaRPr lang="en-US" sz="1250" dirty="0"/>
          </a:p>
        </p:txBody>
      </p:sp>
      <p:sp>
        <p:nvSpPr>
          <p:cNvPr id="17" name="Text 10"/>
          <p:cNvSpPr/>
          <p:nvPr/>
        </p:nvSpPr>
        <p:spPr>
          <a:xfrm>
            <a:off x="0" y="629107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 2026</a:t>
            </a:r>
            <a:endParaRPr lang="fr-FR" sz="1100" noProof="0" dirty="0"/>
          </a:p>
        </p:txBody>
      </p:sp>
      <p:sp>
        <p:nvSpPr>
          <p:cNvPr id="18" name="Text 11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704D3E4F-25A2-42FD-9C82-F3596BC190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4048" y="735480"/>
            <a:ext cx="723600" cy="72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allons voir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667512" y="1764792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7" name="Image 1" descr="/home/claude/work/icons/us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160020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074920" y="1600200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2496312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1" name="Shape 7"/>
          <p:cNvSpPr/>
          <p:nvPr/>
        </p:nvSpPr>
        <p:spPr>
          <a:xfrm>
            <a:off x="667512" y="2660904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2" name="Image 2" descr="/home/claude/work/icons/briefc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724912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2496312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du projet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074920" y="2496312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02920" y="3392424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6" name="Shape 11"/>
          <p:cNvSpPr/>
          <p:nvPr/>
        </p:nvSpPr>
        <p:spPr>
          <a:xfrm>
            <a:off x="667512" y="3557016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7" name="Image 3" descr="/home/claude/work/icons/barchar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21024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392424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074920" y="3392424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02920" y="4288536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1" name="Shape 15"/>
          <p:cNvSpPr/>
          <p:nvPr/>
        </p:nvSpPr>
        <p:spPr>
          <a:xfrm>
            <a:off x="667512" y="4453128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2" name="Image 4" descr="/home/claude/work/icons/aler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51713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80160" y="4288536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utilisateur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074920" y="4288536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02920" y="5184648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6" name="Shape 19"/>
          <p:cNvSpPr/>
          <p:nvPr/>
        </p:nvSpPr>
        <p:spPr>
          <a:xfrm>
            <a:off x="667512" y="5349240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7" name="Image 5" descr="/home/claude/work/icons/use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5413248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80160" y="5184648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5074920" y="5184648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P.12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6309360" y="1600200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1" name="Shape 23"/>
          <p:cNvSpPr/>
          <p:nvPr/>
        </p:nvSpPr>
        <p:spPr>
          <a:xfrm>
            <a:off x="6473952" y="1764792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2" name="Image 6" descr="/home/claude/work/icons/shield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1828800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086600" y="160020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KWISMO</a:t>
            </a:r>
            <a:endParaRPr lang="en-US" sz="1450" dirty="0"/>
          </a:p>
        </p:txBody>
      </p:sp>
      <p:sp>
        <p:nvSpPr>
          <p:cNvPr id="34" name="Text 25"/>
          <p:cNvSpPr/>
          <p:nvPr/>
        </p:nvSpPr>
        <p:spPr>
          <a:xfrm>
            <a:off x="10881360" y="1600200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P.16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6309360" y="2496312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6" name="Shape 27"/>
          <p:cNvSpPr/>
          <p:nvPr/>
        </p:nvSpPr>
        <p:spPr>
          <a:xfrm>
            <a:off x="6473952" y="2660904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7" name="Image 7" descr="/home/claude/work/icons/zap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2724912"/>
            <a:ext cx="329184" cy="329184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086600" y="2496312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KWISMO apporte</a:t>
            </a:r>
            <a:endParaRPr lang="en-US" sz="1450" dirty="0"/>
          </a:p>
        </p:txBody>
      </p:sp>
      <p:sp>
        <p:nvSpPr>
          <p:cNvPr id="39" name="Text 29"/>
          <p:cNvSpPr/>
          <p:nvPr/>
        </p:nvSpPr>
        <p:spPr>
          <a:xfrm>
            <a:off x="10881360" y="2496312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P.18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6309360" y="3392424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1" name="Shape 31"/>
          <p:cNvSpPr/>
          <p:nvPr/>
        </p:nvSpPr>
        <p:spPr>
          <a:xfrm>
            <a:off x="6473952" y="3557016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42" name="Image 8" descr="/home/claude/work/icons/layers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960" y="3621024"/>
            <a:ext cx="329184" cy="329184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086600" y="3392424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 &amp; modèle économique</a:t>
            </a:r>
            <a:endParaRPr lang="en-US" sz="1450" dirty="0"/>
          </a:p>
        </p:txBody>
      </p:sp>
      <p:sp>
        <p:nvSpPr>
          <p:cNvPr id="44" name="Text 33"/>
          <p:cNvSpPr/>
          <p:nvPr/>
        </p:nvSpPr>
        <p:spPr>
          <a:xfrm>
            <a:off x="10881360" y="3392424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P.19</a:t>
            </a:r>
            <a:endParaRPr lang="en-US" sz="1300" dirty="0"/>
          </a:p>
        </p:txBody>
      </p:sp>
      <p:sp>
        <p:nvSpPr>
          <p:cNvPr id="45" name="Shape 34"/>
          <p:cNvSpPr/>
          <p:nvPr/>
        </p:nvSpPr>
        <p:spPr>
          <a:xfrm>
            <a:off x="6309360" y="4288536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6" name="Shape 35"/>
          <p:cNvSpPr/>
          <p:nvPr/>
        </p:nvSpPr>
        <p:spPr>
          <a:xfrm>
            <a:off x="6473952" y="4453128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47" name="Image 9" descr="/home/claude/work/icons/package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7960" y="4517136"/>
            <a:ext cx="329184" cy="329184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086600" y="4288536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attendus</a:t>
            </a:r>
            <a:endParaRPr lang="en-US" sz="1450" dirty="0"/>
          </a:p>
        </p:txBody>
      </p:sp>
      <p:sp>
        <p:nvSpPr>
          <p:cNvPr id="49" name="Text 37"/>
          <p:cNvSpPr/>
          <p:nvPr/>
        </p:nvSpPr>
        <p:spPr>
          <a:xfrm>
            <a:off x="10881360" y="4288536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P.22</a:t>
            </a:r>
            <a:endParaRPr lang="en-US" sz="1300" dirty="0"/>
          </a:p>
        </p:txBody>
      </p:sp>
      <p:sp>
        <p:nvSpPr>
          <p:cNvPr id="50" name="Shape 38"/>
          <p:cNvSpPr/>
          <p:nvPr/>
        </p:nvSpPr>
        <p:spPr>
          <a:xfrm>
            <a:off x="6309360" y="5184648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51" name="Shape 39"/>
          <p:cNvSpPr/>
          <p:nvPr/>
        </p:nvSpPr>
        <p:spPr>
          <a:xfrm>
            <a:off x="6473952" y="5349240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52" name="Image 10" descr="/home/claude/work/icons/calendar_FFFFF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37960" y="5413248"/>
            <a:ext cx="329184" cy="329184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7086600" y="5184648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450" dirty="0"/>
          </a:p>
        </p:txBody>
      </p:sp>
      <p:sp>
        <p:nvSpPr>
          <p:cNvPr id="54" name="Text 41"/>
          <p:cNvSpPr/>
          <p:nvPr/>
        </p:nvSpPr>
        <p:spPr>
          <a:xfrm>
            <a:off x="10881360" y="5184648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</a:t>
            </a:r>
            <a:endParaRPr lang="en-US" sz="1300" dirty="0"/>
          </a:p>
        </p:txBody>
      </p:sp>
      <p:sp>
        <p:nvSpPr>
          <p:cNvPr id="55" name="Text 4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SOMMES-NOUS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L'équipe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talents de l'équipe SAFESEND, réunis autour d'une seule mission : protéger les utilisateurs Mobile Money.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us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SAFESEND — 6 talents, une seule mission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1783080" y="1764792"/>
            <a:ext cx="960120" cy="960120"/>
          </a:xfrm>
          <a:prstGeom prst="ellipse">
            <a:avLst/>
          </a:prstGeom>
          <a:solidFill>
            <a:srgbClr val="FF7900">
              <a:alpha val="18000"/>
            </a:srgbClr>
          </a:solidFill>
          <a:ln w="15875">
            <a:solidFill>
              <a:srgbClr val="FF790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7" name="Image 1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509" y="1956816"/>
            <a:ext cx="499262" cy="4992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Achonduh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777240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FF7900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Text 6"/>
          <p:cNvSpPr/>
          <p:nvPr/>
        </p:nvSpPr>
        <p:spPr>
          <a:xfrm>
            <a:off x="822960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Porteur de projet &amp; Dev Backend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279392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2" name="Shape 8"/>
          <p:cNvSpPr/>
          <p:nvPr/>
        </p:nvSpPr>
        <p:spPr>
          <a:xfrm>
            <a:off x="5559552" y="1764792"/>
            <a:ext cx="960120" cy="960120"/>
          </a:xfrm>
          <a:prstGeom prst="ellipse">
            <a:avLst/>
          </a:prstGeom>
          <a:solidFill>
            <a:srgbClr val="4D6AB1">
              <a:alpha val="18000"/>
            </a:srgbClr>
          </a:solidFill>
          <a:ln w="15875">
            <a:solidFill>
              <a:srgbClr val="4D6A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3" name="Image 2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956816"/>
            <a:ext cx="499262" cy="49926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16552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Brayan Weko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4553712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6" name="Text 11"/>
          <p:cNvSpPr/>
          <p:nvPr/>
        </p:nvSpPr>
        <p:spPr>
          <a:xfrm>
            <a:off x="4599432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d'équipe &amp; Dev Mobile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055864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3"/>
          <p:cNvSpPr/>
          <p:nvPr/>
        </p:nvSpPr>
        <p:spPr>
          <a:xfrm>
            <a:off x="9336024" y="1764792"/>
            <a:ext cx="960120" cy="960120"/>
          </a:xfrm>
          <a:prstGeom prst="ellipse">
            <a:avLst/>
          </a:prstGeom>
          <a:solidFill>
            <a:srgbClr val="F6A020">
              <a:alpha val="18000"/>
            </a:srgbClr>
          </a:solidFill>
          <a:ln w="15875">
            <a:solidFill>
              <a:srgbClr val="F6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9" name="Image 3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453" y="1956816"/>
            <a:ext cx="499262" cy="49926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193024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Gabin Mboutie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8330184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F6A020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2" name="Text 16"/>
          <p:cNvSpPr/>
          <p:nvPr/>
        </p:nvSpPr>
        <p:spPr>
          <a:xfrm>
            <a:off x="8375904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UI / UX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02920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4" name="Shape 18"/>
          <p:cNvSpPr/>
          <p:nvPr/>
        </p:nvSpPr>
        <p:spPr>
          <a:xfrm>
            <a:off x="1783080" y="4352544"/>
            <a:ext cx="960120" cy="960120"/>
          </a:xfrm>
          <a:prstGeom prst="ellipse">
            <a:avLst/>
          </a:prstGeom>
          <a:solidFill>
            <a:srgbClr val="4D6AB1">
              <a:alpha val="18000"/>
            </a:srgbClr>
          </a:solidFill>
          <a:ln w="15875">
            <a:solidFill>
              <a:srgbClr val="4D6A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25" name="Image 4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509" y="4544568"/>
            <a:ext cx="499262" cy="49926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40080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Marie Lumière Bothe</a:t>
            </a:r>
            <a:endParaRPr lang="en-US" sz="1450" dirty="0"/>
          </a:p>
        </p:txBody>
      </p:sp>
      <p:sp>
        <p:nvSpPr>
          <p:cNvPr id="27" name="Shape 20"/>
          <p:cNvSpPr/>
          <p:nvPr/>
        </p:nvSpPr>
        <p:spPr>
          <a:xfrm>
            <a:off x="777240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8" name="Text 21"/>
          <p:cNvSpPr/>
          <p:nvPr/>
        </p:nvSpPr>
        <p:spPr>
          <a:xfrm>
            <a:off x="822960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Développeuse Web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279392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0" name="Shape 23"/>
          <p:cNvSpPr/>
          <p:nvPr/>
        </p:nvSpPr>
        <p:spPr>
          <a:xfrm>
            <a:off x="5559552" y="4352544"/>
            <a:ext cx="960120" cy="960120"/>
          </a:xfrm>
          <a:prstGeom prst="ellipse">
            <a:avLst/>
          </a:prstGeom>
          <a:solidFill>
            <a:srgbClr val="FF7900">
              <a:alpha val="18000"/>
            </a:srgbClr>
          </a:solidFill>
          <a:ln w="15875">
            <a:solidFill>
              <a:srgbClr val="FF790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31" name="Image 5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4544568"/>
            <a:ext cx="499262" cy="4992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416552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Leal Braël Tido Keubou</a:t>
            </a:r>
            <a:endParaRPr lang="en-US" sz="1450" dirty="0"/>
          </a:p>
        </p:txBody>
      </p:sp>
      <p:sp>
        <p:nvSpPr>
          <p:cNvPr id="33" name="Shape 25"/>
          <p:cNvSpPr/>
          <p:nvPr/>
        </p:nvSpPr>
        <p:spPr>
          <a:xfrm>
            <a:off x="4553712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FF7900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4" name="Text 26"/>
          <p:cNvSpPr/>
          <p:nvPr/>
        </p:nvSpPr>
        <p:spPr>
          <a:xfrm>
            <a:off x="4599432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Intelligence Artificielle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8055864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6" name="Shape 28"/>
          <p:cNvSpPr/>
          <p:nvPr/>
        </p:nvSpPr>
        <p:spPr>
          <a:xfrm>
            <a:off x="9336024" y="4352544"/>
            <a:ext cx="960120" cy="960120"/>
          </a:xfrm>
          <a:prstGeom prst="ellipse">
            <a:avLst/>
          </a:prstGeom>
          <a:solidFill>
            <a:srgbClr val="4D6AB1">
              <a:alpha val="18000"/>
            </a:srgbClr>
          </a:solidFill>
          <a:ln w="15875">
            <a:solidFill>
              <a:srgbClr val="4D6A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37" name="Image 6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453" y="4544568"/>
            <a:ext cx="499262" cy="49926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8193024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Sonia Tchakounte Nana</a:t>
            </a:r>
            <a:endParaRPr lang="en-US" sz="1450" dirty="0"/>
          </a:p>
        </p:txBody>
      </p:sp>
      <p:sp>
        <p:nvSpPr>
          <p:cNvPr id="39" name="Shape 30"/>
          <p:cNvSpPr/>
          <p:nvPr/>
        </p:nvSpPr>
        <p:spPr>
          <a:xfrm>
            <a:off x="8330184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0" name="Text 31"/>
          <p:cNvSpPr/>
          <p:nvPr/>
        </p:nvSpPr>
        <p:spPr>
          <a:xfrm>
            <a:off x="8375904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Intelligence Artificielle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INSTITUTIONNEL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Cadre du projet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porté avec Orange Digital Center, dans le cadre de l'Orange Summer Challenge.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briefc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DU PROJET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projet porté avec Orange Digital Center</a:t>
            </a:r>
            <a:endParaRPr lang="fr-FR" sz="2800" noProof="0" dirty="0"/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795528" y="1801368"/>
            <a:ext cx="566928" cy="566928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7" name="Image 1" descr="/home/claude/work/icons/briefc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898" y="1880738"/>
            <a:ext cx="408188" cy="4081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0136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554480" y="2039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Orange Digital Center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95528" y="2651760"/>
            <a:ext cx="4672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 soutien de l'Orange Digital Center, qui accompagne les équipes dans le développement de solutions innovantes.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016752" y="150876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2" name="Shape 8"/>
          <p:cNvSpPr/>
          <p:nvPr/>
        </p:nvSpPr>
        <p:spPr>
          <a:xfrm>
            <a:off x="6309360" y="1801368"/>
            <a:ext cx="566928" cy="566928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3" name="Image 2" descr="/home/claude/work/icons/award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730" y="1880738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68312" y="180136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7068312" y="2039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Orange Summer Challenge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6309360" y="2651760"/>
            <a:ext cx="4672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programme d'accompagnement à l'innovation, du cadrage jusqu'à la démonstration finale.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" y="3977640"/>
            <a:ext cx="10771632" cy="2148840"/>
          </a:xfrm>
          <a:prstGeom prst="roundRect">
            <a:avLst>
              <a:gd name="adj" fmla="val 486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3"/>
          <p:cNvSpPr/>
          <p:nvPr/>
        </p:nvSpPr>
        <p:spPr>
          <a:xfrm>
            <a:off x="795528" y="4270248"/>
            <a:ext cx="566928" cy="566928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9" name="Image 3" descr="/home/claude/work/icons/targe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98" y="4349618"/>
            <a:ext cx="408188" cy="4081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270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DE CE DOCUMENT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95528" y="5135336"/>
            <a:ext cx="10186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Rassembler contexte, problème, personas, solution, positionnement, livrables et planification en un seul document de référence pour l'équipe et le partenaire.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AE0AB4EF-632C-729B-DE5B-8742848DCED2}"/>
              </a:ext>
            </a:extLst>
          </p:cNvPr>
          <p:cNvSpPr/>
          <p:nvPr/>
        </p:nvSpPr>
        <p:spPr>
          <a:xfrm>
            <a:off x="1554480" y="4517136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Présentation du projet</a:t>
            </a:r>
            <a:endParaRPr lang="fr-FR" sz="18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Contexte &amp; étude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marché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cybercriminalité et la fraude Mobile Money progressent plus vite que les réponses apportées au Cameroun.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barcha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cybercriminalité au Cameroun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502920" y="1527048"/>
            <a:ext cx="54864" cy="156362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58952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32 500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58952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réquisitions judiciaires traitées par l'ANTIC en 2025 (+30% vs 2024)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27832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Shape 7"/>
          <p:cNvSpPr/>
          <p:nvPr/>
        </p:nvSpPr>
        <p:spPr>
          <a:xfrm>
            <a:off x="3227832" y="1527048"/>
            <a:ext cx="54864" cy="156362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1" name="Text 8"/>
          <p:cNvSpPr/>
          <p:nvPr/>
        </p:nvSpPr>
        <p:spPr>
          <a:xfrm>
            <a:off x="3483864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8 502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3483864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vulnérabilités techniques détectées depuis janvier 2024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52744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4" name="Shape 11"/>
          <p:cNvSpPr/>
          <p:nvPr/>
        </p:nvSpPr>
        <p:spPr>
          <a:xfrm>
            <a:off x="5952744" y="1527048"/>
            <a:ext cx="54864" cy="156362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5" name="Text 12"/>
          <p:cNvSpPr/>
          <p:nvPr/>
        </p:nvSpPr>
        <p:spPr>
          <a:xfrm>
            <a:off x="6208776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1,027 Md FCFA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208776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perdus en 2025 à cause des arnaques en ligne — MINPOSTEL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77656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5"/>
          <p:cNvSpPr/>
          <p:nvPr/>
        </p:nvSpPr>
        <p:spPr>
          <a:xfrm>
            <a:off x="8677656" y="1527048"/>
            <a:ext cx="54864" cy="156362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9" name="Text 16"/>
          <p:cNvSpPr/>
          <p:nvPr/>
        </p:nvSpPr>
        <p:spPr>
          <a:xfrm>
            <a:off x="8933688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933688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annuelle des sollicitations judiciaires liées au numérique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920" y="3429000"/>
            <a:ext cx="1071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cybercriminalité ne se limite plus aux attaques techniques : elle s'étend aux escroqueries qui exploitent directement la confiance des utilisateurs Mobile Money.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02920" y="4251960"/>
            <a:ext cx="10716768" cy="1691640"/>
          </a:xfrm>
          <a:prstGeom prst="roundRect">
            <a:avLst>
              <a:gd name="adj" fmla="val 486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3" name="Shape 20"/>
          <p:cNvSpPr/>
          <p:nvPr/>
        </p:nvSpPr>
        <p:spPr>
          <a:xfrm>
            <a:off x="795528" y="4754880"/>
            <a:ext cx="685800" cy="6858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4" name="Image 1" descr="/home/claude/work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28" y="4831124"/>
            <a:ext cx="468000" cy="4680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737360" y="4753080"/>
            <a:ext cx="9052560" cy="68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fr-FR" sz="1450" noProof="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L'essentiel de la lutte reste concentré sur la réponse judiciaire a posteriori — peu d'outils protègent l'utilisateur après une arnaque et encore moins au moment précis où celle-ci se produit.</a:t>
            </a:r>
            <a:endParaRPr lang="fr-FR" sz="1450" noProof="0" dirty="0"/>
          </a:p>
        </p:txBody>
      </p:sp>
      <p:sp>
        <p:nvSpPr>
          <p:cNvPr id="26" name="Text 2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fraude Mobile Money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3600000" cy="1463040"/>
          </a:xfrm>
          <a:prstGeom prst="roundRect">
            <a:avLst>
              <a:gd name="adj" fmla="val 562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502920" y="1481328"/>
            <a:ext cx="54864" cy="14264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58952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M+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58952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actifs Mobile Money au Cameroun (2025)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89906" y="1463040"/>
            <a:ext cx="3600000" cy="1463040"/>
          </a:xfrm>
          <a:prstGeom prst="roundRect">
            <a:avLst>
              <a:gd name="adj" fmla="val 562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Shape 7"/>
          <p:cNvSpPr/>
          <p:nvPr/>
        </p:nvSpPr>
        <p:spPr>
          <a:xfrm>
            <a:off x="4289906" y="1481328"/>
            <a:ext cx="54864" cy="142646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1" name="Text 8"/>
          <p:cNvSpPr/>
          <p:nvPr/>
        </p:nvSpPr>
        <p:spPr>
          <a:xfrm>
            <a:off x="4545938" y="1627632"/>
            <a:ext cx="30975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22 137 Md FCFA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545938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transactions Mobile Money en zone CEMAC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6891" y="1463040"/>
            <a:ext cx="3600000" cy="1463040"/>
          </a:xfrm>
          <a:prstGeom prst="roundRect">
            <a:avLst>
              <a:gd name="adj" fmla="val 562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4" name="Shape 11"/>
          <p:cNvSpPr/>
          <p:nvPr/>
        </p:nvSpPr>
        <p:spPr>
          <a:xfrm>
            <a:off x="8076893" y="1481328"/>
            <a:ext cx="54864" cy="14264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5" name="Text 12"/>
          <p:cNvSpPr/>
          <p:nvPr/>
        </p:nvSpPr>
        <p:spPr>
          <a:xfrm>
            <a:off x="8332925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+28%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332925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des fraudes sur paiements mobiles en 2026 — BEAC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3246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 DE LA FRAUDE — MTN MOBILE MONEY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Ingénierie sociale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971800" y="370332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0" name="Shape 17"/>
          <p:cNvSpPr/>
          <p:nvPr/>
        </p:nvSpPr>
        <p:spPr>
          <a:xfrm>
            <a:off x="2971800" y="3703320"/>
            <a:ext cx="2386584" cy="237744"/>
          </a:xfrm>
          <a:prstGeom prst="roundRect">
            <a:avLst>
              <a:gd name="adj" fmla="val 19231"/>
            </a:avLst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1" name="Text 18"/>
          <p:cNvSpPr/>
          <p:nvPr/>
        </p:nvSpPr>
        <p:spPr>
          <a:xfrm>
            <a:off x="5806440" y="36576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4160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Failles techniques</a:t>
            </a:r>
            <a:endParaRPr lang="fr-FR" sz="1250" noProof="0" dirty="0"/>
          </a:p>
        </p:txBody>
      </p:sp>
      <p:sp>
        <p:nvSpPr>
          <p:cNvPr id="23" name="Shape 20"/>
          <p:cNvSpPr/>
          <p:nvPr/>
        </p:nvSpPr>
        <p:spPr>
          <a:xfrm>
            <a:off x="2971800" y="420624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4" name="Shape 21"/>
          <p:cNvSpPr/>
          <p:nvPr/>
        </p:nvSpPr>
        <p:spPr>
          <a:xfrm>
            <a:off x="2971800" y="4206240"/>
            <a:ext cx="246888" cy="237744"/>
          </a:xfrm>
          <a:prstGeom prst="roundRect">
            <a:avLst>
              <a:gd name="adj" fmla="val 19231"/>
            </a:avLst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5" name="Text 22"/>
          <p:cNvSpPr/>
          <p:nvPr/>
        </p:nvSpPr>
        <p:spPr>
          <a:xfrm>
            <a:off x="5806440" y="41605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02920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971800" y="470916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8" name="Shape 25"/>
          <p:cNvSpPr/>
          <p:nvPr/>
        </p:nvSpPr>
        <p:spPr>
          <a:xfrm>
            <a:off x="2971800" y="4709160"/>
            <a:ext cx="109728" cy="237744"/>
          </a:xfrm>
          <a:prstGeom prst="roundRect">
            <a:avLst>
              <a:gd name="adj" fmla="val 41667"/>
            </a:avLst>
          </a:prstGeom>
          <a:solidFill>
            <a:srgbClr val="8891A3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9" name="Text 26"/>
          <p:cNvSpPr/>
          <p:nvPr/>
        </p:nvSpPr>
        <p:spPr>
          <a:xfrm>
            <a:off x="5806440" y="46634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720840" y="3246120"/>
            <a:ext cx="4983480" cy="2880360"/>
          </a:xfrm>
          <a:prstGeom prst="roundRect">
            <a:avLst>
              <a:gd name="adj" fmla="val 2857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1" name="Text 28"/>
          <p:cNvSpPr/>
          <p:nvPr/>
        </p:nvSpPr>
        <p:spPr>
          <a:xfrm>
            <a:off x="7040880" y="3502152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79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87%</a:t>
            </a:r>
            <a:endParaRPr lang="en-US" sz="4600" dirty="0"/>
          </a:p>
        </p:txBody>
      </p:sp>
      <p:sp>
        <p:nvSpPr>
          <p:cNvPr id="32" name="Text 29"/>
          <p:cNvSpPr/>
          <p:nvPr/>
        </p:nvSpPr>
        <p:spPr>
          <a:xfrm>
            <a:off x="7040880" y="434340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fr-FR" sz="1300" noProof="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fraudes proviennent de l'ingénierie sociale : une manipulation humaine réussie, plus qu'une faille technique.</a:t>
            </a:r>
            <a:endParaRPr lang="fr-FR" sz="1300" noProof="0" dirty="0"/>
          </a:p>
        </p:txBody>
      </p:sp>
      <p:sp>
        <p:nvSpPr>
          <p:cNvPr id="33" name="Shape 30"/>
          <p:cNvSpPr/>
          <p:nvPr/>
        </p:nvSpPr>
        <p:spPr>
          <a:xfrm>
            <a:off x="7040880" y="5184648"/>
            <a:ext cx="4343400" cy="0"/>
          </a:xfrm>
          <a:prstGeom prst="line">
            <a:avLst/>
          </a:prstGeom>
          <a:noFill/>
          <a:ln w="9525">
            <a:solidFill>
              <a:srgbClr val="8891A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4" name="Text 31"/>
          <p:cNvSpPr/>
          <p:nvPr/>
        </p:nvSpPr>
        <p:spPr>
          <a:xfrm>
            <a:off x="7040880" y="5349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fr-FR" sz="1150" noProof="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10 000+ plaintes de fraude par an chez un opérateur majeur  ·  90 000 clients sensibilisés</a:t>
            </a:r>
            <a:endParaRPr lang="fr-FR" sz="1150" noProof="0" dirty="0"/>
          </a:p>
        </p:txBody>
      </p:sp>
      <p:sp>
        <p:nvSpPr>
          <p:cNvPr id="35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L'ANGLE MORT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problème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utilisateur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vide critique s'ouvre au moment précis où l'utilisateur est le plus vulnérable — pendant l'appel frauduleux.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4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vide au moment précis où l'utilisateur</a:t>
            </a:r>
            <a:endParaRPr lang="fr-FR" sz="2400" noProof="0" dirty="0"/>
          </a:p>
          <a:p>
            <a:pPr marL="0" indent="0">
              <a:buNone/>
            </a:pPr>
            <a:r>
              <a:rPr lang="fr-FR" sz="24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 vulnérable</a:t>
            </a:r>
            <a:endParaRPr lang="fr-FR" sz="2400" noProof="0" dirty="0"/>
          </a:p>
        </p:txBody>
      </p:sp>
      <p:sp>
        <p:nvSpPr>
          <p:cNvPr id="5" name="Text 2"/>
          <p:cNvSpPr/>
          <p:nvPr/>
        </p:nvSpPr>
        <p:spPr>
          <a:xfrm>
            <a:off x="502920" y="16276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EXISTE AUJOURD'HUI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309360" y="16276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MANQUE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965960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9" name="Image 1" descr="/home/claude/work/icons/xcircle_8891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225856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96596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après incident (USSD, WhatsApp, hotline)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965960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2" name="Shape 8"/>
          <p:cNvSpPr/>
          <p:nvPr/>
        </p:nvSpPr>
        <p:spPr>
          <a:xfrm>
            <a:off x="6464808" y="2194560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3" name="Image 2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86600" y="1965960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en temps réel pendant l'appel entrant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02920" y="2953512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6" name="Shape 11"/>
          <p:cNvSpPr/>
          <p:nvPr/>
        </p:nvSpPr>
        <p:spPr>
          <a:xfrm>
            <a:off x="658368" y="3182112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7" name="Image 3" descr="/home/claude/work/icons/xcircle_8891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46120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295351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Sensibilisation générique par SMS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09360" y="2953512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0" name="Shape 14"/>
          <p:cNvSpPr/>
          <p:nvPr/>
        </p:nvSpPr>
        <p:spPr>
          <a:xfrm>
            <a:off x="6464808" y="3182112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1" name="Image 4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3246120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086600" y="2953512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contextualisée aux scripts d'arnaque locaux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502920" y="3941064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4" name="Shape 17"/>
          <p:cNvSpPr/>
          <p:nvPr/>
        </p:nvSpPr>
        <p:spPr>
          <a:xfrm>
            <a:off x="658368" y="4169664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5" name="Image 5" descr="/home/claude/work/icons/xcircle_8891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233672"/>
            <a:ext cx="329184" cy="32918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3941064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renforcée côté transaction (biométrie, QR)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6309360" y="3941064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8" name="Shape 20"/>
          <p:cNvSpPr/>
          <p:nvPr/>
        </p:nvSpPr>
        <p:spPr>
          <a:xfrm>
            <a:off x="6464808" y="4169664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9" name="Image 6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233672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086600" y="3941064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Croisement appel suspect + tentative de transaction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502920" y="4928616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2" name="Shape 23"/>
          <p:cNvSpPr/>
          <p:nvPr/>
        </p:nvSpPr>
        <p:spPr>
          <a:xfrm>
            <a:off x="658368" y="5157216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3" name="Image 7" descr="/home/claude/work/icons/xcircle_8891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221224"/>
            <a:ext cx="329184" cy="32918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1280160" y="4928616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blocage d'appel généralistes</a:t>
            </a:r>
            <a:endParaRPr lang="en-US" sz="1250" dirty="0"/>
          </a:p>
        </p:txBody>
      </p:sp>
      <p:sp>
        <p:nvSpPr>
          <p:cNvPr id="35" name="Shape 25"/>
          <p:cNvSpPr/>
          <p:nvPr/>
        </p:nvSpPr>
        <p:spPr>
          <a:xfrm>
            <a:off x="6309360" y="4928616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6" name="Shape 26"/>
          <p:cNvSpPr/>
          <p:nvPr/>
        </p:nvSpPr>
        <p:spPr>
          <a:xfrm>
            <a:off x="6464808" y="5157216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7" name="Image 8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5221224"/>
            <a:ext cx="329184" cy="329184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7086600" y="4928616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locale, adaptée au contexte camerounais</a:t>
            </a:r>
            <a:endParaRPr lang="en-US" sz="1250" dirty="0"/>
          </a:p>
        </p:txBody>
      </p:sp>
      <p:sp>
        <p:nvSpPr>
          <p:cNvPr id="39" name="Text 28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TERRAIN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Personas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Quatres situations réelles de fraude vécues par des utilisateurs Mobile Money au Cameroun.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/home/claude/work/bg/bg_content.png">
            <a:extLst>
              <a:ext uri="{FF2B5EF4-FFF2-40B4-BE49-F238E27FC236}">
                <a16:creationId xmlns:a16="http://schemas.microsoft.com/office/drawing/2014/main" id="{06324108-5C0E-12C5-9750-5403B36C2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1ère situation réelle de fraude</a:t>
            </a:r>
            <a:endParaRPr lang="fr-FR" sz="2800" noProof="0" dirty="0"/>
          </a:p>
        </p:txBody>
      </p:sp>
      <p:sp>
        <p:nvSpPr>
          <p:cNvPr id="38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42BD6154-C855-6CAF-BAAC-326CE914E5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" y="1327104"/>
            <a:ext cx="9279999" cy="52199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A19A72-17B3-C025-905B-3C34D4B29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/home/claude/work/bg/bg_content.png">
            <a:extLst>
              <a:ext uri="{FF2B5EF4-FFF2-40B4-BE49-F238E27FC236}">
                <a16:creationId xmlns:a16="http://schemas.microsoft.com/office/drawing/2014/main" id="{DC9010E6-39B9-DD23-ECAD-9B956B8AF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DD13120-C4A4-7885-0797-6449CECF7F9C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F23B43A6-5331-F7C4-72D6-8D174DFD7165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2ème</a:t>
            </a:r>
            <a:r>
              <a:rPr lang="fr-FR" sz="2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situation réelle de fraude</a:t>
            </a:r>
            <a:endParaRPr lang="fr-FR" sz="2800" noProof="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C631A83D-F066-8232-B39E-4FA5B74E7413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1AABCF9-270A-F80D-F9A9-AF3F999EFA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" y="1327104"/>
            <a:ext cx="9280000" cy="521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817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54BFE-4971-92C1-1D63-1DAFBCFDF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/home/claude/work/bg/bg_content.png">
            <a:extLst>
              <a:ext uri="{FF2B5EF4-FFF2-40B4-BE49-F238E27FC236}">
                <a16:creationId xmlns:a16="http://schemas.microsoft.com/office/drawing/2014/main" id="{1F127983-B707-5B3A-4A08-10C549B85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036EFB3-4BD0-D921-A73C-05651D9D8D5F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8DB4C0F-6B70-BE06-F4E0-3A0C312FA054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3ème</a:t>
            </a:r>
            <a:r>
              <a:rPr lang="fr-FR" sz="2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situation réelle de fraude</a:t>
            </a:r>
            <a:endParaRPr lang="fr-FR" sz="2800" noProof="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32D8C756-E0D6-6F01-09E5-F7900607543F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129523-38C5-1DE4-7BB4-B3169FA262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" y="1327104"/>
            <a:ext cx="9280000" cy="521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445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solution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intelligente de prévention contre la fraude Mobile Money, avant, pendant et après l'appel.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shiel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SOLUTION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" y="13716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intelligente de prévention contre la fraude Mobile Money, propulsée par l'intelligence communautaire et l'IA.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795528" y="2423160"/>
            <a:ext cx="640080" cy="64008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/home/claude/work/icons/smartphon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139" y="2512771"/>
            <a:ext cx="460858" cy="4608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95528" y="3200400"/>
            <a:ext cx="4581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mobile autonome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795528" y="3611880"/>
            <a:ext cx="4581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Téléchargeable, elle détecte les appels suspects, permet le signalement communautaire et alerte en temps réel.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25312" y="21488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217920" y="2423160"/>
            <a:ext cx="640080" cy="640080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lay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531" y="2512771"/>
            <a:ext cx="460858" cy="4608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17920" y="3200400"/>
            <a:ext cx="4581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Mini-application intégrée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6217920" y="3611880"/>
            <a:ext cx="4581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comme « Centre de Sécurité » d'un super-app opérateur (ex. Max it) : alerte native, sans installation.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4800600"/>
            <a:ext cx="10607040" cy="1371600"/>
          </a:xfrm>
          <a:prstGeom prst="roundRect">
            <a:avLst>
              <a:gd name="adj" fmla="val 6000"/>
            </a:avLst>
          </a:prstGeom>
          <a:solidFill>
            <a:srgbClr val="232C42"/>
          </a:solidFill>
          <a:ln w="952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2"/>
          <p:cNvSpPr/>
          <p:nvPr/>
        </p:nvSpPr>
        <p:spPr>
          <a:xfrm>
            <a:off x="795528" y="5184648"/>
            <a:ext cx="566928" cy="566928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3" descr="/home/claude/work/icons/glob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98" y="5264018"/>
            <a:ext cx="408188" cy="4081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50566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ambition : devenir l'infrastructure africaine de référence pour la protection contre la fraude Mobile Money.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AJOUTÉE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KWISMO apporte concrètement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85800" y="1655064"/>
            <a:ext cx="512064" cy="512064"/>
          </a:xfrm>
          <a:prstGeom prst="ellipse">
            <a:avLst/>
          </a:prstGeom>
          <a:solidFill>
            <a:srgbClr val="FF7900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zap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489" y="1726753"/>
            <a:ext cx="368686" cy="36868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1463040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préventive en temps réel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074920" y="1600200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5349240" y="1463040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que l'utilisateur ne soit piégé — pas un simple signalement après coup.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02920" y="2414016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85800" y="2606040"/>
            <a:ext cx="512064" cy="512064"/>
          </a:xfrm>
          <a:prstGeom prst="ellipse">
            <a:avLst/>
          </a:prstGeom>
          <a:solidFill>
            <a:srgbClr val="4D6AB1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us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89" y="2677729"/>
            <a:ext cx="368686" cy="36868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2414016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communautaire locale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074920" y="2551176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1"/>
          <p:cNvSpPr/>
          <p:nvPr/>
        </p:nvSpPr>
        <p:spPr>
          <a:xfrm>
            <a:off x="5349240" y="2414016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base de renseignement alimentée par les signalements des utilisateurs.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" y="3364992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3"/>
          <p:cNvSpPr/>
          <p:nvPr/>
        </p:nvSpPr>
        <p:spPr>
          <a:xfrm>
            <a:off x="685800" y="3557016"/>
            <a:ext cx="512064" cy="512064"/>
          </a:xfrm>
          <a:prstGeom prst="ellipse">
            <a:avLst/>
          </a:prstGeom>
          <a:solidFill>
            <a:srgbClr val="FF7900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3" descr="/home/claude/work/icons/checkcircl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489" y="3628705"/>
            <a:ext cx="368686" cy="36868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17320" y="3364992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avant transaction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5074920" y="3502152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6"/>
          <p:cNvSpPr/>
          <p:nvPr/>
        </p:nvSpPr>
        <p:spPr>
          <a:xfrm>
            <a:off x="5349240" y="3364992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réputation d'un numéro est contrôlée avant toute validation Mobile Money.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02920" y="4315968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685800" y="4507992"/>
            <a:ext cx="512064" cy="512064"/>
          </a:xfrm>
          <a:prstGeom prst="ellipse">
            <a:avLst/>
          </a:prstGeom>
          <a:solidFill>
            <a:srgbClr val="4D6AB1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4" descr="/home/claude/work/icons/message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489" y="4579681"/>
            <a:ext cx="368686" cy="36868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4315968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étendue à WhatsApp</a:t>
            </a:r>
            <a:endParaRPr lang="en-US" sz="1350" dirty="0"/>
          </a:p>
        </p:txBody>
      </p:sp>
      <p:sp>
        <p:nvSpPr>
          <p:cNvPr id="27" name="Shape 20"/>
          <p:cNvSpPr/>
          <p:nvPr/>
        </p:nvSpPr>
        <p:spPr>
          <a:xfrm>
            <a:off x="5074920" y="4453128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1"/>
          <p:cNvSpPr/>
          <p:nvPr/>
        </p:nvSpPr>
        <p:spPr>
          <a:xfrm>
            <a:off x="5349240" y="4315968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fr-FR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</a:t>
            </a:r>
            <a:r>
              <a:rPr lang="fr-FR" sz="1250" noProof="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signalement de son contact comme compromis en cas de fraude sur WhatsApp.</a:t>
            </a:r>
            <a:endParaRPr lang="fr-FR" sz="1250" noProof="0" dirty="0"/>
          </a:p>
        </p:txBody>
      </p:sp>
      <p:sp>
        <p:nvSpPr>
          <p:cNvPr id="29" name="Shape 22"/>
          <p:cNvSpPr/>
          <p:nvPr/>
        </p:nvSpPr>
        <p:spPr>
          <a:xfrm>
            <a:off x="502920" y="5266944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23"/>
          <p:cNvSpPr/>
          <p:nvPr/>
        </p:nvSpPr>
        <p:spPr>
          <a:xfrm>
            <a:off x="685800" y="5458968"/>
            <a:ext cx="512064" cy="512064"/>
          </a:xfrm>
          <a:prstGeom prst="ellipse">
            <a:avLst/>
          </a:prstGeom>
          <a:solidFill>
            <a:srgbClr val="FF7900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5" descr="/home/claude/work/icons/trending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7489" y="5530657"/>
            <a:ext cx="368686" cy="36868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17320" y="5266944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 évolutive</a:t>
            </a:r>
            <a:endParaRPr lang="en-US" sz="1350" dirty="0"/>
          </a:p>
        </p:txBody>
      </p:sp>
      <p:sp>
        <p:nvSpPr>
          <p:cNvPr id="33" name="Shape 25"/>
          <p:cNvSpPr/>
          <p:nvPr/>
        </p:nvSpPr>
        <p:spPr>
          <a:xfrm>
            <a:off x="5074920" y="5404104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26"/>
          <p:cNvSpPr/>
          <p:nvPr/>
        </p:nvSpPr>
        <p:spPr>
          <a:xfrm>
            <a:off x="5349240" y="5266944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fiabilité de détection s'améliore en continu avec la communauté.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DIFFÉRENCIER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Positionnement &amp;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modèle économique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face à l'existant, et le modèle de revenus envisagé aux côtés d'Orange Cameroun.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lay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 face à l'existant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10607040" cy="457200"/>
          </a:xfrm>
          <a:prstGeom prst="roundRect">
            <a:avLst>
              <a:gd name="adj" fmla="val 12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68580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1663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Truecaller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475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287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187452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685800" y="187452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numéros</a:t>
            </a:r>
            <a:endParaRPr lang="en-US" sz="1200" dirty="0"/>
          </a:p>
        </p:txBody>
      </p:sp>
      <p:pic>
        <p:nvPicPr>
          <p:cNvPr id="12" name="Image 1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224" y="1965960"/>
            <a:ext cx="347472" cy="347472"/>
          </a:xfrm>
          <a:prstGeom prst="rect">
            <a:avLst/>
          </a:prstGeom>
        </p:spPr>
      </p:pic>
      <p:pic>
        <p:nvPicPr>
          <p:cNvPr id="13" name="Image 2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1965960"/>
            <a:ext cx="347472" cy="347472"/>
          </a:xfrm>
          <a:prstGeom prst="rect">
            <a:avLst/>
          </a:prstGeom>
        </p:spPr>
      </p:pic>
      <p:pic>
        <p:nvPicPr>
          <p:cNvPr id="14" name="Image 3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1965960"/>
            <a:ext cx="347472" cy="34747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02920" y="2450592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0"/>
          <p:cNvSpPr/>
          <p:nvPr/>
        </p:nvSpPr>
        <p:spPr>
          <a:xfrm>
            <a:off x="685800" y="2450592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des transferts</a:t>
            </a:r>
            <a:endParaRPr lang="en-US" sz="1200" dirty="0"/>
          </a:p>
        </p:txBody>
      </p:sp>
      <p:pic>
        <p:nvPicPr>
          <p:cNvPr id="17" name="Image 4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224" y="2542032"/>
            <a:ext cx="347472" cy="347472"/>
          </a:xfrm>
          <a:prstGeom prst="rect">
            <a:avLst/>
          </a:prstGeom>
        </p:spPr>
      </p:pic>
      <p:pic>
        <p:nvPicPr>
          <p:cNvPr id="18" name="Image 5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2542032"/>
            <a:ext cx="347472" cy="347472"/>
          </a:xfrm>
          <a:prstGeom prst="rect">
            <a:avLst/>
          </a:prstGeom>
        </p:spPr>
      </p:pic>
      <p:pic>
        <p:nvPicPr>
          <p:cNvPr id="19" name="Image 6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2542032"/>
            <a:ext cx="347472" cy="347472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02920" y="3026664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2"/>
          <p:cNvSpPr/>
          <p:nvPr/>
        </p:nvSpPr>
        <p:spPr>
          <a:xfrm>
            <a:off x="685800" y="30266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de numéros</a:t>
            </a:r>
            <a:endParaRPr lang="en-US" sz="1200" dirty="0"/>
          </a:p>
        </p:txBody>
      </p:sp>
      <p:pic>
        <p:nvPicPr>
          <p:cNvPr id="22" name="Image 7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224" y="3118104"/>
            <a:ext cx="347472" cy="347472"/>
          </a:xfrm>
          <a:prstGeom prst="rect">
            <a:avLst/>
          </a:prstGeom>
        </p:spPr>
      </p:pic>
      <p:pic>
        <p:nvPicPr>
          <p:cNvPr id="23" name="Image 8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3118104"/>
            <a:ext cx="347472" cy="347472"/>
          </a:xfrm>
          <a:prstGeom prst="rect">
            <a:avLst/>
          </a:prstGeom>
        </p:spPr>
      </p:pic>
      <p:pic>
        <p:nvPicPr>
          <p:cNvPr id="24" name="Image 9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3118104"/>
            <a:ext cx="347472" cy="347472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502920" y="3602736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14"/>
          <p:cNvSpPr/>
          <p:nvPr/>
        </p:nvSpPr>
        <p:spPr>
          <a:xfrm>
            <a:off x="685800" y="360273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à tous les réseaux</a:t>
            </a:r>
            <a:endParaRPr lang="en-US" sz="1200" dirty="0"/>
          </a:p>
        </p:txBody>
      </p:sp>
      <p:pic>
        <p:nvPicPr>
          <p:cNvPr id="27" name="Image 10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224" y="3694176"/>
            <a:ext cx="347472" cy="347472"/>
          </a:xfrm>
          <a:prstGeom prst="rect">
            <a:avLst/>
          </a:prstGeom>
        </p:spPr>
      </p:pic>
      <p:pic>
        <p:nvPicPr>
          <p:cNvPr id="28" name="Image 11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3694176"/>
            <a:ext cx="347472" cy="347472"/>
          </a:xfrm>
          <a:prstGeom prst="rect">
            <a:avLst/>
          </a:prstGeom>
        </p:spPr>
      </p:pic>
      <p:pic>
        <p:nvPicPr>
          <p:cNvPr id="29" name="Image 12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3694176"/>
            <a:ext cx="347472" cy="347472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502920" y="4178808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16"/>
          <p:cNvSpPr/>
          <p:nvPr/>
        </p:nvSpPr>
        <p:spPr>
          <a:xfrm>
            <a:off x="685800" y="417880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WhatsApp</a:t>
            </a:r>
            <a:endParaRPr lang="en-US" sz="1200" dirty="0"/>
          </a:p>
        </p:txBody>
      </p:sp>
      <p:pic>
        <p:nvPicPr>
          <p:cNvPr id="32" name="Image 13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224" y="4270248"/>
            <a:ext cx="347472" cy="347472"/>
          </a:xfrm>
          <a:prstGeom prst="rect">
            <a:avLst/>
          </a:prstGeom>
        </p:spPr>
      </p:pic>
      <p:pic>
        <p:nvPicPr>
          <p:cNvPr id="33" name="Image 14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4270248"/>
            <a:ext cx="347472" cy="347472"/>
          </a:xfrm>
          <a:prstGeom prst="rect">
            <a:avLst/>
          </a:prstGeom>
        </p:spPr>
      </p:pic>
      <p:pic>
        <p:nvPicPr>
          <p:cNvPr id="34" name="Image 15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4270248"/>
            <a:ext cx="347472" cy="347472"/>
          </a:xfrm>
          <a:prstGeom prst="rect">
            <a:avLst/>
          </a:prstGeom>
        </p:spPr>
      </p:pic>
      <p:sp>
        <p:nvSpPr>
          <p:cNvPr id="35" name="Shape 17"/>
          <p:cNvSpPr/>
          <p:nvPr/>
        </p:nvSpPr>
        <p:spPr>
          <a:xfrm>
            <a:off x="502920" y="475488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18"/>
          <p:cNvSpPr/>
          <p:nvPr/>
        </p:nvSpPr>
        <p:spPr>
          <a:xfrm>
            <a:off x="685800" y="475488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 au grand public</a:t>
            </a:r>
            <a:endParaRPr lang="en-US" sz="1200" dirty="0"/>
          </a:p>
        </p:txBody>
      </p:sp>
      <p:pic>
        <p:nvPicPr>
          <p:cNvPr id="37" name="Image 16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224" y="4846320"/>
            <a:ext cx="347472" cy="347472"/>
          </a:xfrm>
          <a:prstGeom prst="rect">
            <a:avLst/>
          </a:prstGeom>
        </p:spPr>
      </p:pic>
      <p:pic>
        <p:nvPicPr>
          <p:cNvPr id="38" name="Image 17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846320"/>
            <a:ext cx="347472" cy="347472"/>
          </a:xfrm>
          <a:prstGeom prst="rect">
            <a:avLst/>
          </a:prstGeom>
        </p:spPr>
      </p:pic>
      <p:pic>
        <p:nvPicPr>
          <p:cNvPr id="39" name="Image 18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4846320"/>
            <a:ext cx="347472" cy="347472"/>
          </a:xfrm>
          <a:prstGeom prst="rect">
            <a:avLst/>
          </a:prstGeom>
        </p:spPr>
      </p:pic>
      <p:sp>
        <p:nvSpPr>
          <p:cNvPr id="40" name="Shape 19"/>
          <p:cNvSpPr/>
          <p:nvPr/>
        </p:nvSpPr>
        <p:spPr>
          <a:xfrm>
            <a:off x="502920" y="5468112"/>
            <a:ext cx="10607040" cy="1051560"/>
          </a:xfrm>
          <a:prstGeom prst="roundRect">
            <a:avLst>
              <a:gd name="adj" fmla="val 7826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20"/>
          <p:cNvSpPr/>
          <p:nvPr/>
        </p:nvSpPr>
        <p:spPr>
          <a:xfrm>
            <a:off x="795528" y="5724144"/>
            <a:ext cx="530352" cy="530352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2" name="Image 19" descr="/home/claude/work/icons/globe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777" y="5798393"/>
            <a:ext cx="381853" cy="381853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508760" y="5725296"/>
            <a:ext cx="9418320" cy="5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ne cherche pas à remplacer l'infrastructure de sécurité des opérateurs, mais à combler le vide laissé par les solutions existantes.</a:t>
            </a:r>
            <a:endParaRPr lang="en-US" sz="1300" b="1" dirty="0"/>
          </a:p>
        </p:txBody>
      </p:sp>
      <p:sp>
        <p:nvSpPr>
          <p:cNvPr id="44" name="Text 2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 0" descr="/home/claude/work/bg/bg_content.png">
            <a:extLst>
              <a:ext uri="{FF2B5EF4-FFF2-40B4-BE49-F238E27FC236}">
                <a16:creationId xmlns:a16="http://schemas.microsoft.com/office/drawing/2014/main" id="{6A200FC4-EE87-E4F8-C3D1-1EE552AC2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Modèle économique envisagé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partenaire technique plutôt qu'un concurrent : KWISMO apporte une couche d'intelligence, Orange conserve la relation client.</a:t>
            </a:r>
            <a:endParaRPr lang="en-US" sz="1400" dirty="0"/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599C9EB4-6DA5-F0BB-7391-692A108EDE25}"/>
              </a:ext>
            </a:extLst>
          </p:cNvPr>
          <p:cNvGrpSpPr/>
          <p:nvPr/>
        </p:nvGrpSpPr>
        <p:grpSpPr>
          <a:xfrm>
            <a:off x="502920" y="2057400"/>
            <a:ext cx="2834640" cy="1371600"/>
            <a:chOff x="606182" y="2057400"/>
            <a:chExt cx="2834640" cy="1371600"/>
          </a:xfrm>
        </p:grpSpPr>
        <p:sp>
          <p:nvSpPr>
            <p:cNvPr id="6" name="Shape 3"/>
            <p:cNvSpPr/>
            <p:nvPr/>
          </p:nvSpPr>
          <p:spPr>
            <a:xfrm>
              <a:off x="606182" y="2057400"/>
              <a:ext cx="2834640" cy="1371600"/>
            </a:xfrm>
            <a:prstGeom prst="roundRect">
              <a:avLst>
                <a:gd name="adj" fmla="val 6000"/>
              </a:avLst>
            </a:prstGeom>
            <a:solidFill>
              <a:srgbClr val="232C42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Shape 4"/>
            <p:cNvSpPr/>
            <p:nvPr/>
          </p:nvSpPr>
          <p:spPr>
            <a:xfrm>
              <a:off x="1749182" y="2240280"/>
              <a:ext cx="548640" cy="548640"/>
            </a:xfrm>
            <a:prstGeom prst="ellipse">
              <a:avLst/>
            </a:prstGeom>
            <a:solidFill>
              <a:srgbClr val="FF7900">
                <a:alpha val="85000"/>
              </a:srgbClr>
            </a:solidFill>
            <a:ln/>
          </p:spPr>
          <p:txBody>
            <a:bodyPr/>
            <a:lstStyle/>
            <a:p>
              <a:endParaRPr lang="fr-FR"/>
            </a:p>
          </p:txBody>
        </p:sp>
        <p:pic>
          <p:nvPicPr>
            <p:cNvPr id="8" name="Image 1" descr="/home/claude/work/icons/user_FFFF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25991" y="2317090"/>
              <a:ext cx="395021" cy="395021"/>
            </a:xfrm>
            <a:prstGeom prst="rect">
              <a:avLst/>
            </a:prstGeom>
          </p:spPr>
        </p:pic>
        <p:sp>
          <p:nvSpPr>
            <p:cNvPr id="9" name="Text 5"/>
            <p:cNvSpPr/>
            <p:nvPr/>
          </p:nvSpPr>
          <p:spPr>
            <a:xfrm>
              <a:off x="743342" y="28803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Utilisateur</a:t>
              </a:r>
              <a:endParaRPr lang="en-US" sz="1350" dirty="0"/>
            </a:p>
          </p:txBody>
        </p:sp>
        <p:sp>
          <p:nvSpPr>
            <p:cNvPr id="10" name="Text 6"/>
            <p:cNvSpPr/>
            <p:nvPr/>
          </p:nvSpPr>
          <p:spPr>
            <a:xfrm>
              <a:off x="743342" y="3136392"/>
              <a:ext cx="2560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CED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Abonné à « KWISMO Security+ »</a:t>
              </a:r>
              <a:endParaRPr lang="en-US" sz="1050" dirty="0"/>
            </a:p>
          </p:txBody>
        </p:sp>
      </p:grpSp>
      <p:pic>
        <p:nvPicPr>
          <p:cNvPr id="11" name="Image 2" descr="/home/claude/work/icons/arrowright_C9C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0460" y="2560320"/>
            <a:ext cx="365760" cy="365760"/>
          </a:xfrm>
          <a:prstGeom prst="rect">
            <a:avLst/>
          </a:prstGeom>
        </p:spPr>
      </p:pic>
      <p:grpSp>
        <p:nvGrpSpPr>
          <p:cNvPr id="31" name="Groupe 30">
            <a:extLst>
              <a:ext uri="{FF2B5EF4-FFF2-40B4-BE49-F238E27FC236}">
                <a16:creationId xmlns:a16="http://schemas.microsoft.com/office/drawing/2014/main" id="{E4EF02CA-BA1C-6937-F783-9A6B3CEBACD7}"/>
              </a:ext>
            </a:extLst>
          </p:cNvPr>
          <p:cNvGrpSpPr/>
          <p:nvPr/>
        </p:nvGrpSpPr>
        <p:grpSpPr>
          <a:xfrm>
            <a:off x="4389120" y="2057400"/>
            <a:ext cx="2834640" cy="1371600"/>
            <a:chOff x="4355222" y="2057400"/>
            <a:chExt cx="2834640" cy="1371600"/>
          </a:xfrm>
        </p:grpSpPr>
        <p:sp>
          <p:nvSpPr>
            <p:cNvPr id="12" name="Shape 7"/>
            <p:cNvSpPr/>
            <p:nvPr/>
          </p:nvSpPr>
          <p:spPr>
            <a:xfrm>
              <a:off x="4355222" y="2057400"/>
              <a:ext cx="2834640" cy="1371600"/>
            </a:xfrm>
            <a:prstGeom prst="roundRect">
              <a:avLst>
                <a:gd name="adj" fmla="val 6000"/>
              </a:avLst>
            </a:prstGeom>
            <a:solidFill>
              <a:srgbClr val="232C42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Shape 8"/>
            <p:cNvSpPr/>
            <p:nvPr/>
          </p:nvSpPr>
          <p:spPr>
            <a:xfrm>
              <a:off x="5498222" y="2240280"/>
              <a:ext cx="548640" cy="548640"/>
            </a:xfrm>
            <a:prstGeom prst="ellipse">
              <a:avLst/>
            </a:prstGeom>
            <a:solidFill>
              <a:srgbClr val="4D6AB1">
                <a:alpha val="85000"/>
              </a:srgbClr>
            </a:solidFill>
            <a:ln/>
          </p:spPr>
          <p:txBody>
            <a:bodyPr/>
            <a:lstStyle/>
            <a:p>
              <a:endParaRPr lang="fr-FR"/>
            </a:p>
          </p:txBody>
        </p:sp>
        <p:pic>
          <p:nvPicPr>
            <p:cNvPr id="14" name="Image 3" descr="/home/claude/work/icons/briefcase_FFFFFF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575031" y="2317090"/>
              <a:ext cx="395021" cy="395021"/>
            </a:xfrm>
            <a:prstGeom prst="rect">
              <a:avLst/>
            </a:prstGeom>
          </p:spPr>
        </p:pic>
        <p:sp>
          <p:nvSpPr>
            <p:cNvPr id="15" name="Text 9"/>
            <p:cNvSpPr/>
            <p:nvPr/>
          </p:nvSpPr>
          <p:spPr>
            <a:xfrm>
              <a:off x="4492382" y="28803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Orange Cameroun</a:t>
              </a:r>
              <a:endParaRPr lang="en-US" sz="1350" dirty="0"/>
            </a:p>
          </p:txBody>
        </p:sp>
        <p:sp>
          <p:nvSpPr>
            <p:cNvPr id="16" name="Text 10"/>
            <p:cNvSpPr/>
            <p:nvPr/>
          </p:nvSpPr>
          <p:spPr>
            <a:xfrm>
              <a:off x="4492382" y="3136392"/>
              <a:ext cx="2560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CED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Facturation &amp; stratégie commerciale</a:t>
              </a:r>
              <a:endParaRPr lang="en-US" sz="1050" dirty="0"/>
            </a:p>
          </p:txBody>
        </p:sp>
      </p:grpSp>
      <p:pic>
        <p:nvPicPr>
          <p:cNvPr id="17" name="Image 4" descr="/home/claude/work/icons/arrowright_C9C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6660" y="2560320"/>
            <a:ext cx="365760" cy="365760"/>
          </a:xfrm>
          <a:prstGeom prst="rect">
            <a:avLst/>
          </a:prstGeom>
        </p:spPr>
      </p:pic>
      <p:grpSp>
        <p:nvGrpSpPr>
          <p:cNvPr id="30" name="Groupe 29">
            <a:extLst>
              <a:ext uri="{FF2B5EF4-FFF2-40B4-BE49-F238E27FC236}">
                <a16:creationId xmlns:a16="http://schemas.microsoft.com/office/drawing/2014/main" id="{5762508C-30CF-06FF-24A5-217FC5CC9C8F}"/>
              </a:ext>
            </a:extLst>
          </p:cNvPr>
          <p:cNvGrpSpPr/>
          <p:nvPr/>
        </p:nvGrpSpPr>
        <p:grpSpPr>
          <a:xfrm>
            <a:off x="8275320" y="2057400"/>
            <a:ext cx="2834640" cy="1371600"/>
            <a:chOff x="8104262" y="2057400"/>
            <a:chExt cx="2834640" cy="1371600"/>
          </a:xfrm>
        </p:grpSpPr>
        <p:sp>
          <p:nvSpPr>
            <p:cNvPr id="18" name="Shape 11"/>
            <p:cNvSpPr/>
            <p:nvPr/>
          </p:nvSpPr>
          <p:spPr>
            <a:xfrm>
              <a:off x="8104262" y="2057400"/>
              <a:ext cx="2834640" cy="1371600"/>
            </a:xfrm>
            <a:prstGeom prst="roundRect">
              <a:avLst>
                <a:gd name="adj" fmla="val 6000"/>
              </a:avLst>
            </a:prstGeom>
            <a:solidFill>
              <a:srgbClr val="232C42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Shape 12"/>
            <p:cNvSpPr/>
            <p:nvPr/>
          </p:nvSpPr>
          <p:spPr>
            <a:xfrm>
              <a:off x="9247262" y="2240280"/>
              <a:ext cx="548640" cy="548640"/>
            </a:xfrm>
            <a:prstGeom prst="ellipse">
              <a:avLst/>
            </a:prstGeom>
            <a:solidFill>
              <a:srgbClr val="F6A020">
                <a:alpha val="85000"/>
              </a:srgbClr>
            </a:solidFill>
            <a:ln/>
          </p:spPr>
          <p:txBody>
            <a:bodyPr/>
            <a:lstStyle/>
            <a:p>
              <a:endParaRPr lang="fr-FR"/>
            </a:p>
          </p:txBody>
        </p:sp>
        <p:pic>
          <p:nvPicPr>
            <p:cNvPr id="20" name="Image 5" descr="/home/claude/work/icons/shield_FFFFFF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324071" y="2317090"/>
              <a:ext cx="395021" cy="395021"/>
            </a:xfrm>
            <a:prstGeom prst="rect">
              <a:avLst/>
            </a:prstGeom>
          </p:spPr>
        </p:pic>
        <p:sp>
          <p:nvSpPr>
            <p:cNvPr id="21" name="Text 13"/>
            <p:cNvSpPr/>
            <p:nvPr/>
          </p:nvSpPr>
          <p:spPr>
            <a:xfrm>
              <a:off x="8241422" y="28803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KWISMO</a:t>
              </a:r>
              <a:endParaRPr lang="en-US" sz="1350" dirty="0"/>
            </a:p>
          </p:txBody>
        </p:sp>
        <p:sp>
          <p:nvSpPr>
            <p:cNvPr id="22" name="Text 14"/>
            <p:cNvSpPr/>
            <p:nvPr/>
          </p:nvSpPr>
          <p:spPr>
            <a:xfrm>
              <a:off x="8241422" y="3136392"/>
              <a:ext cx="2560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CED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Pourcentage négocié des revenus</a:t>
              </a:r>
              <a:endParaRPr lang="en-US" sz="1050" dirty="0"/>
            </a:p>
          </p:txBody>
        </p:sp>
      </p:grpSp>
      <p:sp>
        <p:nvSpPr>
          <p:cNvPr id="23" name="Shape 15"/>
          <p:cNvSpPr/>
          <p:nvPr/>
        </p:nvSpPr>
        <p:spPr>
          <a:xfrm>
            <a:off x="502920" y="3977640"/>
            <a:ext cx="10607040" cy="2148840"/>
          </a:xfrm>
          <a:prstGeom prst="roundRect">
            <a:avLst>
              <a:gd name="adj" fmla="val 3830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16"/>
          <p:cNvSpPr/>
          <p:nvPr/>
        </p:nvSpPr>
        <p:spPr>
          <a:xfrm>
            <a:off x="822960" y="42976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79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200 FCFA</a:t>
            </a:r>
            <a:endParaRPr lang="en-US" sz="4000" dirty="0"/>
          </a:p>
        </p:txBody>
      </p:sp>
      <p:sp>
        <p:nvSpPr>
          <p:cNvPr id="25" name="Text 17"/>
          <p:cNvSpPr/>
          <p:nvPr/>
        </p:nvSpPr>
        <p:spPr>
          <a:xfrm>
            <a:off x="822960" y="5212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mois — hypothèse de travail</a:t>
            </a:r>
            <a:endParaRPr lang="en-US" sz="1250" dirty="0"/>
          </a:p>
        </p:txBody>
      </p:sp>
      <p:sp>
        <p:nvSpPr>
          <p:cNvPr id="26" name="Shape 18"/>
          <p:cNvSpPr/>
          <p:nvPr/>
        </p:nvSpPr>
        <p:spPr>
          <a:xfrm>
            <a:off x="5669280" y="4251960"/>
            <a:ext cx="0" cy="1600200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19"/>
          <p:cNvSpPr/>
          <p:nvPr/>
        </p:nvSpPr>
        <p:spPr>
          <a:xfrm>
            <a:off x="5989320" y="43434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final et la stratégie de facturation restent définis par l'opérateur partenaire, en fonction du marché et de l'offre commerciale retenue.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SERA PRODUIT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Livrables attendus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livrables majeurs : API, application mobile, site web et documentation complète.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packag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ATTENDUS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Quatre livrables majeurs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777240" y="1719072"/>
            <a:ext cx="566928" cy="566928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cod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610" y="1798442"/>
            <a:ext cx="408188" cy="4081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171907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d'analyse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1508760" y="20116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numéros frauduleux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94358" y="2880360"/>
            <a:ext cx="1642262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7"/>
          <p:cNvSpPr/>
          <p:nvPr/>
        </p:nvSpPr>
        <p:spPr>
          <a:xfrm>
            <a:off x="594358" y="2880360"/>
            <a:ext cx="16422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numéros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346348" y="2880360"/>
            <a:ext cx="1267358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2346348" y="288036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723435" y="2880360"/>
            <a:ext cx="1867205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3723435" y="2880360"/>
            <a:ext cx="18672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Swagger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25312" y="14630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199632" y="1719072"/>
            <a:ext cx="566928" cy="566928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/home/claude/work/icons/smartpho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002" y="1798442"/>
            <a:ext cx="408188" cy="4081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931152" y="171907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mobile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6931152" y="20116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199632" y="2880360"/>
            <a:ext cx="1567282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6199632" y="2880360"/>
            <a:ext cx="1567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d'appel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76642" y="2880360"/>
            <a:ext cx="1567282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19"/>
          <p:cNvSpPr/>
          <p:nvPr/>
        </p:nvSpPr>
        <p:spPr>
          <a:xfrm>
            <a:off x="7876642" y="2880360"/>
            <a:ext cx="1567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protégé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553651" y="2880360"/>
            <a:ext cx="1192378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1"/>
          <p:cNvSpPr/>
          <p:nvPr/>
        </p:nvSpPr>
        <p:spPr>
          <a:xfrm>
            <a:off x="9553651" y="2880360"/>
            <a:ext cx="1192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OTP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02920" y="402336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Shape 23"/>
          <p:cNvSpPr/>
          <p:nvPr/>
        </p:nvSpPr>
        <p:spPr>
          <a:xfrm>
            <a:off x="777240" y="4279392"/>
            <a:ext cx="566928" cy="566928"/>
          </a:xfrm>
          <a:prstGeom prst="ellipse">
            <a:avLst/>
          </a:prstGeom>
          <a:solidFill>
            <a:srgbClr val="F6A020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3" descr="/home/claude/work/icons/glob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610" y="4358762"/>
            <a:ext cx="408188" cy="40818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508760" y="42793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Site web</a:t>
            </a:r>
            <a:endParaRPr lang="en-US" sz="1550" dirty="0"/>
          </a:p>
        </p:txBody>
      </p:sp>
      <p:sp>
        <p:nvSpPr>
          <p:cNvPr id="31" name="Text 25"/>
          <p:cNvSpPr/>
          <p:nvPr/>
        </p:nvSpPr>
        <p:spPr>
          <a:xfrm>
            <a:off x="1508760" y="4572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vitrine &amp; administration</a:t>
            </a:r>
            <a:endParaRPr lang="en-US" sz="1150" dirty="0"/>
          </a:p>
        </p:txBody>
      </p: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17260059-8708-89CB-3D9E-B4B55C459646}"/>
              </a:ext>
            </a:extLst>
          </p:cNvPr>
          <p:cNvGrpSpPr/>
          <p:nvPr/>
        </p:nvGrpSpPr>
        <p:grpSpPr>
          <a:xfrm>
            <a:off x="594358" y="5440680"/>
            <a:ext cx="1192378" cy="365760"/>
            <a:chOff x="594358" y="5440680"/>
            <a:chExt cx="1192378" cy="365760"/>
          </a:xfrm>
        </p:grpSpPr>
        <p:sp>
          <p:nvSpPr>
            <p:cNvPr id="32" name="Shape 26"/>
            <p:cNvSpPr/>
            <p:nvPr/>
          </p:nvSpPr>
          <p:spPr>
            <a:xfrm>
              <a:off x="594358" y="5440680"/>
              <a:ext cx="1192378" cy="365760"/>
            </a:xfrm>
            <a:prstGeom prst="roundRect">
              <a:avLst>
                <a:gd name="adj" fmla="val 50000"/>
              </a:avLst>
            </a:prstGeom>
            <a:solidFill>
              <a:srgbClr val="1F2739"/>
            </a:solidFill>
            <a:ln w="6350">
              <a:solidFill>
                <a:srgbClr val="F6A020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Text 27"/>
            <p:cNvSpPr/>
            <p:nvPr/>
          </p:nvSpPr>
          <p:spPr>
            <a:xfrm>
              <a:off x="594358" y="5440680"/>
              <a:ext cx="11923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Site vitrine</a:t>
              </a:r>
              <a:endParaRPr lang="en-US" sz="1000" dirty="0"/>
            </a:p>
          </p:txBody>
        </p:sp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C058C8AB-5CE3-2E7B-2620-9AD26CF1F35D}"/>
              </a:ext>
            </a:extLst>
          </p:cNvPr>
          <p:cNvGrpSpPr/>
          <p:nvPr/>
        </p:nvGrpSpPr>
        <p:grpSpPr>
          <a:xfrm>
            <a:off x="2308858" y="5440680"/>
            <a:ext cx="1192378" cy="365760"/>
            <a:chOff x="1896464" y="5440680"/>
            <a:chExt cx="1192378" cy="365760"/>
          </a:xfrm>
        </p:grpSpPr>
        <p:sp>
          <p:nvSpPr>
            <p:cNvPr id="34" name="Shape 28"/>
            <p:cNvSpPr/>
            <p:nvPr/>
          </p:nvSpPr>
          <p:spPr>
            <a:xfrm>
              <a:off x="1896464" y="5440680"/>
              <a:ext cx="1192378" cy="365760"/>
            </a:xfrm>
            <a:prstGeom prst="roundRect">
              <a:avLst>
                <a:gd name="adj" fmla="val 50000"/>
              </a:avLst>
            </a:prstGeom>
            <a:solidFill>
              <a:srgbClr val="1F2739"/>
            </a:solidFill>
            <a:ln w="6350">
              <a:solidFill>
                <a:srgbClr val="F6A020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29"/>
            <p:cNvSpPr/>
            <p:nvPr/>
          </p:nvSpPr>
          <p:spPr>
            <a:xfrm>
              <a:off x="1896464" y="5440680"/>
              <a:ext cx="11923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Espace admin</a:t>
              </a:r>
              <a:endParaRPr lang="en-US" sz="1000" dirty="0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2A0F23C4-FF6B-66AC-0A44-2E28B3BC1FCA}"/>
              </a:ext>
            </a:extLst>
          </p:cNvPr>
          <p:cNvGrpSpPr/>
          <p:nvPr/>
        </p:nvGrpSpPr>
        <p:grpSpPr>
          <a:xfrm>
            <a:off x="4023358" y="5417820"/>
            <a:ext cx="1567282" cy="365760"/>
            <a:chOff x="4023358" y="5417820"/>
            <a:chExt cx="1567282" cy="365760"/>
          </a:xfrm>
        </p:grpSpPr>
        <p:sp>
          <p:nvSpPr>
            <p:cNvPr id="36" name="Shape 30"/>
            <p:cNvSpPr/>
            <p:nvPr/>
          </p:nvSpPr>
          <p:spPr>
            <a:xfrm>
              <a:off x="4023358" y="5417820"/>
              <a:ext cx="1567282" cy="365760"/>
            </a:xfrm>
            <a:prstGeom prst="roundRect">
              <a:avLst>
                <a:gd name="adj" fmla="val 50000"/>
              </a:avLst>
            </a:prstGeom>
            <a:solidFill>
              <a:srgbClr val="1F2739"/>
            </a:solidFill>
            <a:ln w="6350">
              <a:solidFill>
                <a:srgbClr val="F6A020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31"/>
            <p:cNvSpPr/>
            <p:nvPr/>
          </p:nvSpPr>
          <p:spPr>
            <a:xfrm>
              <a:off x="4023358" y="5417820"/>
              <a:ext cx="156728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Espace partenaire</a:t>
              </a:r>
              <a:endParaRPr lang="en-US" sz="1000" dirty="0"/>
            </a:p>
          </p:txBody>
        </p:sp>
      </p:grpSp>
      <p:sp>
        <p:nvSpPr>
          <p:cNvPr id="38" name="Shape 32"/>
          <p:cNvSpPr/>
          <p:nvPr/>
        </p:nvSpPr>
        <p:spPr>
          <a:xfrm>
            <a:off x="5925312" y="402336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Shape 33"/>
          <p:cNvSpPr/>
          <p:nvPr/>
        </p:nvSpPr>
        <p:spPr>
          <a:xfrm>
            <a:off x="6199632" y="4279392"/>
            <a:ext cx="566928" cy="566928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0" name="Image 4" descr="/home/claude/work/icons/filetex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9002" y="4358762"/>
            <a:ext cx="408188" cy="408188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6931152" y="42793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Documentation</a:t>
            </a:r>
            <a:endParaRPr lang="en-US" sz="1550" dirty="0"/>
          </a:p>
        </p:txBody>
      </p:sp>
      <p:sp>
        <p:nvSpPr>
          <p:cNvPr id="42" name="Text 35"/>
          <p:cNvSpPr/>
          <p:nvPr/>
        </p:nvSpPr>
        <p:spPr>
          <a:xfrm>
            <a:off x="6931152" y="4572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claire et complète</a:t>
            </a:r>
            <a:endParaRPr lang="en-US" sz="1150" dirty="0"/>
          </a:p>
        </p:txBody>
      </p:sp>
      <p:sp>
        <p:nvSpPr>
          <p:cNvPr id="43" name="Shape 36"/>
          <p:cNvSpPr/>
          <p:nvPr/>
        </p:nvSpPr>
        <p:spPr>
          <a:xfrm>
            <a:off x="6199632" y="544068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37"/>
          <p:cNvSpPr/>
          <p:nvPr/>
        </p:nvSpPr>
        <p:spPr>
          <a:xfrm>
            <a:off x="6199632" y="5440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(API)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7726680" y="5440680"/>
            <a:ext cx="1267358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39"/>
          <p:cNvSpPr/>
          <p:nvPr/>
        </p:nvSpPr>
        <p:spPr>
          <a:xfrm>
            <a:off x="7726680" y="544068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9103766" y="5440680"/>
            <a:ext cx="1792224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1"/>
          <p:cNvSpPr/>
          <p:nvPr/>
        </p:nvSpPr>
        <p:spPr>
          <a:xfrm>
            <a:off x="9103766" y="544068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d'utilisation</a:t>
            </a:r>
            <a:endParaRPr lang="en-US" sz="1000" dirty="0"/>
          </a:p>
        </p:txBody>
      </p:sp>
      <p:sp>
        <p:nvSpPr>
          <p:cNvPr id="49" name="Text 4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09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FEUILLE DE ROUTE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Planification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fr-FR" sz="1500" noProof="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sprints, du cadrage à la présentation finale du projet.</a:t>
            </a:r>
            <a:endParaRPr lang="fr-FR" sz="1500" noProof="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calend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sprints, du cadrage à la soutenance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863840" y="402336"/>
            <a:ext cx="3794760" cy="402336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1" descr="/home/claude/work/icons/gitbranch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2" y="484632"/>
            <a:ext cx="237744" cy="2377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366760" y="40233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détaillé : ClickUp · Planning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02920" y="1417320"/>
            <a:ext cx="10607040" cy="384048"/>
          </a:xfrm>
          <a:prstGeom prst="roundRect">
            <a:avLst>
              <a:gd name="adj" fmla="val 11905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5"/>
          <p:cNvSpPr/>
          <p:nvPr/>
        </p:nvSpPr>
        <p:spPr>
          <a:xfrm>
            <a:off x="640080" y="14173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057400" y="1417320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366760" y="1417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801368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640080" y="180136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2057400" y="180136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&amp; recherche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366760" y="18013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02920" y="2221992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3"/>
          <p:cNvSpPr/>
          <p:nvPr/>
        </p:nvSpPr>
        <p:spPr>
          <a:xfrm>
            <a:off x="640080" y="222199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057400" y="2221992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&amp; spécifications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8366760" y="222199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2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02920" y="2642616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40080" y="264261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2057400" y="2642616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8366760" y="26426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3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02920" y="3063240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1"/>
          <p:cNvSpPr/>
          <p:nvPr/>
        </p:nvSpPr>
        <p:spPr>
          <a:xfrm>
            <a:off x="640080" y="30632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2057400" y="306324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UI/UX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8366760" y="30632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4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502920" y="3483864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5"/>
          <p:cNvSpPr/>
          <p:nvPr/>
        </p:nvSpPr>
        <p:spPr>
          <a:xfrm>
            <a:off x="640080" y="348386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2057400" y="3483864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API v1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8366760" y="34838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5-6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02920" y="3904488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29"/>
          <p:cNvSpPr/>
          <p:nvPr/>
        </p:nvSpPr>
        <p:spPr>
          <a:xfrm>
            <a:off x="640080" y="390448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2057400" y="390448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app mobile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366760" y="3904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6-7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502920" y="4325112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3"/>
          <p:cNvSpPr/>
          <p:nvPr/>
        </p:nvSpPr>
        <p:spPr>
          <a:xfrm>
            <a:off x="640080" y="43251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7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2057400" y="4325112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IA / détection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366760" y="432511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8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4745736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7"/>
          <p:cNvSpPr/>
          <p:nvPr/>
        </p:nvSpPr>
        <p:spPr>
          <a:xfrm>
            <a:off x="640080" y="474573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8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2057400" y="4745736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&amp; documentation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8366760" y="474573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9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502920" y="5166360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1"/>
          <p:cNvSpPr/>
          <p:nvPr/>
        </p:nvSpPr>
        <p:spPr>
          <a:xfrm>
            <a:off x="640080" y="51663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9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2057400" y="516636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QA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366760" y="51663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10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5586984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9" name="Text 45"/>
          <p:cNvSpPr/>
          <p:nvPr/>
        </p:nvSpPr>
        <p:spPr>
          <a:xfrm>
            <a:off x="640080" y="558698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10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2057400" y="5586984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Correctifs &amp; polish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8366760" y="558698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11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02920" y="6007608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3" name="Text 49"/>
          <p:cNvSpPr/>
          <p:nvPr/>
        </p:nvSpPr>
        <p:spPr>
          <a:xfrm>
            <a:off x="640080" y="600760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11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2057400" y="600760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&amp; présentation</a:t>
            </a:r>
            <a:endParaRPr lang="fr-FR" sz="1150" noProof="0" dirty="0"/>
          </a:p>
        </p:txBody>
      </p:sp>
      <p:sp>
        <p:nvSpPr>
          <p:cNvPr id="55" name="Text 51"/>
          <p:cNvSpPr/>
          <p:nvPr/>
        </p:nvSpPr>
        <p:spPr>
          <a:xfrm>
            <a:off x="8366760" y="600760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12</a:t>
            </a:r>
            <a:endParaRPr lang="en-US" sz="1150" dirty="0"/>
          </a:p>
        </p:txBody>
      </p:sp>
      <p:sp>
        <p:nvSpPr>
          <p:cNvPr id="56" name="Text 5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38648" y="1234440"/>
            <a:ext cx="914400" cy="914400"/>
          </a:xfrm>
          <a:prstGeom prst="ellipse">
            <a:avLst/>
          </a:prstGeom>
          <a:solidFill>
            <a:srgbClr val="FF7900">
              <a:alpha val="2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0" y="24231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Merci</a:t>
            </a:r>
            <a:endParaRPr lang="en-US" sz="5600" dirty="0"/>
          </a:p>
        </p:txBody>
      </p:sp>
      <p:sp>
        <p:nvSpPr>
          <p:cNvPr id="6" name="Text 2"/>
          <p:cNvSpPr/>
          <p:nvPr/>
        </p:nvSpPr>
        <p:spPr>
          <a:xfrm>
            <a:off x="0" y="33375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 Discutons de la suite du projet.</a:t>
            </a:r>
            <a:endParaRPr lang="en-US" sz="1700" dirty="0"/>
          </a:p>
        </p:txBody>
      </p:sp>
      <p:sp>
        <p:nvSpPr>
          <p:cNvPr id="7" name="Shape 3"/>
          <p:cNvSpPr/>
          <p:nvPr/>
        </p:nvSpPr>
        <p:spPr>
          <a:xfrm>
            <a:off x="1450696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Image 2" descr="/home/claude/work/icons/users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288" y="4242816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017624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SAFESEND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4632808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1" name="Image 3" descr="/home/claude/work/icons/briefcase_4D6A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7400" y="4242816"/>
            <a:ext cx="310896" cy="3108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199736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Digital Center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7814920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F6A02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mage 4" descr="/home/claude/work/icons/award_F6A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9512" y="4242816"/>
            <a:ext cx="310896" cy="31089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381848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Summer Challenge</a:t>
            </a:r>
            <a:endParaRPr lang="en-US" sz="1250" dirty="0"/>
          </a:p>
        </p:txBody>
      </p:sp>
      <p:sp>
        <p:nvSpPr>
          <p:cNvPr id="16" name="Text 9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4320770C-CCD7-AB85-7254-995D502041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4048" y="1329840"/>
            <a:ext cx="723600" cy="723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B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A2C3C-0E5E-75B6-51AA-C856733A1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>
            <a:extLst>
              <a:ext uri="{FF2B5EF4-FFF2-40B4-BE49-F238E27FC236}">
                <a16:creationId xmlns:a16="http://schemas.microsoft.com/office/drawing/2014/main" id="{EBBE95BD-78D3-4C3E-40C6-C71A7DF48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F59868C-B467-8FEF-A6F8-A6CAAF6E80AE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E1EA916E-929C-CFF0-BC58-A26EE2DF78FD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Trois situations réelles de fraude</a:t>
            </a:r>
            <a:endParaRPr lang="en-US" sz="28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1FE757C-2415-81E2-9CA4-D1419B3E3818}"/>
              </a:ext>
            </a:extLst>
          </p:cNvPr>
          <p:cNvSpPr/>
          <p:nvPr/>
        </p:nvSpPr>
        <p:spPr>
          <a:xfrm>
            <a:off x="502920" y="1508760"/>
            <a:ext cx="3520440" cy="4709160"/>
          </a:xfrm>
          <a:prstGeom prst="roundRect">
            <a:avLst>
              <a:gd name="adj" fmla="val 2338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6C54C0CB-9F50-5C59-D728-241045B435CB}"/>
              </a:ext>
            </a:extLst>
          </p:cNvPr>
          <p:cNvSpPr/>
          <p:nvPr/>
        </p:nvSpPr>
        <p:spPr>
          <a:xfrm>
            <a:off x="502920" y="1508760"/>
            <a:ext cx="3520440" cy="5486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C59886C-5461-BF4C-0628-37901915D080}"/>
              </a:ext>
            </a:extLst>
          </p:cNvPr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8" name="Image 1" descr="/home/claude/work/icons/phone_FFFFFF.png">
            <a:extLst>
              <a:ext uri="{FF2B5EF4-FFF2-40B4-BE49-F238E27FC236}">
                <a16:creationId xmlns:a16="http://schemas.microsoft.com/office/drawing/2014/main" id="{EC150F46-98FE-5C8C-CB51-143134417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" y="1872691"/>
            <a:ext cx="460858" cy="460858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6688DF9A-90BA-1F5B-58CD-B12A01393672}"/>
              </a:ext>
            </a:extLst>
          </p:cNvPr>
          <p:cNvSpPr/>
          <p:nvPr/>
        </p:nvSpPr>
        <p:spPr>
          <a:xfrm>
            <a:off x="1554480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Ndongo Marie</a:t>
            </a:r>
            <a:endParaRPr lang="en-US" sz="145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2EFB12E-88D1-9130-C76E-0B482B13EF69}"/>
              </a:ext>
            </a:extLst>
          </p:cNvPr>
          <p:cNvSpPr/>
          <p:nvPr/>
        </p:nvSpPr>
        <p:spPr>
          <a:xfrm>
            <a:off x="1554480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ans · Commerçante</a:t>
            </a:r>
            <a:endParaRPr lang="en-US" sz="11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BCDE7BA-EA5B-74A8-5CFA-6F11AC08F7FE}"/>
              </a:ext>
            </a:extLst>
          </p:cNvPr>
          <p:cNvSpPr/>
          <p:nvPr/>
        </p:nvSpPr>
        <p:spPr>
          <a:xfrm>
            <a:off x="777240" y="26517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VÉCUE</a:t>
            </a:r>
            <a:endParaRPr lang="en-US" sz="105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8982B88-F997-9146-5CF3-261DCCFD134C}"/>
              </a:ext>
            </a:extLst>
          </p:cNvPr>
          <p:cNvSpPr/>
          <p:nvPr/>
        </p:nvSpPr>
        <p:spPr>
          <a:xfrm>
            <a:off x="777240" y="295351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faux « service client » l'appelle et la convainc de composer un code USSD pour « sécuriser » son compte — vidé quelques minutes plus tard.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18A04D7-AEBC-4C7E-1B0C-42E0B42A9960}"/>
              </a:ext>
            </a:extLst>
          </p:cNvPr>
          <p:cNvSpPr/>
          <p:nvPr/>
        </p:nvSpPr>
        <p:spPr>
          <a:xfrm>
            <a:off x="777240" y="484632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EC3FDE0-9648-FBB0-3458-AE92DECBEAD5}"/>
              </a:ext>
            </a:extLst>
          </p:cNvPr>
          <p:cNvSpPr/>
          <p:nvPr/>
        </p:nvSpPr>
        <p:spPr>
          <a:xfrm>
            <a:off x="914400" y="49377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10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006FF4E1-B898-636C-6CD1-70DE810DEF39}"/>
              </a:ext>
            </a:extLst>
          </p:cNvPr>
          <p:cNvSpPr/>
          <p:nvPr/>
        </p:nvSpPr>
        <p:spPr>
          <a:xfrm>
            <a:off x="914400" y="51663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alertée en temps réel pendant l'appel suspect.</a:t>
            </a:r>
            <a:endParaRPr lang="en-US" sz="120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4CEB0455-7145-9A83-FD26-3597CC8C0D14}"/>
              </a:ext>
            </a:extLst>
          </p:cNvPr>
          <p:cNvSpPr/>
          <p:nvPr/>
        </p:nvSpPr>
        <p:spPr>
          <a:xfrm>
            <a:off x="4224528" y="1508760"/>
            <a:ext cx="3520440" cy="4709160"/>
          </a:xfrm>
          <a:prstGeom prst="roundRect">
            <a:avLst>
              <a:gd name="adj" fmla="val 2338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35962D65-4180-4B86-1BC5-87C70D7969C7}"/>
              </a:ext>
            </a:extLst>
          </p:cNvPr>
          <p:cNvSpPr/>
          <p:nvPr/>
        </p:nvSpPr>
        <p:spPr>
          <a:xfrm>
            <a:off x="4224528" y="1508760"/>
            <a:ext cx="3520440" cy="548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0601873E-BE7C-30A2-869D-BE366505F5DE}"/>
              </a:ext>
            </a:extLst>
          </p:cNvPr>
          <p:cNvSpPr/>
          <p:nvPr/>
        </p:nvSpPr>
        <p:spPr>
          <a:xfrm>
            <a:off x="4498848" y="1783080"/>
            <a:ext cx="640080" cy="640080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9" name="Image 2" descr="/home/claude/work/icons/card_FFFFFF.png">
            <a:extLst>
              <a:ext uri="{FF2B5EF4-FFF2-40B4-BE49-F238E27FC236}">
                <a16:creationId xmlns:a16="http://schemas.microsoft.com/office/drawing/2014/main" id="{BDB74E14-AAEF-D239-7F1D-D9EA088E2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8459" y="1872691"/>
            <a:ext cx="460858" cy="460858"/>
          </a:xfrm>
          <a:prstGeom prst="rect">
            <a:avLst/>
          </a:prstGeom>
        </p:spPr>
      </p:pic>
      <p:sp>
        <p:nvSpPr>
          <p:cNvPr id="20" name="Text 15">
            <a:extLst>
              <a:ext uri="{FF2B5EF4-FFF2-40B4-BE49-F238E27FC236}">
                <a16:creationId xmlns:a16="http://schemas.microsoft.com/office/drawing/2014/main" id="{DAD48C26-36E1-78A1-3109-1EF7303EDFB0}"/>
              </a:ext>
            </a:extLst>
          </p:cNvPr>
          <p:cNvSpPr/>
          <p:nvPr/>
        </p:nvSpPr>
        <p:spPr>
          <a:xfrm>
            <a:off x="5276088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Fotso Junior</a:t>
            </a:r>
            <a:endParaRPr lang="en-US" sz="145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E4404438-86B6-951C-631C-32917ED33B74}"/>
              </a:ext>
            </a:extLst>
          </p:cNvPr>
          <p:cNvSpPr/>
          <p:nvPr/>
        </p:nvSpPr>
        <p:spPr>
          <a:xfrm>
            <a:off x="5276088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ans · Chauffeur moto-taxi</a:t>
            </a:r>
            <a:endParaRPr lang="en-US" sz="11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D777E23-D935-F14F-2E87-3CF04A409B87}"/>
              </a:ext>
            </a:extLst>
          </p:cNvPr>
          <p:cNvSpPr/>
          <p:nvPr/>
        </p:nvSpPr>
        <p:spPr>
          <a:xfrm>
            <a:off x="4498848" y="26517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VÉCUE</a:t>
            </a:r>
            <a:endParaRPr lang="en-US" sz="105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D5ECC5BA-B58A-BB29-9EC3-66ACE6732004}"/>
              </a:ext>
            </a:extLst>
          </p:cNvPr>
          <p:cNvSpPr/>
          <p:nvPr/>
        </p:nvSpPr>
        <p:spPr>
          <a:xfrm>
            <a:off x="4498848" y="295351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 agent partenaire » lui propose une offre limitée dans le temps. Pressé, il valide un transfert vers un numéro inconnu.</a:t>
            </a:r>
            <a:endParaRPr lang="en-US" sz="1200" dirty="0"/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EF0FE045-2C95-5BA8-5941-0DF1246064C1}"/>
              </a:ext>
            </a:extLst>
          </p:cNvPr>
          <p:cNvSpPr/>
          <p:nvPr/>
        </p:nvSpPr>
        <p:spPr>
          <a:xfrm>
            <a:off x="4498848" y="484632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813965B7-818E-5966-677D-AD8AD22C8E9A}"/>
              </a:ext>
            </a:extLst>
          </p:cNvPr>
          <p:cNvSpPr/>
          <p:nvPr/>
        </p:nvSpPr>
        <p:spPr>
          <a:xfrm>
            <a:off x="4636008" y="49377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10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9A442351-43D5-EC36-69C3-B53277FDDD6C}"/>
              </a:ext>
            </a:extLst>
          </p:cNvPr>
          <p:cNvSpPr/>
          <p:nvPr/>
        </p:nvSpPr>
        <p:spPr>
          <a:xfrm>
            <a:off x="4636008" y="51663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un numéro avant d'agir, et le signaler.</a:t>
            </a:r>
            <a:endParaRPr lang="en-US" sz="1200" dirty="0"/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BA0EF212-0683-A156-7F16-A1C8D97E50DF}"/>
              </a:ext>
            </a:extLst>
          </p:cNvPr>
          <p:cNvSpPr/>
          <p:nvPr/>
        </p:nvSpPr>
        <p:spPr>
          <a:xfrm>
            <a:off x="7946136" y="1508760"/>
            <a:ext cx="3520440" cy="4709160"/>
          </a:xfrm>
          <a:prstGeom prst="roundRect">
            <a:avLst>
              <a:gd name="adj" fmla="val 2338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C831B904-DD60-CFED-9087-AB3DD996930A}"/>
              </a:ext>
            </a:extLst>
          </p:cNvPr>
          <p:cNvSpPr/>
          <p:nvPr/>
        </p:nvSpPr>
        <p:spPr>
          <a:xfrm>
            <a:off x="7946136" y="1508760"/>
            <a:ext cx="3520440" cy="54864"/>
          </a:xfrm>
          <a:prstGeom prst="rect">
            <a:avLst/>
          </a:prstGeom>
          <a:solidFill>
            <a:srgbClr val="F6A02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6614EC4A-CF56-5453-471D-7189512BF2B1}"/>
              </a:ext>
            </a:extLst>
          </p:cNvPr>
          <p:cNvSpPr/>
          <p:nvPr/>
        </p:nvSpPr>
        <p:spPr>
          <a:xfrm>
            <a:off x="8220456" y="1783080"/>
            <a:ext cx="640080" cy="640080"/>
          </a:xfrm>
          <a:prstGeom prst="ellipse">
            <a:avLst/>
          </a:prstGeom>
          <a:solidFill>
            <a:srgbClr val="F6A02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0" name="Image 3" descr="/home/claude/work/icons/message_FFFFFF.png">
            <a:extLst>
              <a:ext uri="{FF2B5EF4-FFF2-40B4-BE49-F238E27FC236}">
                <a16:creationId xmlns:a16="http://schemas.microsoft.com/office/drawing/2014/main" id="{07D1ADBD-8A1F-9658-C2D8-DDC6CB408A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067" y="1872691"/>
            <a:ext cx="460858" cy="460858"/>
          </a:xfrm>
          <a:prstGeom prst="rect">
            <a:avLst/>
          </a:prstGeom>
        </p:spPr>
      </p:pic>
      <p:sp>
        <p:nvSpPr>
          <p:cNvPr id="31" name="Text 25">
            <a:extLst>
              <a:ext uri="{FF2B5EF4-FFF2-40B4-BE49-F238E27FC236}">
                <a16:creationId xmlns:a16="http://schemas.microsoft.com/office/drawing/2014/main" id="{312CE2FE-4984-C35A-A9FD-07EC48DA4852}"/>
              </a:ext>
            </a:extLst>
          </p:cNvPr>
          <p:cNvSpPr/>
          <p:nvPr/>
        </p:nvSpPr>
        <p:spPr>
          <a:xfrm>
            <a:off x="8997696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Ateba Sandrine</a:t>
            </a:r>
            <a:endParaRPr lang="en-US" sz="1450" dirty="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567F5FB6-FFCB-507A-C86C-A06C62599CCA}"/>
              </a:ext>
            </a:extLst>
          </p:cNvPr>
          <p:cNvSpPr/>
          <p:nvPr/>
        </p:nvSpPr>
        <p:spPr>
          <a:xfrm>
            <a:off x="8997696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ans · Enseignante</a:t>
            </a:r>
            <a:endParaRPr lang="en-US" sz="1100" dirty="0"/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49BCE3FB-6CA7-4815-2063-93FF639D677E}"/>
              </a:ext>
            </a:extLst>
          </p:cNvPr>
          <p:cNvSpPr/>
          <p:nvPr/>
        </p:nvSpPr>
        <p:spPr>
          <a:xfrm>
            <a:off x="8220456" y="26517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F6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VÉCUE</a:t>
            </a:r>
            <a:endParaRPr lang="en-US" sz="1050" dirty="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E1CE7DF9-AF42-0A58-5DE5-14A07234D403}"/>
              </a:ext>
            </a:extLst>
          </p:cNvPr>
          <p:cNvSpPr/>
          <p:nvPr/>
        </p:nvSpPr>
        <p:spPr>
          <a:xfrm>
            <a:off x="8220456" y="295351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 WhatsApp d'un proche est piraté. Le fraudeur, se faisant passer pour lui, lui demande un dépannage urgent.</a:t>
            </a:r>
            <a:endParaRPr lang="en-US" sz="1200" dirty="0"/>
          </a:p>
        </p:txBody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4378AC79-91F2-8EFC-A15F-9B9F034A74B9}"/>
              </a:ext>
            </a:extLst>
          </p:cNvPr>
          <p:cNvSpPr/>
          <p:nvPr/>
        </p:nvSpPr>
        <p:spPr>
          <a:xfrm>
            <a:off x="8220456" y="484632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060D81-19BF-DBFC-3C12-E681EA41E2D1}"/>
              </a:ext>
            </a:extLst>
          </p:cNvPr>
          <p:cNvSpPr/>
          <p:nvPr/>
        </p:nvSpPr>
        <p:spPr>
          <a:xfrm>
            <a:off x="8357616" y="49377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6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1000" dirty="0"/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36D57E6D-BEE8-90F8-3070-A6D03162AAEB}"/>
              </a:ext>
            </a:extLst>
          </p:cNvPr>
          <p:cNvSpPr/>
          <p:nvPr/>
        </p:nvSpPr>
        <p:spPr>
          <a:xfrm>
            <a:off x="8357616" y="51663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protégée aussi sur WhatsApp, et alerter ses contacts.</a:t>
            </a:r>
            <a:endParaRPr lang="en-US" sz="120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8F93A2CA-0F3F-6138-7AEF-12B1B1B3B819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893684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1404</Words>
  <Application>Microsoft Office PowerPoint</Application>
  <PresentationFormat>Grand écran</PresentationFormat>
  <Paragraphs>327</Paragraphs>
  <Slides>27</Slides>
  <Notes>27</Notes>
  <HiddenSlides>2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Calibri</vt:lpstr>
      <vt:lpstr>Montserrat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Brayan Weko</cp:lastModifiedBy>
  <cp:revision>9</cp:revision>
  <dcterms:created xsi:type="dcterms:W3CDTF">2026-08-04T22:27:39Z</dcterms:created>
  <dcterms:modified xsi:type="dcterms:W3CDTF">2026-08-19T04:26:57Z</dcterms:modified>
</cp:coreProperties>
</file>