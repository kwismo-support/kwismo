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2" r:id="rId15"/>
    <p:sldId id="281" r:id="rId16"/>
    <p:sldId id="269" r:id="rId17"/>
    <p:sldId id="270" r:id="rId18"/>
    <p:sldId id="271" r:id="rId19"/>
    <p:sldId id="272" r:id="rId20"/>
    <p:sldId id="273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8963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BB7CF-3D78-4E43-DE87-C958AFD04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97BF0B-056C-9851-4962-DE16269F1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12D231-60A6-57EF-B903-12513BBAC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6DC7A-12F7-5CE5-73C8-A44897E6F6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908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3A0AE-2CF9-9D89-6AF1-28101066B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44DF40-407B-B80C-DC36-29BCD7E43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2B6F97-3B49-8390-F553-6CEA50B24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9D232-4EE5-7683-6B7A-869A211DA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0146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4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6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92928" y="594360"/>
            <a:ext cx="1005840" cy="1005840"/>
          </a:xfrm>
          <a:prstGeom prst="ellipse">
            <a:avLst/>
          </a:prstGeom>
          <a:solidFill>
            <a:srgbClr val="FF7900">
              <a:alpha val="22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5" name="Text 1"/>
          <p:cNvSpPr/>
          <p:nvPr/>
        </p:nvSpPr>
        <p:spPr>
          <a:xfrm>
            <a:off x="0" y="19659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6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CADRAGE DE PROJET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0" y="2377440"/>
            <a:ext cx="12191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KWISMO</a:t>
            </a:r>
            <a:endParaRPr lang="en-US" sz="6600" dirty="0"/>
          </a:p>
        </p:txBody>
      </p:sp>
      <p:sp>
        <p:nvSpPr>
          <p:cNvPr id="7" name="Text 3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anti-fraude Mobile Money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970636" y="4343400"/>
            <a:ext cx="3246120" cy="566928"/>
          </a:xfrm>
          <a:prstGeom prst="roundRect">
            <a:avLst>
              <a:gd name="adj" fmla="val 50000"/>
            </a:avLst>
          </a:prstGeom>
          <a:solidFill>
            <a:srgbClr val="232C42"/>
          </a:solidFill>
          <a:ln w="9525">
            <a:solidFill>
              <a:srgbClr val="FF790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9" name="Image 2" descr="/home/claude/work/icons/users_FF79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228" y="4471416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7564" y="43434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SAFESEND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4472788" y="4343400"/>
            <a:ext cx="3246120" cy="566928"/>
          </a:xfrm>
          <a:prstGeom prst="roundRect">
            <a:avLst>
              <a:gd name="adj" fmla="val 50000"/>
            </a:avLst>
          </a:prstGeom>
          <a:solidFill>
            <a:srgbClr val="232C42"/>
          </a:solidFill>
          <a:ln w="9525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2" name="Image 3" descr="/home/claude/work/icons/briefcase_4D6A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7380" y="4471416"/>
            <a:ext cx="310896" cy="310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039716" y="43434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 Orange Digital Center</a:t>
            </a:r>
            <a:endParaRPr lang="fr-FR" sz="1250" noProof="0" dirty="0"/>
          </a:p>
        </p:txBody>
      </p:sp>
      <p:sp>
        <p:nvSpPr>
          <p:cNvPr id="14" name="Shape 8"/>
          <p:cNvSpPr/>
          <p:nvPr/>
        </p:nvSpPr>
        <p:spPr>
          <a:xfrm>
            <a:off x="7974940" y="4343400"/>
            <a:ext cx="3246120" cy="566928"/>
          </a:xfrm>
          <a:prstGeom prst="roundRect">
            <a:avLst>
              <a:gd name="adj" fmla="val 50000"/>
            </a:avLst>
          </a:prstGeom>
          <a:solidFill>
            <a:srgbClr val="232C42"/>
          </a:solidFill>
          <a:ln w="9525">
            <a:solidFill>
              <a:srgbClr val="F6A02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5" name="Image 4" descr="/home/claude/work/icons/award_F6A0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9532" y="4471416"/>
            <a:ext cx="310896" cy="3108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541868" y="43434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Summer Challenge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0" y="629107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 2026</a:t>
            </a:r>
            <a:endParaRPr lang="fr-FR" sz="1100" noProof="0" dirty="0"/>
          </a:p>
        </p:txBody>
      </p:sp>
      <p:sp>
        <p:nvSpPr>
          <p:cNvPr id="18" name="Text 11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704D3E4F-25A2-42FD-9C82-F3596BC190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4048" y="735480"/>
            <a:ext cx="723600" cy="72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nous allons voir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" name="Shape 3"/>
          <p:cNvSpPr/>
          <p:nvPr/>
        </p:nvSpPr>
        <p:spPr>
          <a:xfrm>
            <a:off x="667512" y="1764792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7" name="Image 1" descr="/home/claude/work/icons/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28800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600200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5074920" y="1600200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920" y="2496312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1" name="Shape 7"/>
          <p:cNvSpPr/>
          <p:nvPr/>
        </p:nvSpPr>
        <p:spPr>
          <a:xfrm>
            <a:off x="667512" y="2660904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2" name="Image 2" descr="/home/claude/work/icons/briefc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72491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496312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du projet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5074920" y="2496312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02920" y="3392424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6" name="Shape 11"/>
          <p:cNvSpPr/>
          <p:nvPr/>
        </p:nvSpPr>
        <p:spPr>
          <a:xfrm>
            <a:off x="667512" y="3557016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7" name="Image 3" descr="/home/claude/work/icons/barchar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21024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392424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étude de marché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5074920" y="3392424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P.7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02920" y="4288536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1" name="Shape 15"/>
          <p:cNvSpPr/>
          <p:nvPr/>
        </p:nvSpPr>
        <p:spPr>
          <a:xfrm>
            <a:off x="667512" y="4453128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22" name="Image 4" descr="/home/claude/work/icons/aler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517136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0160" y="4288536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utilisateur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5074920" y="4288536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P.10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502920" y="5184648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6" name="Shape 19"/>
          <p:cNvSpPr/>
          <p:nvPr/>
        </p:nvSpPr>
        <p:spPr>
          <a:xfrm>
            <a:off x="667512" y="5349240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27" name="Image 5" descr="/home/claude/work/icons/user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5413248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280160" y="5184648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5074920" y="5184648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P.12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6309360" y="1600200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1" name="Shape 23"/>
          <p:cNvSpPr/>
          <p:nvPr/>
        </p:nvSpPr>
        <p:spPr>
          <a:xfrm>
            <a:off x="6473952" y="1764792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32" name="Image 6" descr="/home/claude/work/icons/shield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1828800"/>
            <a:ext cx="329184" cy="32918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086600" y="1600200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KWISMO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10881360" y="1600200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P.16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6309360" y="2496312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6" name="Shape 27"/>
          <p:cNvSpPr/>
          <p:nvPr/>
        </p:nvSpPr>
        <p:spPr>
          <a:xfrm>
            <a:off x="6473952" y="2660904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37" name="Image 7" descr="/home/claude/work/icons/zap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2724912"/>
            <a:ext cx="329184" cy="32918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086600" y="2496312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KWISMO apporte</a:t>
            </a:r>
            <a:endParaRPr lang="en-US" sz="1450" dirty="0"/>
          </a:p>
        </p:txBody>
      </p:sp>
      <p:sp>
        <p:nvSpPr>
          <p:cNvPr id="39" name="Text 29"/>
          <p:cNvSpPr/>
          <p:nvPr/>
        </p:nvSpPr>
        <p:spPr>
          <a:xfrm>
            <a:off x="10881360" y="2496312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P.18</a:t>
            </a:r>
            <a:endParaRPr lang="en-US" sz="1300" dirty="0"/>
          </a:p>
        </p:txBody>
      </p:sp>
      <p:sp>
        <p:nvSpPr>
          <p:cNvPr id="40" name="Shape 30"/>
          <p:cNvSpPr/>
          <p:nvPr/>
        </p:nvSpPr>
        <p:spPr>
          <a:xfrm>
            <a:off x="6309360" y="3392424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1" name="Shape 31"/>
          <p:cNvSpPr/>
          <p:nvPr/>
        </p:nvSpPr>
        <p:spPr>
          <a:xfrm>
            <a:off x="6473952" y="3557016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42" name="Image 8" descr="/home/claude/work/icons/layers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3621024"/>
            <a:ext cx="329184" cy="329184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7086600" y="3392424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</a:t>
            </a:r>
            <a:endParaRPr lang="fr-FR" sz="1450" noProof="0" dirty="0"/>
          </a:p>
        </p:txBody>
      </p:sp>
      <p:sp>
        <p:nvSpPr>
          <p:cNvPr id="44" name="Text 33"/>
          <p:cNvSpPr/>
          <p:nvPr/>
        </p:nvSpPr>
        <p:spPr>
          <a:xfrm>
            <a:off x="10881360" y="3392424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P.19</a:t>
            </a:r>
            <a:endParaRPr lang="en-US" sz="1300" dirty="0"/>
          </a:p>
        </p:txBody>
      </p:sp>
      <p:sp>
        <p:nvSpPr>
          <p:cNvPr id="45" name="Shape 34"/>
          <p:cNvSpPr/>
          <p:nvPr/>
        </p:nvSpPr>
        <p:spPr>
          <a:xfrm>
            <a:off x="6309360" y="4288536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6" name="Shape 35"/>
          <p:cNvSpPr/>
          <p:nvPr/>
        </p:nvSpPr>
        <p:spPr>
          <a:xfrm>
            <a:off x="6473952" y="4453128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47" name="Image 9" descr="/home/claude/work/icons/package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7960" y="4517136"/>
            <a:ext cx="329184" cy="329184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7086600" y="4288536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attendus</a:t>
            </a:r>
            <a:endParaRPr lang="en-US" sz="1450" dirty="0"/>
          </a:p>
        </p:txBody>
      </p:sp>
      <p:sp>
        <p:nvSpPr>
          <p:cNvPr id="49" name="Text 37"/>
          <p:cNvSpPr/>
          <p:nvPr/>
        </p:nvSpPr>
        <p:spPr>
          <a:xfrm>
            <a:off x="10881360" y="4288536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P.21</a:t>
            </a:r>
            <a:endParaRPr lang="en-US" sz="1300" dirty="0"/>
          </a:p>
        </p:txBody>
      </p:sp>
      <p:sp>
        <p:nvSpPr>
          <p:cNvPr id="50" name="Shape 38"/>
          <p:cNvSpPr/>
          <p:nvPr/>
        </p:nvSpPr>
        <p:spPr>
          <a:xfrm>
            <a:off x="6309360" y="5184648"/>
            <a:ext cx="5257800" cy="786384"/>
          </a:xfrm>
          <a:prstGeom prst="roundRect">
            <a:avLst>
              <a:gd name="adj" fmla="val 9302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51" name="Shape 39"/>
          <p:cNvSpPr/>
          <p:nvPr/>
        </p:nvSpPr>
        <p:spPr>
          <a:xfrm>
            <a:off x="6473952" y="5349240"/>
            <a:ext cx="457200" cy="4572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52" name="Image 10" descr="/home/claude/work/icons/calendar_FFFF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7960" y="5413248"/>
            <a:ext cx="329184" cy="329184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7086600" y="5184648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</a:t>
            </a:r>
            <a:endParaRPr lang="en-US" sz="1450" dirty="0"/>
          </a:p>
        </p:txBody>
      </p:sp>
      <p:sp>
        <p:nvSpPr>
          <p:cNvPr id="54" name="Text 41"/>
          <p:cNvSpPr/>
          <p:nvPr/>
        </p:nvSpPr>
        <p:spPr>
          <a:xfrm>
            <a:off x="10881360" y="5184648"/>
            <a:ext cx="594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P.23</a:t>
            </a:r>
            <a:endParaRPr lang="en-US" sz="1300" dirty="0"/>
          </a:p>
        </p:txBody>
      </p:sp>
      <p:sp>
        <p:nvSpPr>
          <p:cNvPr id="55" name="Text 4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SOMMES-NOUS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L'équipe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talents de l'équipe SAFESEND, réunis autour d'une seule mission : protéger les utilisateurs Mobile Money.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FF79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FF7900">
              <a:alpha val="15000"/>
            </a:srgbClr>
          </a:solidFill>
          <a:ln w="19050">
            <a:solidFill>
              <a:srgbClr val="FF790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0" name="Image 1" descr="/home/claude/work/icons/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SAFESEND — 6 talents, une seule mission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" name="Shape 3"/>
          <p:cNvSpPr/>
          <p:nvPr/>
        </p:nvSpPr>
        <p:spPr>
          <a:xfrm>
            <a:off x="1783080" y="1764792"/>
            <a:ext cx="960120" cy="960120"/>
          </a:xfrm>
          <a:prstGeom prst="ellipse">
            <a:avLst/>
          </a:prstGeom>
          <a:solidFill>
            <a:srgbClr val="FF7900">
              <a:alpha val="18000"/>
            </a:srgbClr>
          </a:solidFill>
          <a:ln w="15875">
            <a:solidFill>
              <a:srgbClr val="FF79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7" name="Image 1" descr="/home/claude/work/icons/us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509" y="1956816"/>
            <a:ext cx="499262" cy="4992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2862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Achonduh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777240" y="3273552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FF7900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0" name="Text 6"/>
          <p:cNvSpPr/>
          <p:nvPr/>
        </p:nvSpPr>
        <p:spPr>
          <a:xfrm>
            <a:off x="822960" y="327355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Porteur de projet &amp; Dev Backend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279392" y="150876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2" name="Shape 8"/>
          <p:cNvSpPr/>
          <p:nvPr/>
        </p:nvSpPr>
        <p:spPr>
          <a:xfrm>
            <a:off x="5559552" y="1764792"/>
            <a:ext cx="960120" cy="960120"/>
          </a:xfrm>
          <a:prstGeom prst="ellipse">
            <a:avLst/>
          </a:prstGeom>
          <a:solidFill>
            <a:srgbClr val="4D6AB1">
              <a:alpha val="18000"/>
            </a:srgbClr>
          </a:solidFill>
          <a:ln w="15875">
            <a:solidFill>
              <a:srgbClr val="4D6AB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3" name="Image 2" descr="/home/claude/work/icons/us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981" y="1956816"/>
            <a:ext cx="499262" cy="4992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16552" y="2862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Brayan Weko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4553712" y="3273552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4D6AB1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6" name="Text 11"/>
          <p:cNvSpPr/>
          <p:nvPr/>
        </p:nvSpPr>
        <p:spPr>
          <a:xfrm>
            <a:off x="4599432" y="327355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d'équipe &amp; Dev Mobile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055864" y="150876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8" name="Shape 13"/>
          <p:cNvSpPr/>
          <p:nvPr/>
        </p:nvSpPr>
        <p:spPr>
          <a:xfrm>
            <a:off x="9336024" y="1764792"/>
            <a:ext cx="960120" cy="960120"/>
          </a:xfrm>
          <a:prstGeom prst="ellipse">
            <a:avLst/>
          </a:prstGeom>
          <a:solidFill>
            <a:srgbClr val="F6A020">
              <a:alpha val="18000"/>
            </a:srgbClr>
          </a:solidFill>
          <a:ln w="15875">
            <a:solidFill>
              <a:srgbClr val="F6A02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9" name="Image 3" descr="/home/claude/work/icons/us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453" y="1956816"/>
            <a:ext cx="499262" cy="4992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93024" y="2862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Ingrid Gabin Mboutie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8330184" y="3273552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F6A020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2" name="Text 16"/>
          <p:cNvSpPr/>
          <p:nvPr/>
        </p:nvSpPr>
        <p:spPr>
          <a:xfrm>
            <a:off x="8375904" y="327355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UI / UX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02920" y="4096512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4" name="Shape 18"/>
          <p:cNvSpPr/>
          <p:nvPr/>
        </p:nvSpPr>
        <p:spPr>
          <a:xfrm>
            <a:off x="1783080" y="4352544"/>
            <a:ext cx="960120" cy="960120"/>
          </a:xfrm>
          <a:prstGeom prst="ellipse">
            <a:avLst/>
          </a:prstGeom>
          <a:solidFill>
            <a:srgbClr val="4D6AB1">
              <a:alpha val="18000"/>
            </a:srgbClr>
          </a:solidFill>
          <a:ln w="15875">
            <a:solidFill>
              <a:srgbClr val="4D6AB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25" name="Image 4" descr="/home/claude/work/icons/us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509" y="4544568"/>
            <a:ext cx="499262" cy="49926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0080" y="544982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Lumière Bothe</a:t>
            </a:r>
            <a:endParaRPr lang="en-US" sz="1450" dirty="0"/>
          </a:p>
        </p:txBody>
      </p:sp>
      <p:sp>
        <p:nvSpPr>
          <p:cNvPr id="27" name="Shape 20"/>
          <p:cNvSpPr/>
          <p:nvPr/>
        </p:nvSpPr>
        <p:spPr>
          <a:xfrm>
            <a:off x="777240" y="5861304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4D6AB1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8" name="Text 21"/>
          <p:cNvSpPr/>
          <p:nvPr/>
        </p:nvSpPr>
        <p:spPr>
          <a:xfrm>
            <a:off x="822960" y="586130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Développeuse Web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279392" y="4096512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0" name="Shape 23"/>
          <p:cNvSpPr/>
          <p:nvPr/>
        </p:nvSpPr>
        <p:spPr>
          <a:xfrm>
            <a:off x="5559552" y="4352544"/>
            <a:ext cx="960120" cy="960120"/>
          </a:xfrm>
          <a:prstGeom prst="ellipse">
            <a:avLst/>
          </a:prstGeom>
          <a:solidFill>
            <a:srgbClr val="FF7900">
              <a:alpha val="18000"/>
            </a:srgbClr>
          </a:solidFill>
          <a:ln w="15875">
            <a:solidFill>
              <a:srgbClr val="FF79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31" name="Image 5" descr="/home/claude/work/icons/us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981" y="4544568"/>
            <a:ext cx="499262" cy="49926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416552" y="544982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Leal Braël Tido Keubou</a:t>
            </a:r>
            <a:endParaRPr lang="en-US" sz="1450" dirty="0"/>
          </a:p>
        </p:txBody>
      </p:sp>
      <p:sp>
        <p:nvSpPr>
          <p:cNvPr id="33" name="Shape 25"/>
          <p:cNvSpPr/>
          <p:nvPr/>
        </p:nvSpPr>
        <p:spPr>
          <a:xfrm>
            <a:off x="4553712" y="5861304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FF7900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4" name="Text 26"/>
          <p:cNvSpPr/>
          <p:nvPr/>
        </p:nvSpPr>
        <p:spPr>
          <a:xfrm>
            <a:off x="4599432" y="586130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Intelligence Artificielle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8055864" y="4096512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6" name="Shape 28"/>
          <p:cNvSpPr/>
          <p:nvPr/>
        </p:nvSpPr>
        <p:spPr>
          <a:xfrm>
            <a:off x="9336024" y="4352544"/>
            <a:ext cx="960120" cy="960120"/>
          </a:xfrm>
          <a:prstGeom prst="ellipse">
            <a:avLst/>
          </a:prstGeom>
          <a:solidFill>
            <a:srgbClr val="4D6AB1">
              <a:alpha val="18000"/>
            </a:srgbClr>
          </a:solidFill>
          <a:ln w="15875">
            <a:solidFill>
              <a:srgbClr val="4D6AB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37" name="Image 6" descr="/home/claude/work/icons/us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453" y="4544568"/>
            <a:ext cx="499262" cy="49926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193024" y="544982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Sonia Tchakounte Nana</a:t>
            </a:r>
            <a:endParaRPr lang="en-US" sz="1450" dirty="0"/>
          </a:p>
        </p:txBody>
      </p:sp>
      <p:sp>
        <p:nvSpPr>
          <p:cNvPr id="39" name="Shape 30"/>
          <p:cNvSpPr/>
          <p:nvPr/>
        </p:nvSpPr>
        <p:spPr>
          <a:xfrm>
            <a:off x="8330184" y="5861304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4D6AB1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0" name="Text 31"/>
          <p:cNvSpPr/>
          <p:nvPr/>
        </p:nvSpPr>
        <p:spPr>
          <a:xfrm>
            <a:off x="8375904" y="586130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Intelligence Artificielle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INSTITUTIONNEL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Cadre du projet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porté avec Orange Digital Center, dans le cadre de l'Orange Summer Challenge.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4D6A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4D6AB1">
              <a:alpha val="15000"/>
            </a:srgbClr>
          </a:solidFill>
          <a:ln w="19050">
            <a:solidFill>
              <a:srgbClr val="4D6AB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0" name="Image 1" descr="/home/claude/work/icons/briefc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DU PROJET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projet porté avec Orange Digital Center</a:t>
            </a:r>
            <a:endParaRPr lang="fr-FR" sz="2800" noProof="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" name="Shape 3"/>
          <p:cNvSpPr/>
          <p:nvPr/>
        </p:nvSpPr>
        <p:spPr>
          <a:xfrm>
            <a:off x="795528" y="1801368"/>
            <a:ext cx="566928" cy="566928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7" name="Image 1" descr="/home/claude/work/icons/briefc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898" y="1880738"/>
            <a:ext cx="408188" cy="4081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8013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554480" y="20391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Orange Digital Center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95528" y="2651760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soutien de l'Orange Digital Center, qui accompagne les équipes dans le développement de solutions innovantes.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016752" y="150876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2" name="Shape 8"/>
          <p:cNvSpPr/>
          <p:nvPr/>
        </p:nvSpPr>
        <p:spPr>
          <a:xfrm>
            <a:off x="6309360" y="1801368"/>
            <a:ext cx="566928" cy="566928"/>
          </a:xfrm>
          <a:prstGeom prst="ellipse">
            <a:avLst/>
          </a:prstGeom>
          <a:solidFill>
            <a:srgbClr val="4D6AB1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3" name="Image 2" descr="/home/claude/work/icons/awar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8730" y="1880738"/>
            <a:ext cx="408188" cy="4081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68312" y="18013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7068312" y="20391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Orange Summer Challenge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309360" y="2651760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programme d'accompagnement à l'innovation, du cadrage jusqu'à la démonstration finale.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02920" y="3977640"/>
            <a:ext cx="10771632" cy="2148840"/>
          </a:xfrm>
          <a:prstGeom prst="roundRect">
            <a:avLst>
              <a:gd name="adj" fmla="val 4865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8" name="Shape 13"/>
          <p:cNvSpPr/>
          <p:nvPr/>
        </p:nvSpPr>
        <p:spPr>
          <a:xfrm>
            <a:off x="795528" y="4270248"/>
            <a:ext cx="566928" cy="566928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9" name="Image 3" descr="/home/claude/work/icons/targe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898" y="4349618"/>
            <a:ext cx="408188" cy="4081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270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DE CE DOCUMENT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95528" y="5135336"/>
            <a:ext cx="10186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Rassembler contexte, problème, personas, solution, positionnement, livrables et planification en un seul document de référence pour l'équipe et le partenaire.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AE0AB4EF-632C-729B-DE5B-8742848DCED2}"/>
              </a:ext>
            </a:extLst>
          </p:cNvPr>
          <p:cNvSpPr/>
          <p:nvPr/>
        </p:nvSpPr>
        <p:spPr>
          <a:xfrm>
            <a:off x="1554480" y="451713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Présentation du projet</a:t>
            </a:r>
            <a:endParaRPr lang="fr-FR" sz="18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MAINTENANT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Contexte &amp; étude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marché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cybercriminalité et la fraude Mobile Money progressent plus vite que les réponses apportées au Cameroun.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FF79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FF7900">
              <a:alpha val="15000"/>
            </a:srgbClr>
          </a:solidFill>
          <a:ln w="19050">
            <a:solidFill>
              <a:srgbClr val="FF790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0" name="Image 1" descr="/home/claude/work/icons/barcha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ÉTUDE DE MARCHÉ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cybercriminalité au Cameroun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" name="Shape 3"/>
          <p:cNvSpPr/>
          <p:nvPr/>
        </p:nvSpPr>
        <p:spPr>
          <a:xfrm>
            <a:off x="502920" y="1527048"/>
            <a:ext cx="54864" cy="1563624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58952" y="1673352"/>
            <a:ext cx="208483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32 500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58952" y="238887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réquisitions judiciaires traitées par l'ANTIC en 2025 (+30% vs 2024)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27832" y="1508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0" name="Shape 7"/>
          <p:cNvSpPr/>
          <p:nvPr/>
        </p:nvSpPr>
        <p:spPr>
          <a:xfrm>
            <a:off x="3227832" y="1527048"/>
            <a:ext cx="54864" cy="1563624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1" name="Text 8"/>
          <p:cNvSpPr/>
          <p:nvPr/>
        </p:nvSpPr>
        <p:spPr>
          <a:xfrm>
            <a:off x="3483864" y="1673352"/>
            <a:ext cx="208483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8 502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483864" y="238887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vulnérabilités techniques détectées depuis janvier 2024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52744" y="1508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4" name="Shape 11"/>
          <p:cNvSpPr/>
          <p:nvPr/>
        </p:nvSpPr>
        <p:spPr>
          <a:xfrm>
            <a:off x="5952744" y="1527048"/>
            <a:ext cx="54864" cy="1563624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5" name="Text 12"/>
          <p:cNvSpPr/>
          <p:nvPr/>
        </p:nvSpPr>
        <p:spPr>
          <a:xfrm>
            <a:off x="6208776" y="1673352"/>
            <a:ext cx="208483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1,027 Md FCFA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208776" y="238887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perdus en 2025 à cause des arnaques en ligne — MINPOSTEL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677656" y="1508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8" name="Shape 15"/>
          <p:cNvSpPr/>
          <p:nvPr/>
        </p:nvSpPr>
        <p:spPr>
          <a:xfrm>
            <a:off x="8677656" y="1527048"/>
            <a:ext cx="54864" cy="1563624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9" name="Text 16"/>
          <p:cNvSpPr/>
          <p:nvPr/>
        </p:nvSpPr>
        <p:spPr>
          <a:xfrm>
            <a:off x="8933688" y="1673352"/>
            <a:ext cx="208483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+30%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933688" y="238887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hausse annuelle des sollicitations judiciaires liées au numérique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2920" y="3429000"/>
            <a:ext cx="10716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cybercriminalité ne se limite plus aux attaques techniques : elle s'étend aux escroqueries qui exploitent directement la confiance des utilisateurs Mobile Money.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02920" y="4251960"/>
            <a:ext cx="10716768" cy="1691640"/>
          </a:xfrm>
          <a:prstGeom prst="roundRect">
            <a:avLst>
              <a:gd name="adj" fmla="val 4865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3" name="Shape 20"/>
          <p:cNvSpPr/>
          <p:nvPr/>
        </p:nvSpPr>
        <p:spPr>
          <a:xfrm>
            <a:off x="795528" y="4754880"/>
            <a:ext cx="685800" cy="68580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24" name="Image 1" descr="/home/claude/work/icons/ale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428" y="4831124"/>
            <a:ext cx="468000" cy="4680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737360" y="4753080"/>
            <a:ext cx="9052560" cy="68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fr-FR" sz="1450" noProof="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L'essentiel de la lutte reste concentré sur la réponse judiciaire a posteriori — peu d'outils protègent l'utilisateur après une arnaque et encore moins au moment précis où celle-ci se produit.</a:t>
            </a:r>
            <a:endParaRPr lang="fr-FR" sz="1450" noProof="0" dirty="0"/>
          </a:p>
        </p:txBody>
      </p:sp>
      <p:sp>
        <p:nvSpPr>
          <p:cNvPr id="26" name="Text 2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ÉTUDE DE MARCHÉ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fraude Mobile Money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3600000" cy="1463040"/>
          </a:xfrm>
          <a:prstGeom prst="roundRect">
            <a:avLst>
              <a:gd name="adj" fmla="val 5625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" name="Shape 3"/>
          <p:cNvSpPr/>
          <p:nvPr/>
        </p:nvSpPr>
        <p:spPr>
          <a:xfrm>
            <a:off x="502920" y="1481328"/>
            <a:ext cx="54864" cy="1426464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58952" y="162763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M+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58952" y="2267712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actifs Mobile Money au Cameroun (2025)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89906" y="1463040"/>
            <a:ext cx="3600000" cy="1463040"/>
          </a:xfrm>
          <a:prstGeom prst="roundRect">
            <a:avLst>
              <a:gd name="adj" fmla="val 5625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0" name="Shape 7"/>
          <p:cNvSpPr/>
          <p:nvPr/>
        </p:nvSpPr>
        <p:spPr>
          <a:xfrm>
            <a:off x="4289906" y="1481328"/>
            <a:ext cx="54864" cy="1426464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1" name="Text 8"/>
          <p:cNvSpPr/>
          <p:nvPr/>
        </p:nvSpPr>
        <p:spPr>
          <a:xfrm>
            <a:off x="4545938" y="1627632"/>
            <a:ext cx="30975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22 137 Md FCFA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545938" y="2267712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transactions Mobile Money en zone CEMAC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76891" y="1463040"/>
            <a:ext cx="3600000" cy="1463040"/>
          </a:xfrm>
          <a:prstGeom prst="roundRect">
            <a:avLst>
              <a:gd name="adj" fmla="val 5625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4" name="Shape 11"/>
          <p:cNvSpPr/>
          <p:nvPr/>
        </p:nvSpPr>
        <p:spPr>
          <a:xfrm>
            <a:off x="8076893" y="1481328"/>
            <a:ext cx="54864" cy="1426464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5" name="Text 12"/>
          <p:cNvSpPr/>
          <p:nvPr/>
        </p:nvSpPr>
        <p:spPr>
          <a:xfrm>
            <a:off x="8332925" y="162763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+28%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332925" y="2267712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hausse des fraudes sur paiements mobiles en 2026 — BEAC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0292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kern="0" spc="120" noProof="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ORIGINE DE LA FRAUDE — MOBILE MONEY</a:t>
            </a:r>
            <a:endParaRPr lang="fr-FR" sz="1100" noProof="0" dirty="0"/>
          </a:p>
        </p:txBody>
      </p:sp>
      <p:sp>
        <p:nvSpPr>
          <p:cNvPr id="18" name="Text 15"/>
          <p:cNvSpPr/>
          <p:nvPr/>
        </p:nvSpPr>
        <p:spPr>
          <a:xfrm>
            <a:off x="50292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Ingénierie sociale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971800" y="3703320"/>
            <a:ext cx="2743200" cy="237744"/>
          </a:xfrm>
          <a:prstGeom prst="roundRect">
            <a:avLst>
              <a:gd name="adj" fmla="val 19231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0" name="Shape 17"/>
          <p:cNvSpPr/>
          <p:nvPr/>
        </p:nvSpPr>
        <p:spPr>
          <a:xfrm>
            <a:off x="2971800" y="3703320"/>
            <a:ext cx="2386584" cy="237744"/>
          </a:xfrm>
          <a:prstGeom prst="roundRect">
            <a:avLst>
              <a:gd name="adj" fmla="val 19231"/>
            </a:avLst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1" name="Text 18"/>
          <p:cNvSpPr/>
          <p:nvPr/>
        </p:nvSpPr>
        <p:spPr>
          <a:xfrm>
            <a:off x="5806440" y="3657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0292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Failles techniques</a:t>
            </a:r>
            <a:endParaRPr lang="fr-FR" sz="1250" noProof="0" dirty="0"/>
          </a:p>
        </p:txBody>
      </p:sp>
      <p:sp>
        <p:nvSpPr>
          <p:cNvPr id="23" name="Shape 20"/>
          <p:cNvSpPr/>
          <p:nvPr/>
        </p:nvSpPr>
        <p:spPr>
          <a:xfrm>
            <a:off x="2971800" y="4206240"/>
            <a:ext cx="2743200" cy="237744"/>
          </a:xfrm>
          <a:prstGeom prst="roundRect">
            <a:avLst>
              <a:gd name="adj" fmla="val 19231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4" name="Shape 21"/>
          <p:cNvSpPr/>
          <p:nvPr/>
        </p:nvSpPr>
        <p:spPr>
          <a:xfrm>
            <a:off x="2971800" y="4206240"/>
            <a:ext cx="246888" cy="237744"/>
          </a:xfrm>
          <a:prstGeom prst="roundRect">
            <a:avLst>
              <a:gd name="adj" fmla="val 19231"/>
            </a:avLst>
          </a:prstGeom>
          <a:solidFill>
            <a:srgbClr val="4D6A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5" name="Text 22"/>
          <p:cNvSpPr/>
          <p:nvPr/>
        </p:nvSpPr>
        <p:spPr>
          <a:xfrm>
            <a:off x="5806440" y="4160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0292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2971800" y="4709160"/>
            <a:ext cx="2743200" cy="237744"/>
          </a:xfrm>
          <a:prstGeom prst="roundRect">
            <a:avLst>
              <a:gd name="adj" fmla="val 19231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8" name="Shape 25"/>
          <p:cNvSpPr/>
          <p:nvPr/>
        </p:nvSpPr>
        <p:spPr>
          <a:xfrm>
            <a:off x="2971800" y="4709160"/>
            <a:ext cx="109728" cy="237744"/>
          </a:xfrm>
          <a:prstGeom prst="roundRect">
            <a:avLst>
              <a:gd name="adj" fmla="val 41667"/>
            </a:avLst>
          </a:prstGeom>
          <a:solidFill>
            <a:srgbClr val="8891A3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9" name="Text 26"/>
          <p:cNvSpPr/>
          <p:nvPr/>
        </p:nvSpPr>
        <p:spPr>
          <a:xfrm>
            <a:off x="5806440" y="4663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720840" y="3246120"/>
            <a:ext cx="4983480" cy="2880360"/>
          </a:xfrm>
          <a:prstGeom prst="roundRect">
            <a:avLst>
              <a:gd name="adj" fmla="val 2857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1" name="Text 28"/>
          <p:cNvSpPr/>
          <p:nvPr/>
        </p:nvSpPr>
        <p:spPr>
          <a:xfrm>
            <a:off x="7040880" y="350215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7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87%</a:t>
            </a:r>
            <a:endParaRPr lang="en-US" sz="4600" dirty="0"/>
          </a:p>
        </p:txBody>
      </p:sp>
      <p:sp>
        <p:nvSpPr>
          <p:cNvPr id="32" name="Text 29"/>
          <p:cNvSpPr/>
          <p:nvPr/>
        </p:nvSpPr>
        <p:spPr>
          <a:xfrm>
            <a:off x="7040880" y="43434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fr-FR" sz="1300" noProof="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fraudes proviennent de l'ingénierie sociale : une manipulation humaine réussie, plus qu'une faille technique.</a:t>
            </a:r>
            <a:endParaRPr lang="fr-FR" sz="1300" noProof="0" dirty="0"/>
          </a:p>
        </p:txBody>
      </p:sp>
      <p:sp>
        <p:nvSpPr>
          <p:cNvPr id="33" name="Shape 30"/>
          <p:cNvSpPr/>
          <p:nvPr/>
        </p:nvSpPr>
        <p:spPr>
          <a:xfrm>
            <a:off x="7040880" y="5184648"/>
            <a:ext cx="4343400" cy="0"/>
          </a:xfrm>
          <a:prstGeom prst="line">
            <a:avLst/>
          </a:prstGeom>
          <a:noFill/>
          <a:ln w="9525">
            <a:solidFill>
              <a:srgbClr val="8891A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4" name="Text 31"/>
          <p:cNvSpPr/>
          <p:nvPr/>
        </p:nvSpPr>
        <p:spPr>
          <a:xfrm>
            <a:off x="7040880" y="5349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fr-FR" sz="1150" noProof="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10 000+ plaintes de fraude par an chez un opérateur majeur  ·  90 000 clients sensibilisés</a:t>
            </a:r>
            <a:endParaRPr lang="fr-FR" sz="1150" noProof="0" dirty="0"/>
          </a:p>
        </p:txBody>
      </p:sp>
      <p:sp>
        <p:nvSpPr>
          <p:cNvPr id="35" name="Text 3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L'ANGLE MORT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problème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utilisateur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vide critique s'ouvre au moment précis où l'utilisateur est le plus vulnérable — pendant l'appel frauduleux.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4D6A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4D6AB1">
              <a:alpha val="15000"/>
            </a:srgbClr>
          </a:solidFill>
          <a:ln w="19050">
            <a:solidFill>
              <a:srgbClr val="4D6AB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0" name="Image 1" descr="/home/claude/work/icons/ale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vide au moment précis où l'utilisateur</a:t>
            </a:r>
            <a:endParaRPr lang="fr-FR" sz="2400" noProof="0" dirty="0"/>
          </a:p>
          <a:p>
            <a:pPr marL="0" indent="0">
              <a:buNone/>
            </a:pPr>
            <a:r>
              <a:rPr lang="fr-FR" sz="24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 vulnérable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502920" y="162763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EXISTE AUJOURD'HUI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309360" y="162763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MANQUE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196596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8" name="Shape 5"/>
          <p:cNvSpPr/>
          <p:nvPr/>
        </p:nvSpPr>
        <p:spPr>
          <a:xfrm>
            <a:off x="658368" y="2194560"/>
            <a:ext cx="457200" cy="457200"/>
          </a:xfrm>
          <a:prstGeom prst="ellipse">
            <a:avLst/>
          </a:prstGeom>
          <a:solidFill>
            <a:srgbClr val="8891A3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9" name="Image 1" descr="/home/claude/work/icons/xcircle_8891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225856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196596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après incident (USSD, WhatsApp, hotline)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09360" y="196596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232C42"/>
          </a:solidFill>
          <a:ln w="9525">
            <a:solidFill>
              <a:srgbClr val="FF790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2" name="Shape 8"/>
          <p:cNvSpPr/>
          <p:nvPr/>
        </p:nvSpPr>
        <p:spPr>
          <a:xfrm>
            <a:off x="6464808" y="2194560"/>
            <a:ext cx="457200" cy="45720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3" name="Image 2" descr="/home/claude/work/icons/check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225856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86600" y="1965960"/>
            <a:ext cx="401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en temps réel pendant l'appel entrant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02920" y="2953512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6" name="Shape 11"/>
          <p:cNvSpPr/>
          <p:nvPr/>
        </p:nvSpPr>
        <p:spPr>
          <a:xfrm>
            <a:off x="658368" y="3182112"/>
            <a:ext cx="457200" cy="457200"/>
          </a:xfrm>
          <a:prstGeom prst="ellipse">
            <a:avLst/>
          </a:prstGeom>
          <a:solidFill>
            <a:srgbClr val="8891A3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7" name="Image 3" descr="/home/claude/work/icons/xcircle_8891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246120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2953512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Sensibilisation générique par SMS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309360" y="2953512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232C42"/>
          </a:solidFill>
          <a:ln w="9525">
            <a:solidFill>
              <a:srgbClr val="FF790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0" name="Shape 14"/>
          <p:cNvSpPr/>
          <p:nvPr/>
        </p:nvSpPr>
        <p:spPr>
          <a:xfrm>
            <a:off x="6464808" y="3182112"/>
            <a:ext cx="457200" cy="45720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21" name="Image 4" descr="/home/claude/work/icons/check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324612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86600" y="2953512"/>
            <a:ext cx="401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contextualisée aux scripts d'arnaque locaux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502920" y="3941064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4" name="Shape 17"/>
          <p:cNvSpPr/>
          <p:nvPr/>
        </p:nvSpPr>
        <p:spPr>
          <a:xfrm>
            <a:off x="658368" y="4169664"/>
            <a:ext cx="457200" cy="457200"/>
          </a:xfrm>
          <a:prstGeom prst="ellipse">
            <a:avLst/>
          </a:prstGeom>
          <a:solidFill>
            <a:srgbClr val="8891A3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25" name="Image 5" descr="/home/claude/work/icons/xcircle_8891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233672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80160" y="3941064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renforcée côté transaction (biométrie, QR)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6309360" y="3941064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232C42"/>
          </a:solidFill>
          <a:ln w="9525">
            <a:solidFill>
              <a:srgbClr val="FF790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8" name="Shape 20"/>
          <p:cNvSpPr/>
          <p:nvPr/>
        </p:nvSpPr>
        <p:spPr>
          <a:xfrm>
            <a:off x="6464808" y="4169664"/>
            <a:ext cx="457200" cy="45720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29" name="Image 6" descr="/home/claude/work/icons/check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4233672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086600" y="3941064"/>
            <a:ext cx="401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Croisement appel suspect + tentative de transaction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502920" y="4928616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2" name="Shape 23"/>
          <p:cNvSpPr/>
          <p:nvPr/>
        </p:nvSpPr>
        <p:spPr>
          <a:xfrm>
            <a:off x="658368" y="5157216"/>
            <a:ext cx="457200" cy="457200"/>
          </a:xfrm>
          <a:prstGeom prst="ellipse">
            <a:avLst/>
          </a:prstGeom>
          <a:solidFill>
            <a:srgbClr val="8891A3">
              <a:alpha val="18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33" name="Image 7" descr="/home/claude/work/icons/xcircle_8891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5221224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280160" y="4928616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de blocage d'appel généralistes</a:t>
            </a:r>
            <a:endParaRPr lang="en-US" sz="1250" dirty="0"/>
          </a:p>
        </p:txBody>
      </p:sp>
      <p:sp>
        <p:nvSpPr>
          <p:cNvPr id="35" name="Shape 25"/>
          <p:cNvSpPr/>
          <p:nvPr/>
        </p:nvSpPr>
        <p:spPr>
          <a:xfrm>
            <a:off x="6309360" y="4928616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232C42"/>
          </a:solidFill>
          <a:ln w="9525">
            <a:solidFill>
              <a:srgbClr val="FF790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6" name="Shape 26"/>
          <p:cNvSpPr/>
          <p:nvPr/>
        </p:nvSpPr>
        <p:spPr>
          <a:xfrm>
            <a:off x="6464808" y="5157216"/>
            <a:ext cx="457200" cy="457200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37" name="Image 8" descr="/home/claude/work/icons/check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5221224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086600" y="4928616"/>
            <a:ext cx="401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locale, adaptée au contexte camerounais</a:t>
            </a:r>
            <a:endParaRPr lang="en-US" sz="1250" dirty="0"/>
          </a:p>
        </p:txBody>
      </p:sp>
      <p:sp>
        <p:nvSpPr>
          <p:cNvPr id="39" name="Text 28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TERRAIN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Personas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Quatres situations réelles de fraude vécues par des utilisateurs Mobile Money au Cameroun.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FF79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FF7900">
              <a:alpha val="15000"/>
            </a:srgbClr>
          </a:solidFill>
          <a:ln w="19050">
            <a:solidFill>
              <a:srgbClr val="FF790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0" name="Image 1" descr="/home/claude/work/icons/us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 descr="/home/claude/work/bg/bg_content.png">
            <a:extLst>
              <a:ext uri="{FF2B5EF4-FFF2-40B4-BE49-F238E27FC236}">
                <a16:creationId xmlns:a16="http://schemas.microsoft.com/office/drawing/2014/main" id="{06324108-5C0E-12C5-9750-5403B36C2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1ère situation réelle de fraude</a:t>
            </a:r>
            <a:endParaRPr lang="fr-FR" sz="2800" noProof="0" dirty="0"/>
          </a:p>
        </p:txBody>
      </p:sp>
      <p:sp>
        <p:nvSpPr>
          <p:cNvPr id="38" name="Text 3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42BD6154-C855-6CAF-BAAC-326CE914E5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1327104"/>
            <a:ext cx="9279999" cy="5219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3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19A72-17B3-C025-905B-3C34D4B29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 descr="/home/claude/work/bg/bg_content.png">
            <a:extLst>
              <a:ext uri="{FF2B5EF4-FFF2-40B4-BE49-F238E27FC236}">
                <a16:creationId xmlns:a16="http://schemas.microsoft.com/office/drawing/2014/main" id="{DC9010E6-39B9-DD23-ECAD-9B956B8AF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DD13120-C4A4-7885-0797-6449CECF7F9C}"/>
              </a:ext>
            </a:extLst>
          </p:cNvPr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23B43A6-5331-F7C4-72D6-8D174DFD7165}"/>
              </a:ext>
            </a:extLst>
          </p:cNvPr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2ème</a:t>
            </a:r>
            <a:r>
              <a:rPr lang="fr-FR" sz="28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situation réelle de fraude</a:t>
            </a:r>
            <a:endParaRPr lang="fr-FR" sz="2800" noProof="0" dirty="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C631A83D-F066-8232-B39E-4FA5B74E7413}"/>
              </a:ext>
            </a:extLst>
          </p:cNvPr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1AABCF9-270A-F80D-F9A9-AF3F999EFA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1327104"/>
            <a:ext cx="9280000" cy="521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817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3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954BFE-4971-92C1-1D63-1DAFBCFDF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 descr="/home/claude/work/bg/bg_content.png">
            <a:extLst>
              <a:ext uri="{FF2B5EF4-FFF2-40B4-BE49-F238E27FC236}">
                <a16:creationId xmlns:a16="http://schemas.microsoft.com/office/drawing/2014/main" id="{1F127983-B707-5B3A-4A08-10C549B85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036EFB3-4BD0-D921-A73C-05651D9D8D5F}"/>
              </a:ext>
            </a:extLst>
          </p:cNvPr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8DB4C0F-6B70-BE06-F4E0-3A0C312FA054}"/>
              </a:ext>
            </a:extLst>
          </p:cNvPr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3ème</a:t>
            </a:r>
            <a:r>
              <a:rPr lang="fr-FR" sz="28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situation réelle de fraude</a:t>
            </a:r>
            <a:endParaRPr lang="fr-FR" sz="2800" noProof="0" dirty="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32D8C756-E0D6-6F01-09E5-F7900607543F}"/>
              </a:ext>
            </a:extLst>
          </p:cNvPr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6129523-38C5-1DE4-7BB4-B3169FA262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1327104"/>
            <a:ext cx="9280000" cy="521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445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Notre solution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intelligente de prévention contre la fraude Mobile Money, avant, pendant et après l'appel.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FF79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FF7900">
              <a:alpha val="15000"/>
            </a:srgbClr>
          </a:solidFill>
          <a:ln w="19050">
            <a:solidFill>
              <a:srgbClr val="FF790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/home/claude/work/icons/shiel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KWISMO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intelligente de prévention contre la fraude Mobile Money, propulsée par l'intelligence communautaire et l'IA.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14884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795528" y="2423160"/>
            <a:ext cx="640080" cy="640080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/home/claude/work/icons/smartphon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2512771"/>
            <a:ext cx="460858" cy="4608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5528" y="3200400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mobile autonome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95528" y="3611880"/>
            <a:ext cx="4581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Téléchargeable, elle détecte les appels suspects, permet le signalement communautaire et alerte en temps réel.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25312" y="214884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6217920" y="2423160"/>
            <a:ext cx="640080" cy="640080"/>
          </a:xfrm>
          <a:prstGeom prst="ellipse">
            <a:avLst/>
          </a:prstGeom>
          <a:solidFill>
            <a:srgbClr val="4D6AB1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/home/claude/work/icons/lay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531" y="2512771"/>
            <a:ext cx="460858" cy="4608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3200400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Mini-application intégrée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217920" y="3611880"/>
            <a:ext cx="4581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KWISMO comme « Centre de Sécurité » d'un super-app opérateur (ex. Max it) : alerte native, sans installation.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4800600"/>
            <a:ext cx="10607040" cy="1371600"/>
          </a:xfrm>
          <a:prstGeom prst="roundRect">
            <a:avLst>
              <a:gd name="adj" fmla="val 6000"/>
            </a:avLst>
          </a:prstGeom>
          <a:solidFill>
            <a:srgbClr val="232C42"/>
          </a:solidFill>
          <a:ln w="9525">
            <a:solidFill>
              <a:srgbClr val="FF79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2"/>
          <p:cNvSpPr/>
          <p:nvPr/>
        </p:nvSpPr>
        <p:spPr>
          <a:xfrm>
            <a:off x="795528" y="5184648"/>
            <a:ext cx="566928" cy="566928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3" descr="/home/claude/work/icons/glob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898" y="5264018"/>
            <a:ext cx="408188" cy="4081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5056632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ambition : devenir l'infrastructure africaine de référence pour la protection contre la fraude Mobile Money.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AJOUTÉE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KWISMO apporte concrètement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10607040" cy="896112"/>
          </a:xfrm>
          <a:prstGeom prst="roundRect">
            <a:avLst>
              <a:gd name="adj" fmla="val 8163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685800" y="1655064"/>
            <a:ext cx="512064" cy="512064"/>
          </a:xfrm>
          <a:prstGeom prst="ellipse">
            <a:avLst/>
          </a:prstGeom>
          <a:solidFill>
            <a:srgbClr val="FF7900">
              <a:alpha val="8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/home/claude/work/icons/za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89" y="1726753"/>
            <a:ext cx="368686" cy="36868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463040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préventive en temps réel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074920" y="1600200"/>
            <a:ext cx="0" cy="621792"/>
          </a:xfrm>
          <a:prstGeom prst="line">
            <a:avLst/>
          </a:prstGeom>
          <a:noFill/>
          <a:ln w="6350">
            <a:solidFill>
              <a:srgbClr val="8891A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5349240" y="1463040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que l'utilisateur ne soit piégé — pas un simple signalement après coup.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02920" y="2414016"/>
            <a:ext cx="10607040" cy="896112"/>
          </a:xfrm>
          <a:prstGeom prst="roundRect">
            <a:avLst>
              <a:gd name="adj" fmla="val 8163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685800" y="2606040"/>
            <a:ext cx="512064" cy="512064"/>
          </a:xfrm>
          <a:prstGeom prst="ellipse">
            <a:avLst/>
          </a:prstGeom>
          <a:solidFill>
            <a:srgbClr val="4D6AB1">
              <a:alpha val="8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/home/claude/work/icons/us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89" y="2677729"/>
            <a:ext cx="368686" cy="36868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2414016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communautaire locale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074920" y="2551176"/>
            <a:ext cx="0" cy="621792"/>
          </a:xfrm>
          <a:prstGeom prst="line">
            <a:avLst/>
          </a:prstGeom>
          <a:noFill/>
          <a:ln w="6350">
            <a:solidFill>
              <a:srgbClr val="8891A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1"/>
          <p:cNvSpPr/>
          <p:nvPr/>
        </p:nvSpPr>
        <p:spPr>
          <a:xfrm>
            <a:off x="5349240" y="2414016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 de renseignement alimentée par les signalements des utilisateurs.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02920" y="3364992"/>
            <a:ext cx="10607040" cy="896112"/>
          </a:xfrm>
          <a:prstGeom prst="roundRect">
            <a:avLst>
              <a:gd name="adj" fmla="val 8163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3"/>
          <p:cNvSpPr/>
          <p:nvPr/>
        </p:nvSpPr>
        <p:spPr>
          <a:xfrm>
            <a:off x="685800" y="3557016"/>
            <a:ext cx="512064" cy="512064"/>
          </a:xfrm>
          <a:prstGeom prst="ellipse">
            <a:avLst/>
          </a:prstGeom>
          <a:solidFill>
            <a:srgbClr val="FF7900">
              <a:alpha val="8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3" descr="/home/claude/work/icons/checkcircl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489" y="3628705"/>
            <a:ext cx="368686" cy="36868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3364992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avant transaction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5074920" y="3502152"/>
            <a:ext cx="0" cy="621792"/>
          </a:xfrm>
          <a:prstGeom prst="line">
            <a:avLst/>
          </a:prstGeom>
          <a:noFill/>
          <a:ln w="6350">
            <a:solidFill>
              <a:srgbClr val="8891A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6"/>
          <p:cNvSpPr/>
          <p:nvPr/>
        </p:nvSpPr>
        <p:spPr>
          <a:xfrm>
            <a:off x="5349240" y="3364992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réputation d'un numéro est contrôlée avant toute validation Mobile Money.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02920" y="4315968"/>
            <a:ext cx="10607040" cy="896112"/>
          </a:xfrm>
          <a:prstGeom prst="roundRect">
            <a:avLst>
              <a:gd name="adj" fmla="val 8163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18"/>
          <p:cNvSpPr/>
          <p:nvPr/>
        </p:nvSpPr>
        <p:spPr>
          <a:xfrm>
            <a:off x="685800" y="4507992"/>
            <a:ext cx="512064" cy="512064"/>
          </a:xfrm>
          <a:prstGeom prst="ellipse">
            <a:avLst/>
          </a:prstGeom>
          <a:solidFill>
            <a:srgbClr val="4D6AB1">
              <a:alpha val="8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4" descr="/home/claude/work/icons/messag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489" y="4579681"/>
            <a:ext cx="368686" cy="36868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4315968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étendue à WhatsApp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5074920" y="4453128"/>
            <a:ext cx="0" cy="621792"/>
          </a:xfrm>
          <a:prstGeom prst="line">
            <a:avLst/>
          </a:prstGeom>
          <a:noFill/>
          <a:ln w="6350">
            <a:solidFill>
              <a:srgbClr val="8891A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1"/>
          <p:cNvSpPr/>
          <p:nvPr/>
        </p:nvSpPr>
        <p:spPr>
          <a:xfrm>
            <a:off x="5349240" y="4315968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fr-FR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</a:t>
            </a:r>
            <a:r>
              <a:rPr lang="fr-FR" sz="1250" noProof="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signalement de son contact comme compromis en cas de fraude sur WhatsApp.</a:t>
            </a:r>
            <a:endParaRPr lang="fr-FR" sz="1250" noProof="0" dirty="0"/>
          </a:p>
        </p:txBody>
      </p:sp>
      <p:sp>
        <p:nvSpPr>
          <p:cNvPr id="29" name="Shape 22"/>
          <p:cNvSpPr/>
          <p:nvPr/>
        </p:nvSpPr>
        <p:spPr>
          <a:xfrm>
            <a:off x="502920" y="5266944"/>
            <a:ext cx="10607040" cy="896112"/>
          </a:xfrm>
          <a:prstGeom prst="roundRect">
            <a:avLst>
              <a:gd name="adj" fmla="val 8163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3"/>
          <p:cNvSpPr/>
          <p:nvPr/>
        </p:nvSpPr>
        <p:spPr>
          <a:xfrm>
            <a:off x="685800" y="5458968"/>
            <a:ext cx="512064" cy="512064"/>
          </a:xfrm>
          <a:prstGeom prst="ellipse">
            <a:avLst/>
          </a:prstGeom>
          <a:solidFill>
            <a:srgbClr val="FF7900">
              <a:alpha val="8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5" descr="/home/claude/work/icons/trending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489" y="5530657"/>
            <a:ext cx="368686" cy="36868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17320" y="5266944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évolutive</a:t>
            </a:r>
            <a:endParaRPr lang="en-US" sz="1350" dirty="0"/>
          </a:p>
        </p:txBody>
      </p:sp>
      <p:sp>
        <p:nvSpPr>
          <p:cNvPr id="33" name="Shape 25"/>
          <p:cNvSpPr/>
          <p:nvPr/>
        </p:nvSpPr>
        <p:spPr>
          <a:xfrm>
            <a:off x="5074920" y="5404104"/>
            <a:ext cx="0" cy="621792"/>
          </a:xfrm>
          <a:prstGeom prst="line">
            <a:avLst/>
          </a:prstGeom>
          <a:noFill/>
          <a:ln w="6350">
            <a:solidFill>
              <a:srgbClr val="8891A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26"/>
          <p:cNvSpPr/>
          <p:nvPr/>
        </p:nvSpPr>
        <p:spPr>
          <a:xfrm>
            <a:off x="5349240" y="5266944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fiabilité de détection s'améliore en continu avec la communauté.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DIFFÉRENCIER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fr-FR" sz="46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Positionnement</a:t>
            </a:r>
            <a:endParaRPr lang="fr-FR" sz="4600" noProof="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fr-FR" sz="1500" noProof="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Ceux avec quoi KWISMO se différencie par rapport à la concurrence.</a:t>
            </a:r>
            <a:endParaRPr lang="fr-FR" sz="1500" noProof="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4D6A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4D6AB1">
              <a:alpha val="15000"/>
            </a:srgbClr>
          </a:solidFill>
          <a:ln w="19050">
            <a:solidFill>
              <a:srgbClr val="4D6AB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/home/claude/work/icons/lay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KWISMO face à l'existant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10607040" cy="457200"/>
          </a:xfrm>
          <a:prstGeom prst="roundRect">
            <a:avLst>
              <a:gd name="adj" fmla="val 12000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166360" y="1417320"/>
            <a:ext cx="198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Truecaller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147560" y="1417320"/>
            <a:ext cx="198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Whoscall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28760" y="1417320"/>
            <a:ext cx="198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KWISMO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1874520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85800" y="18745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numéros</a:t>
            </a:r>
            <a:endParaRPr lang="en-US" sz="1200" dirty="0"/>
          </a:p>
        </p:txBody>
      </p:sp>
      <p:pic>
        <p:nvPicPr>
          <p:cNvPr id="12" name="Image 1" descr="/home/claude/work/icons/checkcircle_C9C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3224" y="1965960"/>
            <a:ext cx="347472" cy="347472"/>
          </a:xfrm>
          <a:prstGeom prst="rect">
            <a:avLst/>
          </a:prstGeom>
        </p:spPr>
      </p:pic>
      <p:pic>
        <p:nvPicPr>
          <p:cNvPr id="13" name="Image 2" descr="/home/claude/work/icons/checkcircle_C9C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1965960"/>
            <a:ext cx="347472" cy="347472"/>
          </a:xfrm>
          <a:prstGeom prst="rect">
            <a:avLst/>
          </a:prstGeom>
        </p:spPr>
      </p:pic>
      <p:pic>
        <p:nvPicPr>
          <p:cNvPr id="14" name="Image 3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1965960"/>
            <a:ext cx="347472" cy="34747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02920" y="2450592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0"/>
          <p:cNvSpPr/>
          <p:nvPr/>
        </p:nvSpPr>
        <p:spPr>
          <a:xfrm>
            <a:off x="685800" y="2450592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des transferts</a:t>
            </a:r>
            <a:endParaRPr lang="en-US" sz="1200" dirty="0"/>
          </a:p>
        </p:txBody>
      </p:sp>
      <p:pic>
        <p:nvPicPr>
          <p:cNvPr id="17" name="Image 4" descr="/home/claude/work/icons/xcircle_8891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3224" y="2542032"/>
            <a:ext cx="347472" cy="347472"/>
          </a:xfrm>
          <a:prstGeom prst="rect">
            <a:avLst/>
          </a:prstGeom>
        </p:spPr>
      </p:pic>
      <p:pic>
        <p:nvPicPr>
          <p:cNvPr id="18" name="Image 5" descr="/home/claude/work/icons/xcircle_8891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2542032"/>
            <a:ext cx="347472" cy="347472"/>
          </a:xfrm>
          <a:prstGeom prst="rect">
            <a:avLst/>
          </a:prstGeom>
        </p:spPr>
      </p:pic>
      <p:pic>
        <p:nvPicPr>
          <p:cNvPr id="19" name="Image 6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2542032"/>
            <a:ext cx="347472" cy="347472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502920" y="3026664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2"/>
          <p:cNvSpPr/>
          <p:nvPr/>
        </p:nvSpPr>
        <p:spPr>
          <a:xfrm>
            <a:off x="685800" y="302666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de numéros</a:t>
            </a:r>
            <a:endParaRPr lang="en-US" sz="1200" dirty="0"/>
          </a:p>
        </p:txBody>
      </p:sp>
      <p:pic>
        <p:nvPicPr>
          <p:cNvPr id="22" name="Image 7" descr="/home/claude/work/icons/checkcircle_C9C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3224" y="3118104"/>
            <a:ext cx="347472" cy="347472"/>
          </a:xfrm>
          <a:prstGeom prst="rect">
            <a:avLst/>
          </a:prstGeom>
        </p:spPr>
      </p:pic>
      <p:pic>
        <p:nvPicPr>
          <p:cNvPr id="23" name="Image 8" descr="/home/claude/work/icons/checkcircle_C9C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3118104"/>
            <a:ext cx="347472" cy="347472"/>
          </a:xfrm>
          <a:prstGeom prst="rect">
            <a:avLst/>
          </a:prstGeom>
        </p:spPr>
      </p:pic>
      <p:pic>
        <p:nvPicPr>
          <p:cNvPr id="24" name="Image 9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3118104"/>
            <a:ext cx="347472" cy="347472"/>
          </a:xfrm>
          <a:prstGeom prst="rect">
            <a:avLst/>
          </a:prstGeom>
        </p:spPr>
      </p:pic>
      <p:sp>
        <p:nvSpPr>
          <p:cNvPr id="25" name="Shape 13"/>
          <p:cNvSpPr/>
          <p:nvPr/>
        </p:nvSpPr>
        <p:spPr>
          <a:xfrm>
            <a:off x="502920" y="3602736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14"/>
          <p:cNvSpPr/>
          <p:nvPr/>
        </p:nvSpPr>
        <p:spPr>
          <a:xfrm>
            <a:off x="685800" y="360273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à tous les réseaux</a:t>
            </a:r>
            <a:endParaRPr lang="en-US" sz="1200" dirty="0"/>
          </a:p>
        </p:txBody>
      </p:sp>
      <p:pic>
        <p:nvPicPr>
          <p:cNvPr id="27" name="Image 10" descr="/home/claude/work/icons/xcircle_8891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3224" y="3694176"/>
            <a:ext cx="347472" cy="347472"/>
          </a:xfrm>
          <a:prstGeom prst="rect">
            <a:avLst/>
          </a:prstGeom>
        </p:spPr>
      </p:pic>
      <p:pic>
        <p:nvPicPr>
          <p:cNvPr id="28" name="Image 11" descr="/home/claude/work/icons/xcircle_8891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3694176"/>
            <a:ext cx="347472" cy="347472"/>
          </a:xfrm>
          <a:prstGeom prst="rect">
            <a:avLst/>
          </a:prstGeom>
        </p:spPr>
      </p:pic>
      <p:pic>
        <p:nvPicPr>
          <p:cNvPr id="29" name="Image 12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3694176"/>
            <a:ext cx="347472" cy="347472"/>
          </a:xfrm>
          <a:prstGeom prst="rect">
            <a:avLst/>
          </a:prstGeom>
        </p:spPr>
      </p:pic>
      <p:sp>
        <p:nvSpPr>
          <p:cNvPr id="30" name="Shape 15"/>
          <p:cNvSpPr/>
          <p:nvPr/>
        </p:nvSpPr>
        <p:spPr>
          <a:xfrm>
            <a:off x="502920" y="4178808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16"/>
          <p:cNvSpPr/>
          <p:nvPr/>
        </p:nvSpPr>
        <p:spPr>
          <a:xfrm>
            <a:off x="685800" y="417880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WhatsApp</a:t>
            </a:r>
            <a:endParaRPr lang="en-US" sz="1200" dirty="0"/>
          </a:p>
        </p:txBody>
      </p:sp>
      <p:pic>
        <p:nvPicPr>
          <p:cNvPr id="32" name="Image 13" descr="/home/claude/work/icons/xcircle_8891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3224" y="4270248"/>
            <a:ext cx="347472" cy="347472"/>
          </a:xfrm>
          <a:prstGeom prst="rect">
            <a:avLst/>
          </a:prstGeom>
        </p:spPr>
      </p:pic>
      <p:pic>
        <p:nvPicPr>
          <p:cNvPr id="33" name="Image 14" descr="/home/claude/work/icons/xcircle_8891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4270248"/>
            <a:ext cx="347472" cy="347472"/>
          </a:xfrm>
          <a:prstGeom prst="rect">
            <a:avLst/>
          </a:prstGeom>
        </p:spPr>
      </p:pic>
      <p:pic>
        <p:nvPicPr>
          <p:cNvPr id="34" name="Image 15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4270248"/>
            <a:ext cx="347472" cy="347472"/>
          </a:xfrm>
          <a:prstGeom prst="rect">
            <a:avLst/>
          </a:prstGeom>
        </p:spPr>
      </p:pic>
      <p:sp>
        <p:nvSpPr>
          <p:cNvPr id="35" name="Shape 17"/>
          <p:cNvSpPr/>
          <p:nvPr/>
        </p:nvSpPr>
        <p:spPr>
          <a:xfrm>
            <a:off x="502920" y="4754880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18"/>
          <p:cNvSpPr/>
          <p:nvPr/>
        </p:nvSpPr>
        <p:spPr>
          <a:xfrm>
            <a:off x="685800" y="475488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au grand public</a:t>
            </a:r>
            <a:endParaRPr lang="en-US" sz="1200" dirty="0"/>
          </a:p>
        </p:txBody>
      </p:sp>
      <p:pic>
        <p:nvPicPr>
          <p:cNvPr id="37" name="Image 16" descr="/home/claude/work/icons/checkcircle_C9C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3224" y="4846320"/>
            <a:ext cx="347472" cy="347472"/>
          </a:xfrm>
          <a:prstGeom prst="rect">
            <a:avLst/>
          </a:prstGeom>
        </p:spPr>
      </p:pic>
      <p:pic>
        <p:nvPicPr>
          <p:cNvPr id="38" name="Image 17" descr="/home/claude/work/icons/checkcircle_C9C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4846320"/>
            <a:ext cx="347472" cy="347472"/>
          </a:xfrm>
          <a:prstGeom prst="rect">
            <a:avLst/>
          </a:prstGeom>
        </p:spPr>
      </p:pic>
      <p:pic>
        <p:nvPicPr>
          <p:cNvPr id="39" name="Image 18" descr="/home/claude/work/icons/checkcircle_FF7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5624" y="4846320"/>
            <a:ext cx="347472" cy="347472"/>
          </a:xfrm>
          <a:prstGeom prst="rect">
            <a:avLst/>
          </a:prstGeom>
        </p:spPr>
      </p:pic>
      <p:sp>
        <p:nvSpPr>
          <p:cNvPr id="40" name="Shape 19"/>
          <p:cNvSpPr/>
          <p:nvPr/>
        </p:nvSpPr>
        <p:spPr>
          <a:xfrm>
            <a:off x="502920" y="5468112"/>
            <a:ext cx="10607040" cy="1051560"/>
          </a:xfrm>
          <a:prstGeom prst="roundRect">
            <a:avLst>
              <a:gd name="adj" fmla="val 7826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20"/>
          <p:cNvSpPr/>
          <p:nvPr/>
        </p:nvSpPr>
        <p:spPr>
          <a:xfrm>
            <a:off x="795528" y="5724144"/>
            <a:ext cx="530352" cy="530352"/>
          </a:xfrm>
          <a:prstGeom prst="ellipse">
            <a:avLst/>
          </a:prstGeom>
          <a:solidFill>
            <a:srgbClr val="FF7900">
              <a:alpha val="9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2" name="Image 19" descr="/home/claude/work/icons/glob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777" y="5798393"/>
            <a:ext cx="381853" cy="381853"/>
          </a:xfrm>
          <a:prstGeom prst="rect">
            <a:avLst/>
          </a:prstGeom>
        </p:spPr>
      </p:pic>
      <p:sp>
        <p:nvSpPr>
          <p:cNvPr id="43" name="Text 21"/>
          <p:cNvSpPr/>
          <p:nvPr/>
        </p:nvSpPr>
        <p:spPr>
          <a:xfrm>
            <a:off x="1508760" y="5725296"/>
            <a:ext cx="9418320" cy="5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KWISMO ne cherche pas à remplacer l'infrastructure de sécurité des opérateurs, mais à combler le vide laissé par les solutions existantes.</a:t>
            </a:r>
            <a:endParaRPr lang="en-US" sz="1300" b="1" dirty="0"/>
          </a:p>
        </p:txBody>
      </p:sp>
      <p:sp>
        <p:nvSpPr>
          <p:cNvPr id="44" name="Text 2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SERA PRODUIT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Livrables attendus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FF7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livrables majeurs : API, application mobile, site web et documentation complète.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FF79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FF7900">
              <a:alpha val="15000"/>
            </a:srgbClr>
          </a:solidFill>
          <a:ln w="19050">
            <a:solidFill>
              <a:srgbClr val="FF790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/home/claude/work/icons/packag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ATTENDUS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Quatre livrables majeurs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777240" y="1719072"/>
            <a:ext cx="566928" cy="566928"/>
          </a:xfrm>
          <a:prstGeom prst="ellipse">
            <a:avLst/>
          </a:prstGeom>
          <a:solidFill>
            <a:srgbClr val="FF7900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/home/claude/work/icons/cod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610" y="1798442"/>
            <a:ext cx="408188" cy="4081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171907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d'analyse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508760" y="2011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numéros frauduleux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94358" y="2880360"/>
            <a:ext cx="1642262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FF790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594358" y="2880360"/>
            <a:ext cx="16422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numéros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346348" y="2880360"/>
            <a:ext cx="1267358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FF790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2346348" y="288036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IA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723435" y="2880360"/>
            <a:ext cx="1867205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FF790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3723435" y="2880360"/>
            <a:ext cx="18672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Swagger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25312" y="146304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199632" y="1719072"/>
            <a:ext cx="566928" cy="566928"/>
          </a:xfrm>
          <a:prstGeom prst="ellipse">
            <a:avLst/>
          </a:prstGeom>
          <a:solidFill>
            <a:srgbClr val="4D6AB1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2" descr="/home/claude/work/icons/smartphon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9002" y="1798442"/>
            <a:ext cx="408188" cy="4081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31152" y="171907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mobile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931152" y="2011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KWISMO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199632" y="2880360"/>
            <a:ext cx="1567282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7"/>
          <p:cNvSpPr/>
          <p:nvPr/>
        </p:nvSpPr>
        <p:spPr>
          <a:xfrm>
            <a:off x="6199632" y="2880360"/>
            <a:ext cx="1567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d'appel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876642" y="2880360"/>
            <a:ext cx="1567282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19"/>
          <p:cNvSpPr/>
          <p:nvPr/>
        </p:nvSpPr>
        <p:spPr>
          <a:xfrm>
            <a:off x="7876642" y="2880360"/>
            <a:ext cx="1567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protégé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553651" y="2880360"/>
            <a:ext cx="1192378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1"/>
          <p:cNvSpPr/>
          <p:nvPr/>
        </p:nvSpPr>
        <p:spPr>
          <a:xfrm>
            <a:off x="9553651" y="2880360"/>
            <a:ext cx="119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OTP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02920" y="402336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3"/>
          <p:cNvSpPr/>
          <p:nvPr/>
        </p:nvSpPr>
        <p:spPr>
          <a:xfrm>
            <a:off x="777240" y="4279392"/>
            <a:ext cx="566928" cy="566928"/>
          </a:xfrm>
          <a:prstGeom prst="ellipse">
            <a:avLst/>
          </a:prstGeom>
          <a:solidFill>
            <a:srgbClr val="F6A020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9" name="Image 3" descr="/home/claude/work/icons/glob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10" y="4358762"/>
            <a:ext cx="408188" cy="4081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508760" y="427939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Site web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1508760" y="45720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&amp; administration</a:t>
            </a:r>
            <a:endParaRPr lang="en-US" sz="1150" dirty="0"/>
          </a:p>
        </p:txBody>
      </p: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17260059-8708-89CB-3D9E-B4B55C459646}"/>
              </a:ext>
            </a:extLst>
          </p:cNvPr>
          <p:cNvGrpSpPr/>
          <p:nvPr/>
        </p:nvGrpSpPr>
        <p:grpSpPr>
          <a:xfrm>
            <a:off x="594358" y="5440680"/>
            <a:ext cx="1192378" cy="365760"/>
            <a:chOff x="594358" y="5440680"/>
            <a:chExt cx="1192378" cy="365760"/>
          </a:xfrm>
        </p:grpSpPr>
        <p:sp>
          <p:nvSpPr>
            <p:cNvPr id="32" name="Shape 26"/>
            <p:cNvSpPr/>
            <p:nvPr/>
          </p:nvSpPr>
          <p:spPr>
            <a:xfrm>
              <a:off x="594358" y="5440680"/>
              <a:ext cx="1192378" cy="365760"/>
            </a:xfrm>
            <a:prstGeom prst="roundRect">
              <a:avLst>
                <a:gd name="adj" fmla="val 50000"/>
              </a:avLst>
            </a:prstGeom>
            <a:solidFill>
              <a:srgbClr val="1F2739"/>
            </a:solidFill>
            <a:ln w="6350">
              <a:solidFill>
                <a:srgbClr val="F6A020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Text 27"/>
            <p:cNvSpPr/>
            <p:nvPr/>
          </p:nvSpPr>
          <p:spPr>
            <a:xfrm>
              <a:off x="594358" y="5440680"/>
              <a:ext cx="119237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Site vitrine</a:t>
              </a:r>
              <a:endParaRPr lang="en-US" sz="1000" dirty="0"/>
            </a:p>
          </p:txBody>
        </p:sp>
      </p:grp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C058C8AB-5CE3-2E7B-2620-9AD26CF1F35D}"/>
              </a:ext>
            </a:extLst>
          </p:cNvPr>
          <p:cNvGrpSpPr/>
          <p:nvPr/>
        </p:nvGrpSpPr>
        <p:grpSpPr>
          <a:xfrm>
            <a:off x="2308858" y="5440680"/>
            <a:ext cx="1192378" cy="365760"/>
            <a:chOff x="1896464" y="5440680"/>
            <a:chExt cx="1192378" cy="365760"/>
          </a:xfrm>
        </p:grpSpPr>
        <p:sp>
          <p:nvSpPr>
            <p:cNvPr id="34" name="Shape 28"/>
            <p:cNvSpPr/>
            <p:nvPr/>
          </p:nvSpPr>
          <p:spPr>
            <a:xfrm>
              <a:off x="1896464" y="5440680"/>
              <a:ext cx="1192378" cy="365760"/>
            </a:xfrm>
            <a:prstGeom prst="roundRect">
              <a:avLst>
                <a:gd name="adj" fmla="val 50000"/>
              </a:avLst>
            </a:prstGeom>
            <a:solidFill>
              <a:srgbClr val="1F2739"/>
            </a:solidFill>
            <a:ln w="6350">
              <a:solidFill>
                <a:srgbClr val="F6A020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Text 29"/>
            <p:cNvSpPr/>
            <p:nvPr/>
          </p:nvSpPr>
          <p:spPr>
            <a:xfrm>
              <a:off x="1896464" y="5440680"/>
              <a:ext cx="119237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Espace admin</a:t>
              </a:r>
              <a:endParaRPr lang="en-US" sz="1000" dirty="0"/>
            </a:p>
          </p:txBody>
        </p:sp>
      </p:grp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2A0F23C4-FF6B-66AC-0A44-2E28B3BC1FCA}"/>
              </a:ext>
            </a:extLst>
          </p:cNvPr>
          <p:cNvGrpSpPr/>
          <p:nvPr/>
        </p:nvGrpSpPr>
        <p:grpSpPr>
          <a:xfrm>
            <a:off x="4023358" y="5417820"/>
            <a:ext cx="1567282" cy="365760"/>
            <a:chOff x="4023358" y="5417820"/>
            <a:chExt cx="1567282" cy="365760"/>
          </a:xfrm>
        </p:grpSpPr>
        <p:sp>
          <p:nvSpPr>
            <p:cNvPr id="36" name="Shape 30"/>
            <p:cNvSpPr/>
            <p:nvPr/>
          </p:nvSpPr>
          <p:spPr>
            <a:xfrm>
              <a:off x="4023358" y="5417820"/>
              <a:ext cx="1567282" cy="365760"/>
            </a:xfrm>
            <a:prstGeom prst="roundRect">
              <a:avLst>
                <a:gd name="adj" fmla="val 50000"/>
              </a:avLst>
            </a:prstGeom>
            <a:solidFill>
              <a:srgbClr val="1F2739"/>
            </a:solidFill>
            <a:ln w="6350">
              <a:solidFill>
                <a:srgbClr val="F6A020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Text 31"/>
            <p:cNvSpPr/>
            <p:nvPr/>
          </p:nvSpPr>
          <p:spPr>
            <a:xfrm>
              <a:off x="4023358" y="5417820"/>
              <a:ext cx="156728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Espace partenaire</a:t>
              </a:r>
              <a:endParaRPr lang="en-US" sz="1000" dirty="0"/>
            </a:p>
          </p:txBody>
        </p:sp>
      </p:grpSp>
      <p:sp>
        <p:nvSpPr>
          <p:cNvPr id="38" name="Shape 32"/>
          <p:cNvSpPr/>
          <p:nvPr/>
        </p:nvSpPr>
        <p:spPr>
          <a:xfrm>
            <a:off x="5925312" y="4023360"/>
            <a:ext cx="5166360" cy="2331720"/>
          </a:xfrm>
          <a:prstGeom prst="roundRect">
            <a:avLst>
              <a:gd name="adj" fmla="val 3529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3"/>
          <p:cNvSpPr/>
          <p:nvPr/>
        </p:nvSpPr>
        <p:spPr>
          <a:xfrm>
            <a:off x="6199632" y="4279392"/>
            <a:ext cx="566928" cy="566928"/>
          </a:xfrm>
          <a:prstGeom prst="ellipse">
            <a:avLst/>
          </a:prstGeom>
          <a:solidFill>
            <a:srgbClr val="4D6AB1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0" name="Image 4" descr="/home/claude/work/icons/filetex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9002" y="4358762"/>
            <a:ext cx="408188" cy="40818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931152" y="427939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Documentation</a:t>
            </a:r>
            <a:endParaRPr lang="en-US" sz="1550" dirty="0"/>
          </a:p>
        </p:txBody>
      </p:sp>
      <p:sp>
        <p:nvSpPr>
          <p:cNvPr id="42" name="Text 35"/>
          <p:cNvSpPr/>
          <p:nvPr/>
        </p:nvSpPr>
        <p:spPr>
          <a:xfrm>
            <a:off x="6931152" y="45720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claire et complète</a:t>
            </a:r>
            <a:endParaRPr lang="en-US" sz="1150" dirty="0"/>
          </a:p>
        </p:txBody>
      </p:sp>
      <p:sp>
        <p:nvSpPr>
          <p:cNvPr id="43" name="Shape 36"/>
          <p:cNvSpPr/>
          <p:nvPr/>
        </p:nvSpPr>
        <p:spPr>
          <a:xfrm>
            <a:off x="6199632" y="544068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37"/>
          <p:cNvSpPr/>
          <p:nvPr/>
        </p:nvSpPr>
        <p:spPr>
          <a:xfrm>
            <a:off x="6199632" y="5440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(API)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7726680" y="5440680"/>
            <a:ext cx="1267358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39"/>
          <p:cNvSpPr/>
          <p:nvPr/>
        </p:nvSpPr>
        <p:spPr>
          <a:xfrm>
            <a:off x="7726680" y="5440680"/>
            <a:ext cx="1267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Fonctionnelle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9103766" y="5440680"/>
            <a:ext cx="1792224" cy="365760"/>
          </a:xfrm>
          <a:prstGeom prst="roundRect">
            <a:avLst>
              <a:gd name="adj" fmla="val 50000"/>
            </a:avLst>
          </a:prstGeom>
          <a:solidFill>
            <a:srgbClr val="1F2739"/>
          </a:solidFill>
          <a:ln w="6350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1"/>
          <p:cNvSpPr/>
          <p:nvPr/>
        </p:nvSpPr>
        <p:spPr>
          <a:xfrm>
            <a:off x="9103766" y="544068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d'utilisation</a:t>
            </a:r>
            <a:endParaRPr lang="en-US" sz="1000" dirty="0"/>
          </a:p>
        </p:txBody>
      </p:sp>
      <p:sp>
        <p:nvSpPr>
          <p:cNvPr id="49" name="Text 4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div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D6A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/ 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1417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FEUILLE DE ROUTE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Planification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9808" y="2212848"/>
            <a:ext cx="640080" cy="45720"/>
          </a:xfrm>
          <a:prstGeom prst="rect">
            <a:avLst/>
          </a:prstGeom>
          <a:solidFill>
            <a:srgbClr val="4D6AB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fr-FR" sz="1500" noProof="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sprints, du cadrage à la présentation finale du projet.</a:t>
            </a:r>
            <a:endParaRPr lang="fr-FR" sz="1500" noProof="0" dirty="0"/>
          </a:p>
        </p:txBody>
      </p:sp>
      <p:sp>
        <p:nvSpPr>
          <p:cNvPr id="8" name="Shape 5"/>
          <p:cNvSpPr/>
          <p:nvPr/>
        </p:nvSpPr>
        <p:spPr>
          <a:xfrm>
            <a:off x="9144000" y="1463040"/>
            <a:ext cx="3931920" cy="3931920"/>
          </a:xfrm>
          <a:prstGeom prst="ellipse">
            <a:avLst/>
          </a:prstGeom>
          <a:ln w="15875">
            <a:solidFill>
              <a:srgbClr val="4D6A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464040" y="1783080"/>
            <a:ext cx="3291840" cy="3291840"/>
          </a:xfrm>
          <a:prstGeom prst="ellipse">
            <a:avLst/>
          </a:prstGeom>
          <a:solidFill>
            <a:srgbClr val="4D6AB1">
              <a:alpha val="15000"/>
            </a:srgbClr>
          </a:solidFill>
          <a:ln w="19050">
            <a:solidFill>
              <a:srgbClr val="4D6AB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1" descr="/home/claude/work/icons/calenda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082" y="2573122"/>
            <a:ext cx="1711757" cy="17117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sprints, du cadrage à la soutenance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863840" y="402336"/>
            <a:ext cx="3794760" cy="402336"/>
          </a:xfrm>
          <a:prstGeom prst="roundRect">
            <a:avLst>
              <a:gd name="adj" fmla="val 50000"/>
            </a:avLst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/home/claude/work/icons/gitbranch_FF79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2" y="484632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66760" y="40233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détaillé : ClickUp · Planning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02920" y="1417320"/>
            <a:ext cx="10607040" cy="384048"/>
          </a:xfrm>
          <a:prstGeom prst="roundRect">
            <a:avLst>
              <a:gd name="adj" fmla="val 11905"/>
            </a:avLst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/>
          <p:nvPr/>
        </p:nvSpPr>
        <p:spPr>
          <a:xfrm>
            <a:off x="640080" y="1417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057400" y="141732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366760" y="1417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2920" y="1801368"/>
            <a:ext cx="10607040" cy="420624"/>
          </a:xfrm>
          <a:prstGeom prst="rect">
            <a:avLst/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640080" y="180136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057400" y="1801368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&amp; recherche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366760" y="18013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2221992"/>
            <a:ext cx="10607040" cy="420624"/>
          </a:xfrm>
          <a:prstGeom prst="rect">
            <a:avLst/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640080" y="222199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057400" y="222199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&amp; spécifications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8366760" y="222199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2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02920" y="2642616"/>
            <a:ext cx="10607040" cy="420624"/>
          </a:xfrm>
          <a:prstGeom prst="rect">
            <a:avLst/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640080" y="264261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2057400" y="2642616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8366760" y="264261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02920" y="3063240"/>
            <a:ext cx="10607040" cy="420624"/>
          </a:xfrm>
          <a:prstGeom prst="rect">
            <a:avLst/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1"/>
          <p:cNvSpPr/>
          <p:nvPr/>
        </p:nvSpPr>
        <p:spPr>
          <a:xfrm>
            <a:off x="640080" y="30632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2057400" y="3063240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UI/UX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8366760" y="30632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4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502920" y="3483864"/>
            <a:ext cx="10607040" cy="420624"/>
          </a:xfrm>
          <a:prstGeom prst="rect">
            <a:avLst/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5"/>
          <p:cNvSpPr/>
          <p:nvPr/>
        </p:nvSpPr>
        <p:spPr>
          <a:xfrm>
            <a:off x="640080" y="348386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2057400" y="3483864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API v1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8366760" y="348386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5-6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502920" y="3904488"/>
            <a:ext cx="10607040" cy="420624"/>
          </a:xfrm>
          <a:prstGeom prst="rect">
            <a:avLst/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29"/>
          <p:cNvSpPr/>
          <p:nvPr/>
        </p:nvSpPr>
        <p:spPr>
          <a:xfrm>
            <a:off x="640080" y="390448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2057400" y="3904488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app mobile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8366760" y="390448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6-7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502920" y="4325112"/>
            <a:ext cx="10607040" cy="420624"/>
          </a:xfrm>
          <a:prstGeom prst="rect">
            <a:avLst/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3"/>
          <p:cNvSpPr/>
          <p:nvPr/>
        </p:nvSpPr>
        <p:spPr>
          <a:xfrm>
            <a:off x="640080" y="43251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7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2057400" y="432511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IA / détection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8366760" y="43251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8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502920" y="4745736"/>
            <a:ext cx="10607040" cy="420624"/>
          </a:xfrm>
          <a:prstGeom prst="rect">
            <a:avLst/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7"/>
          <p:cNvSpPr/>
          <p:nvPr/>
        </p:nvSpPr>
        <p:spPr>
          <a:xfrm>
            <a:off x="640080" y="474573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8</a:t>
            </a:r>
            <a:endParaRPr lang="en-US" sz="1150" dirty="0"/>
          </a:p>
        </p:txBody>
      </p:sp>
      <p:sp>
        <p:nvSpPr>
          <p:cNvPr id="42" name="Text 38"/>
          <p:cNvSpPr/>
          <p:nvPr/>
        </p:nvSpPr>
        <p:spPr>
          <a:xfrm>
            <a:off x="2057400" y="4745736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 &amp; documentation</a:t>
            </a:r>
            <a:endParaRPr lang="en-US" sz="1150" dirty="0"/>
          </a:p>
        </p:txBody>
      </p:sp>
      <p:sp>
        <p:nvSpPr>
          <p:cNvPr id="43" name="Text 39"/>
          <p:cNvSpPr/>
          <p:nvPr/>
        </p:nvSpPr>
        <p:spPr>
          <a:xfrm>
            <a:off x="8366760" y="47457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9</a:t>
            </a:r>
            <a:endParaRPr lang="en-US" sz="1150" dirty="0"/>
          </a:p>
        </p:txBody>
      </p:sp>
      <p:sp>
        <p:nvSpPr>
          <p:cNvPr id="44" name="Shape 40"/>
          <p:cNvSpPr/>
          <p:nvPr/>
        </p:nvSpPr>
        <p:spPr>
          <a:xfrm>
            <a:off x="502920" y="5166360"/>
            <a:ext cx="10607040" cy="420624"/>
          </a:xfrm>
          <a:prstGeom prst="rect">
            <a:avLst/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1"/>
          <p:cNvSpPr/>
          <p:nvPr/>
        </p:nvSpPr>
        <p:spPr>
          <a:xfrm>
            <a:off x="640080" y="516636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9</a:t>
            </a:r>
            <a:endParaRPr lang="en-US" sz="1150" dirty="0"/>
          </a:p>
        </p:txBody>
      </p:sp>
      <p:sp>
        <p:nvSpPr>
          <p:cNvPr id="46" name="Text 42"/>
          <p:cNvSpPr/>
          <p:nvPr/>
        </p:nvSpPr>
        <p:spPr>
          <a:xfrm>
            <a:off x="2057400" y="5166360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QA</a:t>
            </a:r>
            <a:endParaRPr lang="en-US" sz="1150" dirty="0"/>
          </a:p>
        </p:txBody>
      </p:sp>
      <p:sp>
        <p:nvSpPr>
          <p:cNvPr id="47" name="Text 43"/>
          <p:cNvSpPr/>
          <p:nvPr/>
        </p:nvSpPr>
        <p:spPr>
          <a:xfrm>
            <a:off x="8366760" y="51663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10</a:t>
            </a:r>
            <a:endParaRPr lang="en-US" sz="1150" dirty="0"/>
          </a:p>
        </p:txBody>
      </p:sp>
      <p:sp>
        <p:nvSpPr>
          <p:cNvPr id="48" name="Shape 44"/>
          <p:cNvSpPr/>
          <p:nvPr/>
        </p:nvSpPr>
        <p:spPr>
          <a:xfrm>
            <a:off x="502920" y="5586984"/>
            <a:ext cx="10607040" cy="420624"/>
          </a:xfrm>
          <a:prstGeom prst="rect">
            <a:avLst/>
          </a:prstGeom>
          <a:solidFill>
            <a:srgbClr val="1F273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5"/>
          <p:cNvSpPr/>
          <p:nvPr/>
        </p:nvSpPr>
        <p:spPr>
          <a:xfrm>
            <a:off x="640080" y="558698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10</a:t>
            </a:r>
            <a:endParaRPr lang="en-US" sz="1150" dirty="0"/>
          </a:p>
        </p:txBody>
      </p:sp>
      <p:sp>
        <p:nvSpPr>
          <p:cNvPr id="50" name="Text 46"/>
          <p:cNvSpPr/>
          <p:nvPr/>
        </p:nvSpPr>
        <p:spPr>
          <a:xfrm>
            <a:off x="2057400" y="5586984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Correctifs &amp; polish</a:t>
            </a:r>
            <a:endParaRPr lang="en-US" sz="1150" dirty="0"/>
          </a:p>
        </p:txBody>
      </p:sp>
      <p:sp>
        <p:nvSpPr>
          <p:cNvPr id="51" name="Text 47"/>
          <p:cNvSpPr/>
          <p:nvPr/>
        </p:nvSpPr>
        <p:spPr>
          <a:xfrm>
            <a:off x="8366760" y="558698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11</a:t>
            </a:r>
            <a:endParaRPr lang="en-US" sz="1150" dirty="0"/>
          </a:p>
        </p:txBody>
      </p:sp>
      <p:sp>
        <p:nvSpPr>
          <p:cNvPr id="52" name="Shape 48"/>
          <p:cNvSpPr/>
          <p:nvPr/>
        </p:nvSpPr>
        <p:spPr>
          <a:xfrm>
            <a:off x="502920" y="6007608"/>
            <a:ext cx="10607040" cy="420624"/>
          </a:xfrm>
          <a:prstGeom prst="rect">
            <a:avLst/>
          </a:prstGeom>
          <a:solidFill>
            <a:srgbClr val="232C4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49"/>
          <p:cNvSpPr/>
          <p:nvPr/>
        </p:nvSpPr>
        <p:spPr>
          <a:xfrm>
            <a:off x="640080" y="600760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11</a:t>
            </a:r>
            <a:endParaRPr lang="en-US" sz="1150" dirty="0"/>
          </a:p>
        </p:txBody>
      </p:sp>
      <p:sp>
        <p:nvSpPr>
          <p:cNvPr id="54" name="Text 50"/>
          <p:cNvSpPr/>
          <p:nvPr/>
        </p:nvSpPr>
        <p:spPr>
          <a:xfrm>
            <a:off x="2057400" y="6007608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&amp; présentation</a:t>
            </a:r>
            <a:endParaRPr lang="fr-FR" sz="1150" noProof="0" dirty="0"/>
          </a:p>
        </p:txBody>
      </p:sp>
      <p:sp>
        <p:nvSpPr>
          <p:cNvPr id="55" name="Text 51"/>
          <p:cNvSpPr/>
          <p:nvPr/>
        </p:nvSpPr>
        <p:spPr>
          <a:xfrm>
            <a:off x="8366760" y="600760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12</a:t>
            </a:r>
            <a:endParaRPr lang="en-US" sz="1150" dirty="0"/>
          </a:p>
        </p:txBody>
      </p:sp>
      <p:sp>
        <p:nvSpPr>
          <p:cNvPr id="56" name="Text 52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g/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38648" y="1234440"/>
            <a:ext cx="914400" cy="914400"/>
          </a:xfrm>
          <a:prstGeom prst="ellipse">
            <a:avLst/>
          </a:prstGeom>
          <a:solidFill>
            <a:srgbClr val="FF7900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1"/>
          <p:cNvSpPr/>
          <p:nvPr/>
        </p:nvSpPr>
        <p:spPr>
          <a:xfrm>
            <a:off x="0" y="24231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Merci</a:t>
            </a:r>
            <a:endParaRPr lang="en-US" sz="5600" dirty="0"/>
          </a:p>
        </p:txBody>
      </p:sp>
      <p:sp>
        <p:nvSpPr>
          <p:cNvPr id="6" name="Text 2"/>
          <p:cNvSpPr/>
          <p:nvPr/>
        </p:nvSpPr>
        <p:spPr>
          <a:xfrm>
            <a:off x="0" y="33375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 Discutons de la suite du projet.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1450696" y="411480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32C42"/>
          </a:solidFill>
          <a:ln w="9525">
            <a:solidFill>
              <a:srgbClr val="FF790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Image 2" descr="/home/claude/work/icons/users_FF79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288" y="4242816"/>
            <a:ext cx="310896" cy="3108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017624" y="41148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SAFESEND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4632808" y="411480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32C42"/>
          </a:solidFill>
          <a:ln w="9525">
            <a:solidFill>
              <a:srgbClr val="4D6AB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1" name="Image 3" descr="/home/claude/work/icons/briefcase_4D6A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7400" y="4242816"/>
            <a:ext cx="310896" cy="3108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199736" y="41148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7814920" y="411480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32C42"/>
          </a:solidFill>
          <a:ln w="9525">
            <a:solidFill>
              <a:srgbClr val="F6A02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4" name="Image 4" descr="/home/claude/work/icons/award_F6A0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9512" y="4242816"/>
            <a:ext cx="310896" cy="3108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381848" y="41148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Summer Challenge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4320770C-CCD7-AB85-7254-995D502041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4048" y="1329840"/>
            <a:ext cx="723600" cy="72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1174</Words>
  <Application>Microsoft Office PowerPoint</Application>
  <PresentationFormat>Grand écran</PresentationFormat>
  <Paragraphs>290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Arial</vt:lpstr>
      <vt:lpstr>Calibri</vt:lpstr>
      <vt:lpstr>Montserrat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Brayan Weko</cp:lastModifiedBy>
  <cp:revision>11</cp:revision>
  <dcterms:created xsi:type="dcterms:W3CDTF">2026-08-04T22:27:39Z</dcterms:created>
  <dcterms:modified xsi:type="dcterms:W3CDTF">2026-08-19T04:31:00Z</dcterms:modified>
</cp:coreProperties>
</file>